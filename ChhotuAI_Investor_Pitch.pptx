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c3e146596fe4cf6" /><Relationship Type="http://schemas.openxmlformats.org/officeDocument/2006/relationships/extended-properties" Target="/docProps/app.xml" Id="R1506177448c64849" /><Relationship Type="http://schemas.openxmlformats.org/officeDocument/2006/relationships/officeDocument" Target="/ppt/presentation.xml" Id="Rf72e0a8f47764da3" /></Relationships>
</file>

<file path=ppt/presentation.xml><?xml version="1.0" encoding="utf-8"?>
<p:presentation xmlns:p="http://schemas.openxmlformats.org/presentationml/2006/main">
  <p:sldMasterIdLst>
    <p:sldMasterId xmlns:r="http://schemas.openxmlformats.org/officeDocument/2006/relationships" id="2147483648" r:id="Ra6475e40778c437b"/>
  </p:sldMasterIdLst>
  <p:notesMasterIdLst>
    <p:notesMasterId xmlns:r="http://schemas.openxmlformats.org/officeDocument/2006/relationships" r:id="R2d267f82ab534894"/>
  </p:notesMasterIdLst>
  <p:sldIdLst>
    <p:sldId xmlns:r="http://schemas.openxmlformats.org/officeDocument/2006/relationships" id="256" r:id="Rada81ce61aa0418d"/>
    <p:sldId xmlns:r="http://schemas.openxmlformats.org/officeDocument/2006/relationships" id="257" r:id="R65a4b97cacde44f8"/>
    <p:sldId xmlns:r="http://schemas.openxmlformats.org/officeDocument/2006/relationships" id="258" r:id="Rc896b5cab5484545"/>
    <p:sldId xmlns:r="http://schemas.openxmlformats.org/officeDocument/2006/relationships" id="259" r:id="R62c83681f6e8464f"/>
    <p:sldId xmlns:r="http://schemas.openxmlformats.org/officeDocument/2006/relationships" id="260" r:id="R346aa9e050dc412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c4f20fb1a2431c" /><Relationship Type="http://schemas.openxmlformats.org/officeDocument/2006/relationships/slideMaster" Target="/ppt/slideMasters/slideMaster1.xml" Id="Ra6475e40778c437b" /><Relationship Type="http://schemas.openxmlformats.org/officeDocument/2006/relationships/notesMaster" Target="/ppt/notesMasters/notesMaster1.xml" Id="R2d267f82ab534894" /><Relationship Type="http://schemas.openxmlformats.org/officeDocument/2006/relationships/presProps" Target="/ppt/presProps.xml" Id="Rd214ab827be045e4" /><Relationship Type="http://schemas.openxmlformats.org/officeDocument/2006/relationships/tableStyles" Target="/ppt/tableStyles.xml" Id="Rc7160d9aa2084941" /><Relationship Type="http://schemas.openxmlformats.org/officeDocument/2006/relationships/slide" Target="/ppt/slides/slide1.xml" Id="Rada81ce61aa0418d" /><Relationship Type="http://schemas.openxmlformats.org/officeDocument/2006/relationships/slide" Target="/ppt/slides/slide2.xml" Id="R65a4b97cacde44f8" /><Relationship Type="http://schemas.openxmlformats.org/officeDocument/2006/relationships/slide" Target="/ppt/slides/slide3.xml" Id="Rc896b5cab5484545" /><Relationship Type="http://schemas.openxmlformats.org/officeDocument/2006/relationships/slide" Target="/ppt/slides/slide4.xml" Id="R62c83681f6e8464f" /><Relationship Type="http://schemas.openxmlformats.org/officeDocument/2006/relationships/slide" Target="/ppt/slides/slide5.xml" Id="R346aa9e050dc412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d46dc8c323d41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5a5e835add44d6b" /><Relationship Type="http://schemas.openxmlformats.org/officeDocument/2006/relationships/notesMaster" Target="/ppt/notesMasters/notesMaster1.xml" Id="R71ae73ba856344bc" /></Relationships>
</file>

<file path=ppt/notesSlides/_rels/notesSlide2.xml.rels>&#65279;<?xml version="1.0" encoding="utf-8"?><Relationships xmlns="http://schemas.openxmlformats.org/package/2006/relationships"><Relationship Type="http://schemas.openxmlformats.org/officeDocument/2006/relationships/slide" Target="/ppt/slides/slide2.xml" Id="R5dd2a05df4fa4c83" /><Relationship Type="http://schemas.openxmlformats.org/officeDocument/2006/relationships/notesMaster" Target="/ppt/notesMasters/notesMaster1.xml" Id="R091635124f294572" /></Relationships>
</file>

<file path=ppt/notesSlides/_rels/notesSlide3.xml.rels>&#65279;<?xml version="1.0" encoding="utf-8"?><Relationships xmlns="http://schemas.openxmlformats.org/package/2006/relationships"><Relationship Type="http://schemas.openxmlformats.org/officeDocument/2006/relationships/slide" Target="/ppt/slides/slide3.xml" Id="Rcc83c6dabfb34aae" /><Relationship Type="http://schemas.openxmlformats.org/officeDocument/2006/relationships/notesMaster" Target="/ppt/notesMasters/notesMaster1.xml" Id="Re061f37bcd2e40fb" /></Relationships>
</file>

<file path=ppt/notesSlides/_rels/notesSlide4.xml.rels>&#65279;<?xml version="1.0" encoding="utf-8"?><Relationships xmlns="http://schemas.openxmlformats.org/package/2006/relationships"><Relationship Type="http://schemas.openxmlformats.org/officeDocument/2006/relationships/slide" Target="/ppt/slides/slide4.xml" Id="R9e7c649bcb424425" /><Relationship Type="http://schemas.openxmlformats.org/officeDocument/2006/relationships/notesMaster" Target="/ppt/notesMasters/notesMaster1.xml" Id="R850dbcf61b254629" /></Relationships>
</file>

<file path=ppt/notesSlides/_rels/notesSlide5.xml.rels>&#65279;<?xml version="1.0" encoding="utf-8"?><Relationships xmlns="http://schemas.openxmlformats.org/package/2006/relationships"><Relationship Type="http://schemas.openxmlformats.org/officeDocument/2006/relationships/slide" Target="/ppt/slides/slide5.xml" Id="R0cd05976399f42da" /><Relationship Type="http://schemas.openxmlformats.org/officeDocument/2006/relationships/notesMaster" Target="/ppt/notesMasters/notesMaster1.xml" Id="R51d7b6ce3a924c2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Start with the hardware and construction-store beachhead. The warehouse image is the destination, not the first customer segment. Speaker 2 introduces Aneesh Gupta and Faizan Sheikh.</a:t>
            </a:r>
          </a:p>
          <a:p xmlns:a="http://schemas.openxmlformats.org/drawingml/2006/main">
            <a:r>
              <a:t/>
            </a:r>
          </a:p>
          <a:p xmlns:a="http://schemas.openxmlformats.org/drawingml/2006/main">
            <a:r>
              <a:t>[Sources]</a:t>
            </a:r>
          </a:p>
          <a:p xmlns:a="http://schemas.openxmlformats.org/drawingml/2006/main">
            <a:r>
              <a:t>- /Users/faizansheikh/ChhotuAI/README.md</a:t>
            </a:r>
          </a:p>
          <a:p xmlns:a="http://schemas.openxmlformats.org/drawingml/2006/main">
            <a:r>
              <a:t>- /Users/faizansheikh/ChhotuAI/frontend/index.html</a:t>
            </a:r>
          </a:p>
          <a:p xmlns:a="http://schemas.openxmlformats.org/drawingml/2006/main">
            <a:r>
              <a:t>- /Users/faizansheikh/ChhotuAI/ChhotuAI_Investor_Pitch.pptx (existing embedded OpenAI ImageGen asset)</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1: Our first market is not retail alone. MoSPI estimates 2.28 crore unincorporated trade establishments in 2023-24; the trade sector covers wholesale and retail, which is the right official frame for hardware retailers, wholesalers, stockists and many distributors. MoSPI also reports only 26.7 percent internet use across the covered unincorporated sector. The Rs 55,244.31 crore figure is not all market receivables: it is the value of formal delayed-payment applications filed by micro and small enterprises on MSME Samadhaan through 31 December 2025. ASUSE excludes incorporated businesses and construction activity itself, so present these as a defensible lower-bound trade signal, not Chhotu.ai's complete TAM.</a:t>
            </a:r>
          </a:p>
          <a:p xmlns:a="http://schemas.openxmlformats.org/drawingml/2006/main">
            <a:r>
              <a:t/>
            </a:r>
          </a:p>
          <a:p xmlns:a="http://schemas.openxmlformats.org/drawingml/2006/main">
            <a:r>
              <a:t>[Sources]</a:t>
            </a:r>
          </a:p>
          <a:p xmlns:a="http://schemas.openxmlformats.org/drawingml/2006/main">
            <a:r>
              <a:t>- https://mospi.gov.in/sites/default/files/publication_reports/ASUSE_2023_24_Full_Report-L.pdf</a:t>
            </a:r>
          </a:p>
          <a:p xmlns:a="http://schemas.openxmlformats.org/drawingml/2006/main">
            <a:r>
              <a:t>- https://mospi.gov.in/sites/default/files/publication_reports/Factsheet_of_ASUSE_2023_24.pdf</a:t>
            </a:r>
          </a:p>
          <a:p xmlns:a="http://schemas.openxmlformats.org/drawingml/2006/main">
            <a:r>
              <a:t>- https://msme.gov.in/sites/default/files/MSMEANNUALREPORT2025-26ENGLISH_0.pdf</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Sarvam is not a logo slide; it is the interaction layer we actually use. Samvaad provides the live multilingual voice agent, code-mixed speech, streaming turns, interruption handling and calls to our grounded inventory, CRM and billing tools. Voice, web and WhatsApp are three interaction channels for the same agent and context, not a third model capability. Sarvam Vision powers document digitization across 23 languages: it extracts text, tables, layout and reading order from invoice photos and PDFs. Chhotu.ai then matches the extracted product, quantity, GST and cost fields against the shop's own catalogue and requires review before inventory changes. Sarvam states 11 Samvaad languages and sub-500ms latency; those are vendor-published figures.</a:t>
            </a:r>
          </a:p>
          <a:p xmlns:a="http://schemas.openxmlformats.org/drawingml/2006/main">
            <a:r>
              <a:t/>
            </a:r>
          </a:p>
          <a:p xmlns:a="http://schemas.openxmlformats.org/drawingml/2006/main">
            <a:r>
              <a:t>[Sources]</a:t>
            </a:r>
          </a:p>
          <a:p xmlns:a="http://schemas.openxmlformats.org/drawingml/2006/main">
            <a:r>
              <a:t>- https://www.sarvam.ai/products/conversational-agents</a:t>
            </a:r>
          </a:p>
          <a:p xmlns:a="http://schemas.openxmlformats.org/drawingml/2006/main">
            <a:r>
              <a:t>- https://docs.sarvam.ai/api/getting-started/models/sarvam-vision</a:t>
            </a:r>
          </a:p>
          <a:p xmlns:a="http://schemas.openxmlformats.org/drawingml/2006/main">
            <a:r>
              <a:t>- https://docs.sarvam.ai/api/api-guides-tutorials/document-digitization/overview</a:t>
            </a:r>
          </a:p>
          <a:p xmlns:a="http://schemas.openxmlformats.org/drawingml/2006/main">
            <a:r>
              <a:t>- /Users/faizansheikh/ChhotuAI/backend/sarvam_client.py</a:t>
            </a:r>
          </a:p>
          <a:p xmlns:a="http://schemas.openxmlformats.org/drawingml/2006/main">
            <a:r>
              <a:t>- /Users/faizansheikh/ChhotuAI/backend/main.py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This is the live product for hardware and construction stores. Keep orders and provider-managed deliveries for the next slide because they are on the dev roadmap, not the production claim. The important technical point is that the agent never becomes the ledger: grounded backend tools validate and store every stock or money action.</a:t>
            </a:r>
          </a:p>
          <a:p xmlns:a="http://schemas.openxmlformats.org/drawingml/2006/main">
            <a:r>
              <a:t/>
            </a:r>
          </a:p>
          <a:p xmlns:a="http://schemas.openxmlformats.org/drawingml/2006/main">
            <a:r>
              <a:t>[Sources]</a:t>
            </a:r>
          </a:p>
          <a:p xmlns:a="http://schemas.openxmlformats.org/drawingml/2006/main">
            <a:r>
              <a:t>- /Users/faizansheikh/ChhotuAI/README.md</a:t>
            </a:r>
          </a:p>
          <a:p xmlns:a="http://schemas.openxmlformats.org/drawingml/2006/main">
            <a:r>
              <a:t>- /Users/faizansheikh/ChhotuAI/frontend/index.html</a:t>
            </a:r>
          </a:p>
          <a:p xmlns:a="http://schemas.openxmlformats.org/drawingml/2006/main">
            <a:r>
              <a:t>- /Users/faizansheikh/ChhotuAI/backend/main.py</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2: Phase 1 and Phase 2—manual order lifecycle and grounded Sarvam order tools—are implemented on dev and still require isolated preview acceptance before production. Later phases add dispatch, inbound customer calls, supplier restocking, invoice reconciliation and provider adapters. A 'Hey Chhotu' experience is feasible, but should be opt-in and privacy-preserving: use an on-device wake-word detector, then open the Samvaad session only after the local trigger. Reliable always-on listening is best delivered through an installed mobile/PWA, kiosk or native companion; ordinary mobile browsers may suspend background audio.</a:t>
            </a:r>
          </a:p>
          <a:p xmlns:a="http://schemas.openxmlformats.org/drawingml/2006/main">
            <a:r>
              <a:t/>
            </a:r>
          </a:p>
          <a:p xmlns:a="http://schemas.openxmlformats.org/drawingml/2006/main">
            <a:r>
              <a:t>[Sources]</a:t>
            </a:r>
          </a:p>
          <a:p xmlns:a="http://schemas.openxmlformats.org/drawingml/2006/main">
            <a:r>
              <a:t>- /Users/faizansheikh/ChhotuAI/docs/order-fulfilment-roadmap.md</a:t>
            </a:r>
          </a:p>
          <a:p xmlns:a="http://schemas.openxmlformats.org/drawingml/2006/main">
            <a:r>
              <a:t>- /Users/faizansheikh/ChhotuAI/README.md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18af007f94b405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4d335b020c54681" /><Relationship Type="http://schemas.openxmlformats.org/officeDocument/2006/relationships/slideLayout" Target="/ppt/slideLayouts/slideLayout1.xml" Id="Rdf08202a86b54ce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f08202a86b54ce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7e465cdbe24d56" /><Relationship Type="http://schemas.openxmlformats.org/officeDocument/2006/relationships/image" Target="/ppt/media/image.png" Id="R9bb9096f725d41f6" /><Relationship Type="http://schemas.openxmlformats.org/officeDocument/2006/relationships/image" Target="/ppt/media/image.svg" Id="R04dd5d151c2e44c1" /><Relationship Type="http://schemas.openxmlformats.org/officeDocument/2006/relationships/notesSlide" Target="/ppt/notesSlides/notesSlide1.xml" Id="R99a7958e4c91467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4c7d5a4f036429b" /><Relationship Type="http://schemas.openxmlformats.org/officeDocument/2006/relationships/image" Target="/ppt/media/image2.png" Id="R12065bf9842745ce" /><Relationship Type="http://schemas.openxmlformats.org/officeDocument/2006/relationships/image" Target="/ppt/media/image2.svg" Id="R510b723ddf9d4460" /><Relationship Type="http://schemas.openxmlformats.org/officeDocument/2006/relationships/notesSlide" Target="/ppt/notesSlides/notesSlide2.xml" Id="R8d208a7fb0d4457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affe8889bfa41db" /><Relationship Type="http://schemas.openxmlformats.org/officeDocument/2006/relationships/image" Target="/ppt/media/image3.png" Id="R8ceda7e9d1594830" /><Relationship Type="http://schemas.openxmlformats.org/officeDocument/2006/relationships/image" Target="/ppt/media/image3.svg" Id="R6b59d6f1dc05429d" /><Relationship Type="http://schemas.openxmlformats.org/officeDocument/2006/relationships/notesSlide" Target="/ppt/notesSlides/notesSlide3.xml" Id="R945f4e6f2a5d48b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9f7fd5d46114210" /><Relationship Type="http://schemas.openxmlformats.org/officeDocument/2006/relationships/image" Target="/ppt/media/image4.png" Id="Ra96d877722b74689" /><Relationship Type="http://schemas.openxmlformats.org/officeDocument/2006/relationships/image" Target="/ppt/media/image4.svg" Id="Rad81726964044f15" /><Relationship Type="http://schemas.openxmlformats.org/officeDocument/2006/relationships/notesSlide" Target="/ppt/notesSlides/notesSlide4.xml" Id="R3f5a6d86fea3427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c5518ee3044b14" /><Relationship Type="http://schemas.openxmlformats.org/officeDocument/2006/relationships/image" Target="/ppt/media/image4.png" Id="Rac9ce8ae3a5149a4" /><Relationship Type="http://schemas.openxmlformats.org/officeDocument/2006/relationships/image" Target="/ppt/media/image4.svg" Id="R46bd2baeffc84904" /><Relationship Type="http://schemas.openxmlformats.org/officeDocument/2006/relationships/notesSlide" Target="/ppt/notesSlides/notesSlide5.xml" Id="R74334ab05c1242e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87" name=""/>
          <p:cNvPicPr>
            <a:picLocks xmlns:a="http://schemas.openxmlformats.org/drawingml/2006/main" noChangeAspect="1"/>
          </p:cNvPicPr>
          <p:nvPr/>
        </p:nvPicPr>
        <p:blipFill>
          <a:blip xmlns:r="http://schemas.openxmlformats.org/officeDocument/2006/relationships" xmlns:a="http://schemas.openxmlformats.org/drawingml/2006/main" r:embed="R9bb9096f725d41f6"/>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9bb9096f725d41f6">
            <a:extLst>
              <a:ext uri="{96DAC541-7B7A-43D3-8B79-37D633B846F1}">
                <asvg:svgBlip xmlns:asvg="http://schemas.microsoft.com/office/drawing/2016/SVG/main" r:embed="R04dd5d151c2e44c1"/>
              </a:ext>
            </a:extLst>
          </a:blip>
          <a:stretch xmlns:a="http://schemas.openxmlformats.org/drawingml/2006/main"/>
        </p:blipFill>
        <p:spPr>
          <a:xfrm xmlns:a="http://schemas.openxmlformats.org/drawingml/2006/main">
            <a:off x="476250" y="400050"/>
            <a:ext cx="381000" cy="381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4FC1FF57-87B5-4009-9D1B-1C4C2D1ECBFC}"/>
              </a:ext>
            </a:extLst>
          </p:cNvPr>
          <p:cNvSpPr>
            <a:spLocks xmlns:a="http://schemas.openxmlformats.org/drawingml/2006/main" noGrp="1"/>
          </p:cNvSpPr>
          <p:nvPr/>
        </p:nvSpPr>
        <p:spPr>
          <a:xfrm xmlns:a="http://schemas.openxmlformats.org/drawingml/2006/main">
            <a:off x="962025" y="438150"/>
            <a:ext cx="971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F7FAF8"/>
                </a:solidFill>
                <a:latin typeface="Helvetica Neue"/>
                <a:ea typeface="Helvetica Neue"/>
                <a:cs typeface="Helvetica Neue"/>
              </a:defRPr>
            </a:pPr>
            <a:r>
              <a:rPr sz="1650" b="1">
                <a:solidFill>
                  <a:srgbClr val="F7FAF8"/>
                </a:solidFill>
                <a:latin typeface="Helvetica Neue"/>
                <a:ea typeface="Helvetica Neue"/>
                <a:cs typeface="Helvetica Neue"/>
              </a:rPr>
              <a:t>Chhotu</a:t>
            </a:r>
          </a:p>
        </p:txBody>
      </p:sp>
      <p:sp>
        <p:nvSpPr>
          <p:cNvPr id="4" name="">
            <a:extLst xmlns:a="http://schemas.openxmlformats.org/drawingml/2006/main">
              <a:ext uri="{FF2B5EF4-FFF2-40B4-BE49-F238E27FC236}">
                <a16:creationId xmlns:a16="http://schemas.microsoft.com/office/drawing/2014/main" id="{5ADC2DAD-97E9-4DD4-910A-383FB54CC987}"/>
              </a:ext>
            </a:extLst>
          </p:cNvPr>
          <p:cNvSpPr>
            <a:spLocks xmlns:a="http://schemas.openxmlformats.org/drawingml/2006/main" noGrp="1"/>
          </p:cNvSpPr>
          <p:nvPr/>
        </p:nvSpPr>
        <p:spPr>
          <a:xfrm xmlns:a="http://schemas.openxmlformats.org/drawingml/2006/main">
            <a:off x="1809750" y="4381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6CF8BB"/>
                </a:solidFill>
                <a:latin typeface="Helvetica Neue"/>
                <a:ea typeface="Helvetica Neue"/>
                <a:cs typeface="Helvetica Neue"/>
              </a:defRPr>
            </a:pPr>
            <a:r>
              <a:rPr sz="1650" b="1">
                <a:solidFill>
                  <a:srgbClr val="6CF8BB"/>
                </a:solidFill>
                <a:latin typeface="Helvetica Neue"/>
                <a:ea typeface="Helvetica Neue"/>
                <a:cs typeface="Helvetica Neue"/>
              </a:rPr>
              <a:t>.ai</a:t>
            </a:r>
          </a:p>
        </p:txBody>
      </p:sp>
      <p:sp>
        <p:nvSpPr>
          <p:cNvPr id="5" name="">
            <a:extLst xmlns:a="http://schemas.openxmlformats.org/drawingml/2006/main">
              <a:ext uri="{FF2B5EF4-FFF2-40B4-BE49-F238E27FC236}">
                <a16:creationId xmlns:a16="http://schemas.microsoft.com/office/drawing/2014/main" id="{59DEA8B0-72D6-410E-B576-225492906D2D}"/>
              </a:ext>
            </a:extLst>
          </p:cNvPr>
          <p:cNvSpPr>
            <a:spLocks xmlns:a="http://schemas.openxmlformats.org/drawingml/2006/main" noGrp="1"/>
          </p:cNvSpPr>
          <p:nvPr/>
        </p:nvSpPr>
        <p:spPr>
          <a:xfrm xmlns:a="http://schemas.openxmlformats.org/drawingml/2006/main">
            <a:off x="495300" y="1219200"/>
            <a:ext cx="4762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050" b="1">
                <a:solidFill>
                  <a:srgbClr val="6CF8BB"/>
                </a:solidFill>
                <a:latin typeface="Helvetica Neue"/>
                <a:ea typeface="Helvetica Neue"/>
                <a:cs typeface="Helvetica Neue"/>
              </a:defRPr>
            </a:pPr>
            <a:r>
              <a:rPr sz="1050" b="1">
                <a:solidFill>
                  <a:srgbClr val="6CF8BB"/>
                </a:solidFill>
                <a:latin typeface="Helvetica Neue"/>
                <a:ea typeface="Helvetica Neue"/>
                <a:cs typeface="Helvetica Neue"/>
              </a:rPr>
              <a:t>THE OPERATING SYSTEM FOR HARDWARE &amp; CONSTRUCTION TRADE</a:t>
            </a:r>
          </a:p>
        </p:txBody>
      </p:sp>
      <p:sp>
        <p:nvSpPr>
          <p:cNvPr id="6" name="">
            <a:extLst xmlns:a="http://schemas.openxmlformats.org/drawingml/2006/main">
              <a:ext uri="{FF2B5EF4-FFF2-40B4-BE49-F238E27FC236}">
                <a16:creationId xmlns:a16="http://schemas.microsoft.com/office/drawing/2014/main" id="{D0527617-5FF0-4C96-8104-C820629C79D8}"/>
              </a:ext>
            </a:extLst>
          </p:cNvPr>
          <p:cNvSpPr>
            <a:spLocks xmlns:a="http://schemas.openxmlformats.org/drawingml/2006/main" noGrp="1"/>
          </p:cNvSpPr>
          <p:nvPr/>
        </p:nvSpPr>
        <p:spPr>
          <a:xfrm xmlns:a="http://schemas.openxmlformats.org/drawingml/2006/main">
            <a:off x="476250" y="1695450"/>
            <a:ext cx="581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023"/>
          </a:bodyPr>
          <a:lstStyle xmlns:a="http://schemas.openxmlformats.org/drawingml/2006/main"/>
          <a:p xmlns:a="http://schemas.openxmlformats.org/drawingml/2006/main">
            <a:pPr algn="l">
              <a:buNone/>
              <a:defRPr sz="4650" b="1">
                <a:solidFill>
                  <a:srgbClr val="F7FAF8"/>
                </a:solidFill>
                <a:latin typeface="Helvetica Neue"/>
                <a:ea typeface="Helvetica Neue"/>
                <a:cs typeface="Helvetica Neue"/>
              </a:defRPr>
            </a:pPr>
            <a:r>
              <a:rPr sz="4650" b="1">
                <a:solidFill>
                  <a:srgbClr val="F7FAF8"/>
                </a:solidFill>
                <a:latin typeface="Helvetica Neue"/>
                <a:ea typeface="Helvetica Neue"/>
                <a:cs typeface="Helvetica Neue"/>
              </a:rPr>
              <a:t>Your hardware business</a:t>
            </a:r>
          </a:p>
        </p:txBody>
      </p:sp>
      <p:sp>
        <p:nvSpPr>
          <p:cNvPr id="7" name="">
            <a:extLst xmlns:a="http://schemas.openxmlformats.org/drawingml/2006/main">
              <a:ext uri="{FF2B5EF4-FFF2-40B4-BE49-F238E27FC236}">
                <a16:creationId xmlns:a16="http://schemas.microsoft.com/office/drawing/2014/main" id="{28E3960B-5776-476E-A941-039263333FCC}"/>
              </a:ext>
            </a:extLst>
          </p:cNvPr>
          <p:cNvSpPr>
            <a:spLocks xmlns:a="http://schemas.openxmlformats.org/drawingml/2006/main" noGrp="1"/>
          </p:cNvSpPr>
          <p:nvPr/>
        </p:nvSpPr>
        <p:spPr>
          <a:xfrm xmlns:a="http://schemas.openxmlformats.org/drawingml/2006/main">
            <a:off x="476250" y="2390775"/>
            <a:ext cx="5810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462"/>
          </a:bodyPr>
          <a:lstStyle xmlns:a="http://schemas.openxmlformats.org/drawingml/2006/main"/>
          <a:p xmlns:a="http://schemas.openxmlformats.org/drawingml/2006/main">
            <a:pPr algn="l">
              <a:buNone/>
              <a:defRPr sz="4650" b="1">
                <a:solidFill>
                  <a:srgbClr val="79827D"/>
                </a:solidFill>
                <a:latin typeface="Helvetica Neue"/>
                <a:ea typeface="Helvetica Neue"/>
                <a:cs typeface="Helvetica Neue"/>
              </a:defRPr>
            </a:pPr>
            <a:r>
              <a:rPr sz="4650" b="1">
                <a:solidFill>
                  <a:srgbClr val="79827D"/>
                </a:solidFill>
                <a:latin typeface="Helvetica Neue"/>
                <a:ea typeface="Helvetica Neue"/>
                <a:cs typeface="Helvetica Neue"/>
              </a:rPr>
              <a:t>just learned</a:t>
            </a:r>
          </a:p>
        </p:txBody>
      </p:sp>
      <p:sp>
        <p:nvSpPr>
          <p:cNvPr id="8" name="">
            <a:extLst xmlns:a="http://schemas.openxmlformats.org/drawingml/2006/main">
              <a:ext uri="{FF2B5EF4-FFF2-40B4-BE49-F238E27FC236}">
                <a16:creationId xmlns:a16="http://schemas.microsoft.com/office/drawing/2014/main" id="{17946C83-2036-49E8-887B-D06697640A51}"/>
              </a:ext>
            </a:extLst>
          </p:cNvPr>
          <p:cNvSpPr>
            <a:spLocks xmlns:a="http://schemas.openxmlformats.org/drawingml/2006/main" noGrp="1"/>
          </p:cNvSpPr>
          <p:nvPr/>
        </p:nvSpPr>
        <p:spPr>
          <a:xfrm xmlns:a="http://schemas.openxmlformats.org/drawingml/2006/main">
            <a:off x="476250" y="3086100"/>
            <a:ext cx="476250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5100" b="1">
                <a:solidFill>
                  <a:srgbClr val="6CF8BB"/>
                </a:solidFill>
                <a:latin typeface="Helvetica Neue"/>
                <a:ea typeface="Helvetica Neue"/>
                <a:cs typeface="Helvetica Neue"/>
              </a:defRPr>
            </a:pPr>
            <a:r>
              <a:rPr sz="5100" b="1">
                <a:solidFill>
                  <a:srgbClr val="6CF8BB"/>
                </a:solidFill>
                <a:latin typeface="Helvetica Neue"/>
                <a:ea typeface="Helvetica Neue"/>
                <a:cs typeface="Helvetica Neue"/>
              </a:rPr>
              <a:t>to listen.</a:t>
            </a:r>
          </a:p>
        </p:txBody>
      </p:sp>
      <p:sp>
        <p:nvSpPr>
          <p:cNvPr id="9" name="">
            <a:extLst xmlns:a="http://schemas.openxmlformats.org/drawingml/2006/main">
              <a:ext uri="{FF2B5EF4-FFF2-40B4-BE49-F238E27FC236}">
                <a16:creationId xmlns:a16="http://schemas.microsoft.com/office/drawing/2014/main" id="{C1F654FB-E953-4731-81C9-BFCE75A8CCD8}"/>
              </a:ext>
            </a:extLst>
          </p:cNvPr>
          <p:cNvSpPr>
            <a:spLocks xmlns:a="http://schemas.openxmlformats.org/drawingml/2006/main" noGrp="1"/>
          </p:cNvSpPr>
          <p:nvPr/>
        </p:nvSpPr>
        <p:spPr>
          <a:xfrm xmlns:a="http://schemas.openxmlformats.org/drawingml/2006/main">
            <a:off x="504825" y="4114800"/>
            <a:ext cx="5191125"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75" b="0">
                <a:solidFill>
                  <a:srgbClr val="9CA59F"/>
                </a:solidFill>
                <a:latin typeface="Helvetica Neue"/>
                <a:ea typeface="Helvetica Neue"/>
                <a:cs typeface="Helvetica Neue"/>
              </a:defRPr>
            </a:pPr>
            <a:r>
              <a:rPr sz="1575" b="0">
                <a:solidFill>
                  <a:srgbClr val="9CA59F"/>
                </a:solidFill>
                <a:latin typeface="Helvetica Neue"/>
                <a:ea typeface="Helvetica Neue"/>
                <a:cs typeface="Helvetica Neue"/>
              </a:rPr>
              <a:t>Voice-first operations for hardware and construction retailers, wholesalers and distributors.</a:t>
            </a:r>
          </a:p>
        </p:txBody>
      </p:sp>
      <p:cxnSp>
        <p:nvCxnSpPr>
          <p:cNvPr id="96" name=""/>
          <p:cNvCxnSpPr/>
          <p:nvPr/>
        </p:nvCxnSpPr>
        <p:spPr>
          <a:xfrm xmlns:a="http://schemas.openxmlformats.org/drawingml/2006/main">
            <a:off x="495300" y="5334000"/>
            <a:ext cx="4762500" cy="0"/>
          </a:xfrm>
          <a:prstGeom xmlns:a="http://schemas.openxmlformats.org/drawingml/2006/main" prst="straightConnector1">
            <a:avLst/>
          </a:prstGeom>
          <a:ln xmlns:a="http://schemas.openxmlformats.org/drawingml/2006/main" w="9525">
            <a:solidFill>
              <a:srgbClr val="35403A"/>
            </a:solidFill>
            <a:prstDash val="solid"/>
          </a:ln>
        </p:spPr>
      </p:cxnSp>
      <p:sp>
        <p:nvSpPr>
          <p:cNvPr id="11" name="">
            <a:extLst xmlns:a="http://schemas.openxmlformats.org/drawingml/2006/main">
              <a:ext uri="{FF2B5EF4-FFF2-40B4-BE49-F238E27FC236}">
                <a16:creationId xmlns:a16="http://schemas.microsoft.com/office/drawing/2014/main" id="{E86AA560-1F6C-4F65-A89A-E2A5F83B8A44}"/>
              </a:ext>
            </a:extLst>
          </p:cNvPr>
          <p:cNvSpPr>
            <a:spLocks xmlns:a="http://schemas.openxmlformats.org/drawingml/2006/main" noGrp="1"/>
          </p:cNvSpPr>
          <p:nvPr/>
        </p:nvSpPr>
        <p:spPr>
          <a:xfrm xmlns:a="http://schemas.openxmlformats.org/drawingml/2006/main">
            <a:off x="495300" y="5543550"/>
            <a:ext cx="666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FFB34D"/>
                </a:solidFill>
                <a:latin typeface="Helvetica Neue"/>
                <a:ea typeface="Helvetica Neue"/>
                <a:cs typeface="Helvetica Neue"/>
              </a:defRPr>
            </a:pPr>
            <a:r>
              <a:rPr sz="825" b="1">
                <a:solidFill>
                  <a:srgbClr val="FFB34D"/>
                </a:solidFill>
                <a:latin typeface="Helvetica Neue"/>
                <a:ea typeface="Helvetica Neue"/>
                <a:cs typeface="Helvetica Neue"/>
              </a:rPr>
              <a:t>TEAM</a:t>
            </a:r>
          </a:p>
        </p:txBody>
      </p:sp>
      <p:sp>
        <p:nvSpPr>
          <p:cNvPr id="12" name="">
            <a:extLst xmlns:a="http://schemas.openxmlformats.org/drawingml/2006/main">
              <a:ext uri="{FF2B5EF4-FFF2-40B4-BE49-F238E27FC236}">
                <a16:creationId xmlns:a16="http://schemas.microsoft.com/office/drawing/2014/main" id="{041388A9-6AA3-4D22-B99F-12D0F3CB8418}"/>
              </a:ext>
            </a:extLst>
          </p:cNvPr>
          <p:cNvSpPr>
            <a:spLocks xmlns:a="http://schemas.openxmlformats.org/drawingml/2006/main" noGrp="1"/>
          </p:cNvSpPr>
          <p:nvPr/>
        </p:nvSpPr>
        <p:spPr>
          <a:xfrm xmlns:a="http://schemas.openxmlformats.org/drawingml/2006/main">
            <a:off x="495300" y="5810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F7FAF8"/>
                </a:solidFill>
                <a:latin typeface="Helvetica Neue"/>
                <a:ea typeface="Helvetica Neue"/>
                <a:cs typeface="Helvetica Neue"/>
              </a:defRPr>
            </a:pPr>
            <a:r>
              <a:rPr sz="1500" b="1">
                <a:solidFill>
                  <a:srgbClr val="F7FAF8"/>
                </a:solidFill>
                <a:latin typeface="Helvetica Neue"/>
                <a:ea typeface="Helvetica Neue"/>
                <a:cs typeface="Helvetica Neue"/>
              </a:rPr>
              <a:t>Aneesh Gupta</a:t>
            </a:r>
          </a:p>
        </p:txBody>
      </p:sp>
      <p:sp>
        <p:nvSpPr>
          <p:cNvPr id="13" name="">
            <a:extLst xmlns:a="http://schemas.openxmlformats.org/drawingml/2006/main">
              <a:ext uri="{FF2B5EF4-FFF2-40B4-BE49-F238E27FC236}">
                <a16:creationId xmlns:a16="http://schemas.microsoft.com/office/drawing/2014/main" id="{49609BFB-B16A-47B2-9B71-258C4F5A28C1}"/>
              </a:ext>
            </a:extLst>
          </p:cNvPr>
          <p:cNvSpPr>
            <a:spLocks xmlns:a="http://schemas.openxmlformats.org/drawingml/2006/main" noGrp="1"/>
          </p:cNvSpPr>
          <p:nvPr/>
        </p:nvSpPr>
        <p:spPr>
          <a:xfrm xmlns:a="http://schemas.openxmlformats.org/drawingml/2006/main">
            <a:off x="2714625" y="5810250"/>
            <a:ext cx="2095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1">
                <a:solidFill>
                  <a:srgbClr val="F7FAF8"/>
                </a:solidFill>
                <a:latin typeface="Helvetica Neue"/>
                <a:ea typeface="Helvetica Neue"/>
                <a:cs typeface="Helvetica Neue"/>
              </a:defRPr>
            </a:pPr>
            <a:r>
              <a:rPr sz="1500" b="1">
                <a:solidFill>
                  <a:srgbClr val="F7FAF8"/>
                </a:solidFill>
                <a:latin typeface="Helvetica Neue"/>
                <a:ea typeface="Helvetica Neue"/>
                <a:cs typeface="Helvetica Neue"/>
              </a:rPr>
              <a:t>Faizan Sheikh</a:t>
            </a:r>
          </a:p>
        </p:txBody>
      </p:sp>
      <p:sp>
        <p:nvSpPr>
          <p:cNvPr id="14" name="">
            <a:extLst xmlns:a="http://schemas.openxmlformats.org/drawingml/2006/main">
              <a:ext uri="{FF2B5EF4-FFF2-40B4-BE49-F238E27FC236}">
                <a16:creationId xmlns:a16="http://schemas.microsoft.com/office/drawing/2014/main" id="{EAD682D9-DD20-4871-A38E-DF61787EC2F4}"/>
              </a:ext>
            </a:extLst>
          </p:cNvPr>
          <p:cNvSpPr>
            <a:spLocks xmlns:a="http://schemas.openxmlformats.org/drawingml/2006/main" noGrp="1"/>
          </p:cNvSpPr>
          <p:nvPr/>
        </p:nvSpPr>
        <p:spPr>
          <a:xfrm xmlns:a="http://schemas.openxmlformats.org/drawingml/2006/main">
            <a:off x="9620250" y="457200"/>
            <a:ext cx="20764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1">
                <a:solidFill>
                  <a:srgbClr val="FFB34D"/>
                </a:solidFill>
                <a:latin typeface="Helvetica Neue"/>
                <a:ea typeface="Helvetica Neue"/>
                <a:cs typeface="Helvetica Neue"/>
              </a:defRPr>
            </a:pPr>
            <a:r>
              <a:rPr sz="825" b="1">
                <a:solidFill>
                  <a:srgbClr val="FFB34D"/>
                </a:solidFill>
                <a:latin typeface="Helvetica Neue"/>
                <a:ea typeface="Helvetica Neue"/>
                <a:cs typeface="Helvetica Neue"/>
              </a:rPr>
              <a:t>INVESTOR / JURY PITCH</a:t>
            </a:r>
          </a:p>
        </p:txBody>
      </p:sp>
    </p:spTree>
    <p:extLst>
      <p:ext uri="{BB962C8B-B14F-4D97-AF65-F5344CB8AC3E}">
        <p14:creationId xmlns:p14="http://schemas.microsoft.com/office/powerpoint/2010/main" val="1104339199"/>
      </p:ext>
    </p:extLst>
  </p:cSld>
</p:sld>
</file>

<file path=ppt/slides/slide2.xml><?xml version="1.0" encoding="utf-8"?>
<p:sld xmlns:p="http://schemas.openxmlformats.org/presentationml/2006/main">
  <p:cSld>
    <p:bg>
      <p:bgPr>
        <a:solidFill xmlns:a="http://schemas.openxmlformats.org/drawingml/2006/main">
          <a:srgbClr val="090B0B"/>
        </a:solidFill>
      </p:bgPr>
    </p:bg>
    <p:spTree>
      <p:nvGrpSpPr>
        <p:cNvPr id="1" name=""/>
        <p:cNvGrpSpPr/>
        <p:nvPr/>
      </p:nvGrpSpPr>
      <p:grpSpPr>
        <a:xfrm xmlns:a="http://schemas.openxmlformats.org/drawingml/2006/main"/>
      </p:grpSpPr>
      <p:pic>
        <p:nvPicPr>
          <p:cNvPr id="95" name=""/>
          <p:cNvPicPr>
            <a:picLocks xmlns:a="http://schemas.openxmlformats.org/drawingml/2006/main" noChangeAspect="1"/>
          </p:cNvPicPr>
          <p:nvPr/>
        </p:nvPicPr>
        <p:blipFill>
          <a:blip xmlns:r="http://schemas.openxmlformats.org/officeDocument/2006/relationships" xmlns:a="http://schemas.openxmlformats.org/drawingml/2006/main" r:embed="R12065bf9842745ce">
            <a:extLst>
              <a:ext uri="{96DAC541-7B7A-43D3-8B79-37D633B846F1}">
                <asvg:svgBlip xmlns:asvg="http://schemas.microsoft.com/office/drawing/2016/SVG/main" r:embed="R510b723ddf9d4460"/>
              </a:ext>
            </a:extLst>
          </a:blip>
          <a:stretch xmlns:a="http://schemas.openxmlformats.org/drawingml/2006/main"/>
        </p:blipFill>
        <p:spPr>
          <a:xfrm xmlns:a="http://schemas.openxmlformats.org/drawingml/2006/main">
            <a:off x="476250" y="400050"/>
            <a:ext cx="381000" cy="381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FDC1CB2-37D6-45EF-AFD2-B99CC737F3D8}"/>
              </a:ext>
            </a:extLst>
          </p:cNvPr>
          <p:cNvSpPr>
            <a:spLocks xmlns:a="http://schemas.openxmlformats.org/drawingml/2006/main" noGrp="1"/>
          </p:cNvSpPr>
          <p:nvPr/>
        </p:nvSpPr>
        <p:spPr>
          <a:xfrm xmlns:a="http://schemas.openxmlformats.org/drawingml/2006/main">
            <a:off x="962025" y="438150"/>
            <a:ext cx="971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F7FAF8"/>
                </a:solidFill>
                <a:latin typeface="Helvetica Neue"/>
                <a:ea typeface="Helvetica Neue"/>
                <a:cs typeface="Helvetica Neue"/>
              </a:defRPr>
            </a:pPr>
            <a:r>
              <a:rPr sz="1650" b="1">
                <a:solidFill>
                  <a:srgbClr val="F7FAF8"/>
                </a:solidFill>
                <a:latin typeface="Helvetica Neue"/>
                <a:ea typeface="Helvetica Neue"/>
                <a:cs typeface="Helvetica Neue"/>
              </a:rPr>
              <a:t>Chhotu</a:t>
            </a:r>
          </a:p>
        </p:txBody>
      </p:sp>
      <p:sp>
        <p:nvSpPr>
          <p:cNvPr id="3" name="">
            <a:extLst xmlns:a="http://schemas.openxmlformats.org/drawingml/2006/main">
              <a:ext uri="{FF2B5EF4-FFF2-40B4-BE49-F238E27FC236}">
                <a16:creationId xmlns:a16="http://schemas.microsoft.com/office/drawing/2014/main" id="{BCA1F038-623C-4280-B678-0B84CBB3B3BC}"/>
              </a:ext>
            </a:extLst>
          </p:cNvPr>
          <p:cNvSpPr>
            <a:spLocks xmlns:a="http://schemas.openxmlformats.org/drawingml/2006/main" noGrp="1"/>
          </p:cNvSpPr>
          <p:nvPr/>
        </p:nvSpPr>
        <p:spPr>
          <a:xfrm xmlns:a="http://schemas.openxmlformats.org/drawingml/2006/main">
            <a:off x="1809750" y="4381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6CF8BB"/>
                </a:solidFill>
                <a:latin typeface="Helvetica Neue"/>
                <a:ea typeface="Helvetica Neue"/>
                <a:cs typeface="Helvetica Neue"/>
              </a:defRPr>
            </a:pPr>
            <a:r>
              <a:rPr sz="1650" b="1">
                <a:solidFill>
                  <a:srgbClr val="6CF8BB"/>
                </a:solidFill>
                <a:latin typeface="Helvetica Neue"/>
                <a:ea typeface="Helvetica Neue"/>
                <a:cs typeface="Helvetica Neue"/>
              </a:rPr>
              <a:t>.ai</a:t>
            </a:r>
          </a:p>
        </p:txBody>
      </p:sp>
      <p:sp>
        <p:nvSpPr>
          <p:cNvPr id="4" name="">
            <a:extLst xmlns:a="http://schemas.openxmlformats.org/drawingml/2006/main">
              <a:ext uri="{FF2B5EF4-FFF2-40B4-BE49-F238E27FC236}">
                <a16:creationId xmlns:a16="http://schemas.microsoft.com/office/drawing/2014/main" id="{EBF1DADD-43DA-4FED-9A98-CB6355DB1E84}"/>
              </a:ext>
            </a:extLst>
          </p:cNvPr>
          <p:cNvSpPr>
            <a:spLocks xmlns:a="http://schemas.openxmlformats.org/drawingml/2006/main" noGrp="1"/>
          </p:cNvSpPr>
          <p:nvPr/>
        </p:nvSpPr>
        <p:spPr>
          <a:xfrm xmlns:a="http://schemas.openxmlformats.org/drawingml/2006/main">
            <a:off x="476250" y="1066800"/>
            <a:ext cx="3429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a:solidFill>
                  <a:srgbClr val="FFB34D"/>
                </a:solidFill>
                <a:latin typeface="Helvetica Neue"/>
                <a:ea typeface="Helvetica Neue"/>
                <a:cs typeface="Helvetica Neue"/>
              </a:defRPr>
            </a:pPr>
            <a:r>
              <a:rPr sz="900" b="1">
                <a:solidFill>
                  <a:srgbClr val="FFB34D"/>
                </a:solidFill>
                <a:latin typeface="Helvetica Neue"/>
                <a:ea typeface="Helvetica Neue"/>
                <a:cs typeface="Helvetica Neue"/>
              </a:rPr>
              <a:t>THE TRADE REALITY</a:t>
            </a:r>
          </a:p>
        </p:txBody>
      </p:sp>
      <p:sp>
        <p:nvSpPr>
          <p:cNvPr id="5" name="">
            <a:extLst xmlns:a="http://schemas.openxmlformats.org/drawingml/2006/main">
              <a:ext uri="{FF2B5EF4-FFF2-40B4-BE49-F238E27FC236}">
                <a16:creationId xmlns:a16="http://schemas.microsoft.com/office/drawing/2014/main" id="{1B998FAF-E5FB-4AF5-BD42-4A356C91DBC0}"/>
              </a:ext>
            </a:extLst>
          </p:cNvPr>
          <p:cNvSpPr>
            <a:spLocks xmlns:a="http://schemas.openxmlformats.org/drawingml/2006/main" noGrp="1"/>
          </p:cNvSpPr>
          <p:nvPr/>
        </p:nvSpPr>
        <p:spPr>
          <a:xfrm xmlns:a="http://schemas.openxmlformats.org/drawingml/2006/main">
            <a:off x="476250" y="1381125"/>
            <a:ext cx="9525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F7FAF8"/>
                </a:solidFill>
                <a:latin typeface="Helvetica Neue"/>
                <a:ea typeface="Helvetica Neue"/>
                <a:cs typeface="Helvetica Neue"/>
              </a:defRPr>
            </a:pPr>
            <a:r>
              <a:rPr sz="3000" b="1">
                <a:solidFill>
                  <a:srgbClr val="F7FAF8"/>
                </a:solidFill>
                <a:latin typeface="Helvetica Neue"/>
                <a:ea typeface="Helvetica Neue"/>
                <a:cs typeface="Helvetica Neue"/>
              </a:rPr>
              <a:t>Trade moves fast. Records still lag.</a:t>
            </a:r>
          </a:p>
        </p:txBody>
      </p:sp>
      <p:sp>
        <p:nvSpPr>
          <p:cNvPr id="6" name="">
            <a:extLst xmlns:a="http://schemas.openxmlformats.org/drawingml/2006/main">
              <a:ext uri="{FF2B5EF4-FFF2-40B4-BE49-F238E27FC236}">
                <a16:creationId xmlns:a16="http://schemas.microsoft.com/office/drawing/2014/main" id="{D52F71CD-CD68-472D-B87B-5FA96953EBE2}"/>
              </a:ext>
            </a:extLst>
          </p:cNvPr>
          <p:cNvSpPr>
            <a:spLocks xmlns:a="http://schemas.openxmlformats.org/drawingml/2006/main" noGrp="1"/>
          </p:cNvSpPr>
          <p:nvPr/>
        </p:nvSpPr>
        <p:spPr>
          <a:xfrm xmlns:a="http://schemas.openxmlformats.org/drawingml/2006/main">
            <a:off x="476250" y="2095500"/>
            <a:ext cx="319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6CF8BB"/>
                </a:solidFill>
                <a:latin typeface="Helvetica Neue"/>
                <a:ea typeface="Helvetica Neue"/>
                <a:cs typeface="Helvetica Neue"/>
              </a:defRPr>
            </a:pPr>
            <a:r>
              <a:rPr sz="3000" b="1">
                <a:solidFill>
                  <a:srgbClr val="6CF8BB"/>
                </a:solidFill>
                <a:latin typeface="Helvetica Neue"/>
                <a:ea typeface="Helvetica Neue"/>
                <a:cs typeface="Helvetica Neue"/>
              </a:rPr>
              <a:t>2.28 crore</a:t>
            </a:r>
          </a:p>
        </p:txBody>
      </p:sp>
      <p:sp>
        <p:nvSpPr>
          <p:cNvPr id="7" name="">
            <a:extLst xmlns:a="http://schemas.openxmlformats.org/drawingml/2006/main">
              <a:ext uri="{FF2B5EF4-FFF2-40B4-BE49-F238E27FC236}">
                <a16:creationId xmlns:a16="http://schemas.microsoft.com/office/drawing/2014/main" id="{4B524CF0-8E93-43D2-B8A8-E49CD9154BE6}"/>
              </a:ext>
            </a:extLst>
          </p:cNvPr>
          <p:cNvSpPr>
            <a:spLocks xmlns:a="http://schemas.openxmlformats.org/drawingml/2006/main" noGrp="1"/>
          </p:cNvSpPr>
          <p:nvPr/>
        </p:nvSpPr>
        <p:spPr>
          <a:xfrm xmlns:a="http://schemas.openxmlformats.org/drawingml/2006/main">
            <a:off x="476250" y="2647950"/>
            <a:ext cx="3095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9CA59F"/>
                </a:solidFill>
                <a:latin typeface="Helvetica Neue"/>
                <a:ea typeface="Helvetica Neue"/>
                <a:cs typeface="Helvetica Neue"/>
              </a:defRPr>
            </a:pPr>
            <a:r>
              <a:rPr sz="1200" b="0">
                <a:solidFill>
                  <a:srgbClr val="9CA59F"/>
                </a:solidFill>
                <a:latin typeface="Helvetica Neue"/>
                <a:ea typeface="Helvetica Neue"/>
                <a:cs typeface="Helvetica Neue"/>
              </a:rPr>
              <a:t>trade establishments</a:t>
            </a:r>
          </a:p>
        </p:txBody>
      </p:sp>
      <p:cxnSp>
        <p:nvCxnSpPr>
          <p:cNvPr id="102" name=""/>
          <p:cNvCxnSpPr/>
          <p:nvPr/>
        </p:nvCxnSpPr>
        <p:spPr>
          <a:xfrm xmlns:a="http://schemas.openxmlformats.org/drawingml/2006/main">
            <a:off x="4095750" y="2190750"/>
            <a:ext cx="9525" cy="0"/>
          </a:xfrm>
          <a:prstGeom xmlns:a="http://schemas.openxmlformats.org/drawingml/2006/main" prst="straightConnector1">
            <a:avLst/>
          </a:prstGeom>
          <a:ln xmlns:a="http://schemas.openxmlformats.org/drawingml/2006/main" w="9525">
            <a:solidFill>
              <a:srgbClr val="303835"/>
            </a:solidFill>
            <a:prstDash val="solid"/>
          </a:ln>
        </p:spPr>
      </p:cxnSp>
      <p:sp>
        <p:nvSpPr>
          <p:cNvPr id="9" name="">
            <a:extLst xmlns:a="http://schemas.openxmlformats.org/drawingml/2006/main">
              <a:ext uri="{FF2B5EF4-FFF2-40B4-BE49-F238E27FC236}">
                <a16:creationId xmlns:a16="http://schemas.microsoft.com/office/drawing/2014/main" id="{30B146CC-B12F-48EB-97B6-28A429ADE5D9}"/>
              </a:ext>
            </a:extLst>
          </p:cNvPr>
          <p:cNvSpPr>
            <a:spLocks xmlns:a="http://schemas.openxmlformats.org/drawingml/2006/main" noGrp="1"/>
          </p:cNvSpPr>
          <p:nvPr/>
        </p:nvSpPr>
        <p:spPr>
          <a:xfrm xmlns:a="http://schemas.openxmlformats.org/drawingml/2006/main">
            <a:off x="4333875" y="2095500"/>
            <a:ext cx="319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6CF8BB"/>
                </a:solidFill>
                <a:latin typeface="Helvetica Neue"/>
                <a:ea typeface="Helvetica Neue"/>
                <a:cs typeface="Helvetica Neue"/>
              </a:defRPr>
            </a:pPr>
            <a:r>
              <a:rPr sz="3000" b="1">
                <a:solidFill>
                  <a:srgbClr val="6CF8BB"/>
                </a:solidFill>
                <a:latin typeface="Helvetica Neue"/>
                <a:ea typeface="Helvetica Neue"/>
                <a:cs typeface="Helvetica Neue"/>
              </a:rPr>
              <a:t>26.7%</a:t>
            </a:r>
          </a:p>
        </p:txBody>
      </p:sp>
      <p:sp>
        <p:nvSpPr>
          <p:cNvPr id="10" name="">
            <a:extLst xmlns:a="http://schemas.openxmlformats.org/drawingml/2006/main">
              <a:ext uri="{FF2B5EF4-FFF2-40B4-BE49-F238E27FC236}">
                <a16:creationId xmlns:a16="http://schemas.microsoft.com/office/drawing/2014/main" id="{A523E032-B78F-4D65-9B44-AAAA4068A970}"/>
              </a:ext>
            </a:extLst>
          </p:cNvPr>
          <p:cNvSpPr>
            <a:spLocks xmlns:a="http://schemas.openxmlformats.org/drawingml/2006/main" noGrp="1"/>
          </p:cNvSpPr>
          <p:nvPr/>
        </p:nvSpPr>
        <p:spPr>
          <a:xfrm xmlns:a="http://schemas.openxmlformats.org/drawingml/2006/main">
            <a:off x="4333875" y="2647950"/>
            <a:ext cx="3095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9CA59F"/>
                </a:solidFill>
                <a:latin typeface="Helvetica Neue"/>
                <a:ea typeface="Helvetica Neue"/>
                <a:cs typeface="Helvetica Neue"/>
              </a:defRPr>
            </a:pPr>
            <a:r>
              <a:rPr sz="1200" b="0">
                <a:solidFill>
                  <a:srgbClr val="9CA59F"/>
                </a:solidFill>
                <a:latin typeface="Helvetica Neue"/>
                <a:ea typeface="Helvetica Neue"/>
                <a:cs typeface="Helvetica Neue"/>
              </a:rPr>
              <a:t>internet use across sector</a:t>
            </a:r>
          </a:p>
        </p:txBody>
      </p:sp>
      <p:cxnSp>
        <p:nvCxnSpPr>
          <p:cNvPr id="105" name=""/>
          <p:cNvCxnSpPr/>
          <p:nvPr/>
        </p:nvCxnSpPr>
        <p:spPr>
          <a:xfrm xmlns:a="http://schemas.openxmlformats.org/drawingml/2006/main">
            <a:off x="7953375" y="2190750"/>
            <a:ext cx="9525" cy="0"/>
          </a:xfrm>
          <a:prstGeom xmlns:a="http://schemas.openxmlformats.org/drawingml/2006/main" prst="straightConnector1">
            <a:avLst/>
          </a:prstGeom>
          <a:ln xmlns:a="http://schemas.openxmlformats.org/drawingml/2006/main" w="9525">
            <a:solidFill>
              <a:srgbClr val="303835"/>
            </a:solidFill>
            <a:prstDash val="solid"/>
          </a:ln>
        </p:spPr>
      </p:cxnSp>
      <p:sp>
        <p:nvSpPr>
          <p:cNvPr id="12" name="">
            <a:extLst xmlns:a="http://schemas.openxmlformats.org/drawingml/2006/main">
              <a:ext uri="{FF2B5EF4-FFF2-40B4-BE49-F238E27FC236}">
                <a16:creationId xmlns:a16="http://schemas.microsoft.com/office/drawing/2014/main" id="{BFA5A0EC-510E-4788-8A4B-64B6726987DD}"/>
              </a:ext>
            </a:extLst>
          </p:cNvPr>
          <p:cNvSpPr>
            <a:spLocks xmlns:a="http://schemas.openxmlformats.org/drawingml/2006/main" noGrp="1"/>
          </p:cNvSpPr>
          <p:nvPr/>
        </p:nvSpPr>
        <p:spPr>
          <a:xfrm xmlns:a="http://schemas.openxmlformats.org/drawingml/2006/main">
            <a:off x="8191500" y="2095500"/>
            <a:ext cx="31908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FFB34D"/>
                </a:solidFill>
                <a:latin typeface="Helvetica Neue"/>
                <a:ea typeface="Helvetica Neue"/>
                <a:cs typeface="Helvetica Neue"/>
              </a:defRPr>
            </a:pPr>
            <a:r>
              <a:rPr sz="3000" b="1">
                <a:solidFill>
                  <a:srgbClr val="FFB34D"/>
                </a:solidFill>
                <a:latin typeface="Helvetica Neue"/>
                <a:ea typeface="Helvetica Neue"/>
                <a:cs typeface="Helvetica Neue"/>
              </a:rPr>
              <a:t>₹55,244 cr</a:t>
            </a:r>
          </a:p>
        </p:txBody>
      </p:sp>
      <p:sp>
        <p:nvSpPr>
          <p:cNvPr id="13" name="">
            <a:extLst xmlns:a="http://schemas.openxmlformats.org/drawingml/2006/main">
              <a:ext uri="{FF2B5EF4-FFF2-40B4-BE49-F238E27FC236}">
                <a16:creationId xmlns:a16="http://schemas.microsoft.com/office/drawing/2014/main" id="{B4DBD1A7-D1F1-48D6-A3D4-0724A65CA563}"/>
              </a:ext>
            </a:extLst>
          </p:cNvPr>
          <p:cNvSpPr>
            <a:spLocks xmlns:a="http://schemas.openxmlformats.org/drawingml/2006/main" noGrp="1"/>
          </p:cNvSpPr>
          <p:nvPr/>
        </p:nvSpPr>
        <p:spPr>
          <a:xfrm xmlns:a="http://schemas.openxmlformats.org/drawingml/2006/main">
            <a:off x="8191500" y="2647950"/>
            <a:ext cx="309562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9CA59F"/>
                </a:solidFill>
                <a:latin typeface="Helvetica Neue"/>
                <a:ea typeface="Helvetica Neue"/>
                <a:cs typeface="Helvetica Neue"/>
              </a:defRPr>
            </a:pPr>
            <a:r>
              <a:rPr sz="1200" b="0">
                <a:solidFill>
                  <a:srgbClr val="9CA59F"/>
                </a:solidFill>
                <a:latin typeface="Helvetica Neue"/>
                <a:ea typeface="Helvetica Neue"/>
                <a:cs typeface="Helvetica Neue"/>
              </a:rPr>
              <a:t>formal MSE claims on Samadhaan</a:t>
            </a:r>
          </a:p>
        </p:txBody>
      </p:sp>
      <p:sp>
        <p:nvSpPr>
          <p:cNvPr id="14" name="">
            <a:extLst xmlns:a="http://schemas.openxmlformats.org/drawingml/2006/main">
              <a:ext uri="{FF2B5EF4-FFF2-40B4-BE49-F238E27FC236}">
                <a16:creationId xmlns:a16="http://schemas.microsoft.com/office/drawing/2014/main" id="{4BB4C6F2-B40A-41D8-A768-DA0D8CAA5C74}"/>
              </a:ext>
            </a:extLst>
          </p:cNvPr>
          <p:cNvSpPr>
            <a:spLocks xmlns:a="http://schemas.openxmlformats.org/drawingml/2006/main" noGrp="1"/>
          </p:cNvSpPr>
          <p:nvPr/>
        </p:nvSpPr>
        <p:spPr>
          <a:xfrm xmlns:a="http://schemas.openxmlformats.org/drawingml/2006/main">
            <a:off x="476250" y="3333750"/>
            <a:ext cx="5334000" cy="2571750"/>
          </a:xfrm>
          <a:prstGeom xmlns:a="http://schemas.openxmlformats.org/drawingml/2006/main" prst="roundRect">
            <a:avLst>
              <a:gd name="adj" fmla="val 6667"/>
            </a:avLst>
          </a:prstGeom>
          <a:solidFill xmlns:a="http://schemas.openxmlformats.org/drawingml/2006/main">
            <a:srgbClr val="111514"/>
          </a:solidFill>
          <a:ln xmlns:a="http://schemas.openxmlformats.org/drawingml/2006/main" w="9525">
            <a:solidFill>
              <a:srgbClr val="28302C"/>
            </a:solidFill>
            <a:prstDash val="solid"/>
          </a:ln>
        </p:spPr>
      </p:sp>
      <p:sp>
        <p:nvSpPr>
          <p:cNvPr id="15" name="">
            <a:extLst xmlns:a="http://schemas.openxmlformats.org/drawingml/2006/main">
              <a:ext uri="{FF2B5EF4-FFF2-40B4-BE49-F238E27FC236}">
                <a16:creationId xmlns:a16="http://schemas.microsoft.com/office/drawing/2014/main" id="{9E6416A9-55BE-48E5-9799-C9634D72A6B6}"/>
              </a:ext>
            </a:extLst>
          </p:cNvPr>
          <p:cNvSpPr>
            <a:spLocks xmlns:a="http://schemas.openxmlformats.org/drawingml/2006/main" noGrp="1"/>
          </p:cNvSpPr>
          <p:nvPr/>
        </p:nvSpPr>
        <p:spPr>
          <a:xfrm xmlns:a="http://schemas.openxmlformats.org/drawingml/2006/main">
            <a:off x="6191250" y="3333750"/>
            <a:ext cx="5524500" cy="2571750"/>
          </a:xfrm>
          <a:prstGeom xmlns:a="http://schemas.openxmlformats.org/drawingml/2006/main" prst="roundRect">
            <a:avLst>
              <a:gd name="adj" fmla="val 6667"/>
            </a:avLst>
          </a:prstGeom>
          <a:solidFill xmlns:a="http://schemas.openxmlformats.org/drawingml/2006/main">
            <a:srgbClr val="101B17"/>
          </a:solidFill>
          <a:ln xmlns:a="http://schemas.openxmlformats.org/drawingml/2006/main" w="9525">
            <a:solidFill>
              <a:srgbClr val="285643"/>
            </a:solidFill>
            <a:prstDash val="solid"/>
          </a:ln>
        </p:spPr>
      </p:sp>
      <p:sp>
        <p:nvSpPr>
          <p:cNvPr id="16" name="">
            <a:extLst xmlns:a="http://schemas.openxmlformats.org/drawingml/2006/main">
              <a:ext uri="{FF2B5EF4-FFF2-40B4-BE49-F238E27FC236}">
                <a16:creationId xmlns:a16="http://schemas.microsoft.com/office/drawing/2014/main" id="{5B3126F8-4A96-4851-B83D-CE51656EBC52}"/>
              </a:ext>
            </a:extLst>
          </p:cNvPr>
          <p:cNvSpPr>
            <a:spLocks xmlns:a="http://schemas.openxmlformats.org/drawingml/2006/main" noGrp="1"/>
          </p:cNvSpPr>
          <p:nvPr/>
        </p:nvSpPr>
        <p:spPr>
          <a:xfrm xmlns:a="http://schemas.openxmlformats.org/drawingml/2006/main">
            <a:off x="762000" y="36385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a:solidFill>
                  <a:srgbClr val="FFB34D"/>
                </a:solidFill>
                <a:latin typeface="Helvetica Neue"/>
                <a:ea typeface="Helvetica Neue"/>
                <a:cs typeface="Helvetica Neue"/>
              </a:defRPr>
            </a:pPr>
            <a:r>
              <a:rPr sz="900" b="1">
                <a:solidFill>
                  <a:srgbClr val="FFB34D"/>
                </a:solidFill>
                <a:latin typeface="Helvetica Neue"/>
                <a:ea typeface="Helvetica Neue"/>
                <a:cs typeface="Helvetica Neue"/>
              </a:rPr>
              <a:t>RETAIL • WHOLESALE • DISTRIBUTION</a:t>
            </a:r>
          </a:p>
        </p:txBody>
      </p:sp>
      <p:sp>
        <p:nvSpPr>
          <p:cNvPr id="17" name="">
            <a:extLst xmlns:a="http://schemas.openxmlformats.org/drawingml/2006/main">
              <a:ext uri="{FF2B5EF4-FFF2-40B4-BE49-F238E27FC236}">
                <a16:creationId xmlns:a16="http://schemas.microsoft.com/office/drawing/2014/main" id="{297F7369-F3C1-4DBC-876F-1C3006D82DB3}"/>
              </a:ext>
            </a:extLst>
          </p:cNvPr>
          <p:cNvSpPr>
            <a:spLocks xmlns:a="http://schemas.openxmlformats.org/drawingml/2006/main" noGrp="1"/>
          </p:cNvSpPr>
          <p:nvPr/>
        </p:nvSpPr>
        <p:spPr>
          <a:xfrm xmlns:a="http://schemas.openxmlformats.org/drawingml/2006/main">
            <a:off x="762000" y="4048125"/>
            <a:ext cx="4191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F7FAF8"/>
                </a:solidFill>
                <a:latin typeface="Helvetica Neue"/>
                <a:ea typeface="Helvetica Neue"/>
                <a:cs typeface="Helvetica Neue"/>
              </a:defRPr>
            </a:pPr>
            <a:r>
              <a:rPr sz="2025" b="1">
                <a:solidFill>
                  <a:srgbClr val="F7FAF8"/>
                </a:solidFill>
                <a:latin typeface="Helvetica Neue"/>
                <a:ea typeface="Helvetica Neue"/>
                <a:cs typeface="Helvetica Neue"/>
              </a:rPr>
              <a:t>Variants in notebooks.</a:t>
            </a:r>
          </a:p>
          <a:p xmlns:a="http://schemas.openxmlformats.org/drawingml/2006/main">
            <a:pPr algn="l">
              <a:buNone/>
              <a:defRPr sz="2025" b="1">
                <a:solidFill>
                  <a:srgbClr val="F7FAF8"/>
                </a:solidFill>
                <a:latin typeface="Helvetica Neue"/>
                <a:ea typeface="Helvetica Neue"/>
                <a:cs typeface="Helvetica Neue"/>
              </a:defRPr>
            </a:pPr>
            <a:r>
              <a:rPr sz="2025" b="1">
                <a:solidFill>
                  <a:srgbClr val="F7FAF8"/>
                </a:solidFill>
                <a:latin typeface="Helvetica Neue"/>
                <a:ea typeface="Helvetica Neue"/>
                <a:cs typeface="Helvetica Neue"/>
              </a:rPr>
              <a:t>Credit across parties.</a:t>
            </a:r>
          </a:p>
          <a:p xmlns:a="http://schemas.openxmlformats.org/drawingml/2006/main">
            <a:pPr algn="l">
              <a:buNone/>
              <a:defRPr sz="2025" b="1">
                <a:solidFill>
                  <a:srgbClr val="F7FAF8"/>
                </a:solidFill>
                <a:latin typeface="Helvetica Neue"/>
                <a:ea typeface="Helvetica Neue"/>
                <a:cs typeface="Helvetica Neue"/>
              </a:defRPr>
            </a:pPr>
            <a:r>
              <a:rPr sz="2025" b="1">
                <a:solidFill>
                  <a:srgbClr val="F7FAF8"/>
                </a:solidFill>
                <a:latin typeface="Helvetica Neue"/>
                <a:ea typeface="Helvetica Neue"/>
                <a:cs typeface="Helvetica Neue"/>
              </a:rPr>
              <a:t>Stock split across counter + godown.</a:t>
            </a:r>
          </a:p>
        </p:txBody>
      </p:sp>
      <p:sp>
        <p:nvSpPr>
          <p:cNvPr id="18" name="">
            <a:extLst xmlns:a="http://schemas.openxmlformats.org/drawingml/2006/main">
              <a:ext uri="{FF2B5EF4-FFF2-40B4-BE49-F238E27FC236}">
                <a16:creationId xmlns:a16="http://schemas.microsoft.com/office/drawing/2014/main" id="{42D931A3-74D7-40F6-B3F2-76D295DCE3A1}"/>
              </a:ext>
            </a:extLst>
          </p:cNvPr>
          <p:cNvSpPr>
            <a:spLocks xmlns:a="http://schemas.openxmlformats.org/drawingml/2006/main" noGrp="1"/>
          </p:cNvSpPr>
          <p:nvPr/>
        </p:nvSpPr>
        <p:spPr>
          <a:xfrm xmlns:a="http://schemas.openxmlformats.org/drawingml/2006/main">
            <a:off x="6477000" y="36385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a:solidFill>
                  <a:srgbClr val="6CF8BB"/>
                </a:solidFill>
                <a:latin typeface="Helvetica Neue"/>
                <a:ea typeface="Helvetica Neue"/>
                <a:cs typeface="Helvetica Neue"/>
              </a:defRPr>
            </a:pPr>
            <a:r>
              <a:rPr sz="900" b="1">
                <a:solidFill>
                  <a:srgbClr val="6CF8BB"/>
                </a:solidFill>
                <a:latin typeface="Helvetica Neue"/>
                <a:ea typeface="Helvetica Neue"/>
                <a:cs typeface="Helvetica Neue"/>
              </a:rPr>
              <a:t>ONE TRADE OPERATING LAYER</a:t>
            </a:r>
          </a:p>
        </p:txBody>
      </p:sp>
      <p:sp>
        <p:nvSpPr>
          <p:cNvPr id="19" name="">
            <a:extLst xmlns:a="http://schemas.openxmlformats.org/drawingml/2006/main">
              <a:ext uri="{FF2B5EF4-FFF2-40B4-BE49-F238E27FC236}">
                <a16:creationId xmlns:a16="http://schemas.microsoft.com/office/drawing/2014/main" id="{7F21B03F-50E5-4EC9-BA2E-71B568F015FB}"/>
              </a:ext>
            </a:extLst>
          </p:cNvPr>
          <p:cNvSpPr>
            <a:spLocks xmlns:a="http://schemas.openxmlformats.org/drawingml/2006/main" noGrp="1"/>
          </p:cNvSpPr>
          <p:nvPr/>
        </p:nvSpPr>
        <p:spPr>
          <a:xfrm xmlns:a="http://schemas.openxmlformats.org/drawingml/2006/main">
            <a:off x="6477000" y="4048125"/>
            <a:ext cx="42862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025" b="1">
                <a:solidFill>
                  <a:srgbClr val="F7FAF8"/>
                </a:solidFill>
                <a:latin typeface="Helvetica Neue"/>
                <a:ea typeface="Helvetica Neue"/>
                <a:cs typeface="Helvetica Neue"/>
              </a:defRPr>
            </a:pPr>
            <a:r>
              <a:rPr sz="2025" b="1">
                <a:solidFill>
                  <a:srgbClr val="F7FAF8"/>
                </a:solidFill>
                <a:latin typeface="Helvetica Neue"/>
                <a:ea typeface="Helvetica Neue"/>
                <a:cs typeface="Helvetica Neue"/>
              </a:rPr>
              <a:t>Speak every movement.</a:t>
            </a:r>
          </a:p>
          <a:p xmlns:a="http://schemas.openxmlformats.org/drawingml/2006/main">
            <a:pPr algn="l">
              <a:buNone/>
              <a:defRPr sz="2025" b="1">
                <a:solidFill>
                  <a:srgbClr val="F7FAF8"/>
                </a:solidFill>
                <a:latin typeface="Helvetica Neue"/>
                <a:ea typeface="Helvetica Neue"/>
                <a:cs typeface="Helvetica Neue"/>
              </a:defRPr>
            </a:pPr>
            <a:r>
              <a:rPr sz="2025" b="1">
                <a:solidFill>
                  <a:srgbClr val="F7FAF8"/>
                </a:solidFill>
                <a:latin typeface="Helvetica Neue"/>
                <a:ea typeface="Helvetica Neue"/>
                <a:cs typeface="Helvetica Neue"/>
              </a:rPr>
              <a:t>Customer + supplier credit linked.</a:t>
            </a:r>
          </a:p>
          <a:p xmlns:a="http://schemas.openxmlformats.org/drawingml/2006/main">
            <a:pPr algn="l">
              <a:buNone/>
              <a:defRPr sz="2025" b="1">
                <a:solidFill>
                  <a:srgbClr val="F7FAF8"/>
                </a:solidFill>
                <a:latin typeface="Helvetica Neue"/>
                <a:ea typeface="Helvetica Neue"/>
                <a:cs typeface="Helvetica Neue"/>
              </a:defRPr>
            </a:pPr>
            <a:r>
              <a:rPr sz="2025" b="1">
                <a:solidFill>
                  <a:srgbClr val="F7FAF8"/>
                </a:solidFill>
                <a:latin typeface="Helvetica Neue"/>
                <a:ea typeface="Helvetica Neue"/>
                <a:cs typeface="Helvetica Neue"/>
              </a:rPr>
              <a:t>Stock + margin stay live.</a:t>
            </a:r>
          </a:p>
        </p:txBody>
      </p:sp>
      <p:sp>
        <p:nvSpPr>
          <p:cNvPr id="20" name="">
            <a:extLst xmlns:a="http://schemas.openxmlformats.org/drawingml/2006/main">
              <a:ext uri="{FF2B5EF4-FFF2-40B4-BE49-F238E27FC236}">
                <a16:creationId xmlns:a16="http://schemas.microsoft.com/office/drawing/2014/main" id="{00C6AB2C-E690-4054-8802-1533D3C04C29}"/>
              </a:ext>
            </a:extLst>
          </p:cNvPr>
          <p:cNvSpPr>
            <a:spLocks xmlns:a="http://schemas.openxmlformats.org/drawingml/2006/main" noGrp="1"/>
          </p:cNvSpPr>
          <p:nvPr/>
        </p:nvSpPr>
        <p:spPr>
          <a:xfrm xmlns:a="http://schemas.openxmlformats.org/drawingml/2006/main">
            <a:off x="5762625" y="4381500"/>
            <a:ext cx="4000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ctr">
              <a:buNone/>
              <a:defRPr sz="2550" b="1">
                <a:solidFill>
                  <a:srgbClr val="6CF8BB"/>
                </a:solidFill>
                <a:latin typeface="Helvetica Neue"/>
                <a:ea typeface="Helvetica Neue"/>
                <a:cs typeface="Helvetica Neue"/>
              </a:defRPr>
            </a:pPr>
            <a:r>
              <a:rPr sz="2550" b="1">
                <a:solidFill>
                  <a:srgbClr val="6CF8BB"/>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E7A15DD5-F23B-42A1-A8CF-30876E1DD7D3}"/>
              </a:ext>
            </a:extLst>
          </p:cNvPr>
          <p:cNvSpPr>
            <a:spLocks xmlns:a="http://schemas.openxmlformats.org/drawingml/2006/main" noGrp="1"/>
          </p:cNvSpPr>
          <p:nvPr/>
        </p:nvSpPr>
        <p:spPr>
          <a:xfrm xmlns:a="http://schemas.openxmlformats.org/drawingml/2006/main">
            <a:off x="476250" y="6429375"/>
            <a:ext cx="1028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750" b="0">
                <a:solidFill>
                  <a:srgbClr val="68716C"/>
                </a:solidFill>
                <a:latin typeface="Helvetica Neue"/>
                <a:ea typeface="Helvetica Neue"/>
                <a:cs typeface="Helvetica Neue"/>
              </a:defRPr>
            </a:pPr>
            <a:r>
              <a:rPr sz="750" b="0">
                <a:solidFill>
                  <a:srgbClr val="68716C"/>
                </a:solidFill>
                <a:latin typeface="Helvetica Neue"/>
                <a:ea typeface="Helvetica Neue"/>
                <a:cs typeface="Helvetica Neue"/>
              </a:rPr>
              <a:t>Sources: MoSPI ASUSE 2023–24 trade facts; MSME Annual Report 2025–26. Trade includes wholesale + retail.</a:t>
            </a:r>
          </a:p>
        </p:txBody>
      </p:sp>
      <p:sp>
        <p:nvSpPr>
          <p:cNvPr id="22" name="">
            <a:extLst xmlns:a="http://schemas.openxmlformats.org/drawingml/2006/main">
              <a:ext uri="{FF2B5EF4-FFF2-40B4-BE49-F238E27FC236}">
                <a16:creationId xmlns:a16="http://schemas.microsoft.com/office/drawing/2014/main" id="{34BDBEE9-F4E3-4ADD-B3F0-41AD8DC3BB22}"/>
              </a:ext>
            </a:extLst>
          </p:cNvPr>
          <p:cNvSpPr>
            <a:spLocks xmlns:a="http://schemas.openxmlformats.org/drawingml/2006/main" noGrp="1"/>
          </p:cNvSpPr>
          <p:nvPr/>
        </p:nvSpPr>
        <p:spPr>
          <a:xfrm xmlns:a="http://schemas.openxmlformats.org/drawingml/2006/main">
            <a:off x="11334750" y="6381750"/>
            <a:ext cx="361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8716C"/>
                </a:solidFill>
                <a:latin typeface="Helvetica Neue"/>
                <a:ea typeface="Helvetica Neue"/>
                <a:cs typeface="Helvetica Neue"/>
              </a:defRPr>
            </a:pPr>
            <a:r>
              <a:rPr sz="825" b="0">
                <a:solidFill>
                  <a:srgbClr val="68716C"/>
                </a:solidFill>
                <a:latin typeface="Helvetica Neue"/>
                <a:ea typeface="Helvetica Neue"/>
                <a:cs typeface="Helvetica Neue"/>
              </a:rPr>
              <a:t>02</a:t>
            </a:r>
          </a:p>
        </p:txBody>
      </p:sp>
    </p:spTree>
    <p:extLst>
      <p:ext uri="{BB962C8B-B14F-4D97-AF65-F5344CB8AC3E}">
        <p14:creationId xmlns:p14="http://schemas.microsoft.com/office/powerpoint/2010/main" val="345248246"/>
      </p:ext>
    </p:extLst>
  </p:cSld>
</p:sld>
</file>

<file path=ppt/slides/slide3.xml><?xml version="1.0" encoding="utf-8"?>
<p:sld xmlns:p="http://schemas.openxmlformats.org/presentationml/2006/main">
  <p:cSld>
    <p:bg>
      <p:bgPr>
        <a:solidFill xmlns:a="http://schemas.openxmlformats.org/drawingml/2006/main">
          <a:srgbClr val="0D100F"/>
        </a:solidFill>
      </p:bgPr>
    </p:bg>
    <p:spTree>
      <p:nvGrpSpPr>
        <p:cNvPr id="1" name=""/>
        <p:cNvGrpSpPr/>
        <p:nvPr/>
      </p:nvGrpSpPr>
      <p:grpSpPr>
        <a:xfrm xmlns:a="http://schemas.openxmlformats.org/drawingml/2006/main"/>
      </p:grpSpPr>
      <p:pic>
        <p:nvPicPr>
          <p:cNvPr id="95" name=""/>
          <p:cNvPicPr>
            <a:picLocks xmlns:a="http://schemas.openxmlformats.org/drawingml/2006/main" noChangeAspect="1"/>
          </p:cNvPicPr>
          <p:nvPr/>
        </p:nvPicPr>
        <p:blipFill>
          <a:blip xmlns:r="http://schemas.openxmlformats.org/officeDocument/2006/relationships" xmlns:a="http://schemas.openxmlformats.org/drawingml/2006/main" r:embed="R8ceda7e9d1594830">
            <a:extLst>
              <a:ext uri="{96DAC541-7B7A-43D3-8B79-37D633B846F1}">
                <asvg:svgBlip xmlns:asvg="http://schemas.microsoft.com/office/drawing/2016/SVG/main" r:embed="R6b59d6f1dc05429d"/>
              </a:ext>
            </a:extLst>
          </a:blip>
          <a:stretch xmlns:a="http://schemas.openxmlformats.org/drawingml/2006/main"/>
        </p:blipFill>
        <p:spPr>
          <a:xfrm xmlns:a="http://schemas.openxmlformats.org/drawingml/2006/main">
            <a:off x="476250" y="400050"/>
            <a:ext cx="381000" cy="381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919991A-2719-40FB-BE0F-650209F2C6E7}"/>
              </a:ext>
            </a:extLst>
          </p:cNvPr>
          <p:cNvSpPr>
            <a:spLocks xmlns:a="http://schemas.openxmlformats.org/drawingml/2006/main" noGrp="1"/>
          </p:cNvSpPr>
          <p:nvPr/>
        </p:nvSpPr>
        <p:spPr>
          <a:xfrm xmlns:a="http://schemas.openxmlformats.org/drawingml/2006/main">
            <a:off x="962025" y="438150"/>
            <a:ext cx="971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F7FAF8"/>
                </a:solidFill>
                <a:latin typeface="Helvetica Neue"/>
                <a:ea typeface="Helvetica Neue"/>
                <a:cs typeface="Helvetica Neue"/>
              </a:defRPr>
            </a:pPr>
            <a:r>
              <a:rPr sz="1650" b="1">
                <a:solidFill>
                  <a:srgbClr val="F7FAF8"/>
                </a:solidFill>
                <a:latin typeface="Helvetica Neue"/>
                <a:ea typeface="Helvetica Neue"/>
                <a:cs typeface="Helvetica Neue"/>
              </a:rPr>
              <a:t>Chhotu</a:t>
            </a:r>
          </a:p>
        </p:txBody>
      </p:sp>
      <p:sp>
        <p:nvSpPr>
          <p:cNvPr id="3" name="">
            <a:extLst xmlns:a="http://schemas.openxmlformats.org/drawingml/2006/main">
              <a:ext uri="{FF2B5EF4-FFF2-40B4-BE49-F238E27FC236}">
                <a16:creationId xmlns:a16="http://schemas.microsoft.com/office/drawing/2014/main" id="{33AFF770-1B15-45A6-BD1D-50769E2B7BA2}"/>
              </a:ext>
            </a:extLst>
          </p:cNvPr>
          <p:cNvSpPr>
            <a:spLocks xmlns:a="http://schemas.openxmlformats.org/drawingml/2006/main" noGrp="1"/>
          </p:cNvSpPr>
          <p:nvPr/>
        </p:nvSpPr>
        <p:spPr>
          <a:xfrm xmlns:a="http://schemas.openxmlformats.org/drawingml/2006/main">
            <a:off x="1809750" y="4381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6CF8BB"/>
                </a:solidFill>
                <a:latin typeface="Helvetica Neue"/>
                <a:ea typeface="Helvetica Neue"/>
                <a:cs typeface="Helvetica Neue"/>
              </a:defRPr>
            </a:pPr>
            <a:r>
              <a:rPr sz="1650" b="1">
                <a:solidFill>
                  <a:srgbClr val="6CF8BB"/>
                </a:solidFill>
                <a:latin typeface="Helvetica Neue"/>
                <a:ea typeface="Helvetica Neue"/>
                <a:cs typeface="Helvetica Neue"/>
              </a:rPr>
              <a:t>.ai</a:t>
            </a:r>
          </a:p>
        </p:txBody>
      </p:sp>
      <p:sp>
        <p:nvSpPr>
          <p:cNvPr id="4" name="">
            <a:extLst xmlns:a="http://schemas.openxmlformats.org/drawingml/2006/main">
              <a:ext uri="{FF2B5EF4-FFF2-40B4-BE49-F238E27FC236}">
                <a16:creationId xmlns:a16="http://schemas.microsoft.com/office/drawing/2014/main" id="{4C8F3E85-70A3-4E49-A5B2-F9F61BA1FF9D}"/>
              </a:ext>
            </a:extLst>
          </p:cNvPr>
          <p:cNvSpPr>
            <a:spLocks xmlns:a="http://schemas.openxmlformats.org/drawingml/2006/main" noGrp="1"/>
          </p:cNvSpPr>
          <p:nvPr/>
        </p:nvSpPr>
        <p:spPr>
          <a:xfrm xmlns:a="http://schemas.openxmlformats.org/drawingml/2006/main">
            <a:off x="476250" y="10668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a:solidFill>
                  <a:srgbClr val="FFB34D"/>
                </a:solidFill>
                <a:latin typeface="Helvetica Neue"/>
                <a:ea typeface="Helvetica Neue"/>
                <a:cs typeface="Helvetica Neue"/>
              </a:defRPr>
            </a:pPr>
            <a:r>
              <a:rPr sz="900" b="1">
                <a:solidFill>
                  <a:srgbClr val="FFB34D"/>
                </a:solidFill>
                <a:latin typeface="Helvetica Neue"/>
                <a:ea typeface="Helvetica Neue"/>
                <a:cs typeface="Helvetica Neue"/>
              </a:rPr>
              <a:t>WHY SARVAM</a:t>
            </a:r>
          </a:p>
        </p:txBody>
      </p:sp>
      <p:sp>
        <p:nvSpPr>
          <p:cNvPr id="5" name="">
            <a:extLst xmlns:a="http://schemas.openxmlformats.org/drawingml/2006/main">
              <a:ext uri="{FF2B5EF4-FFF2-40B4-BE49-F238E27FC236}">
                <a16:creationId xmlns:a16="http://schemas.microsoft.com/office/drawing/2014/main" id="{6FF6FC44-4EDB-40E6-AFA8-9C87D1685250}"/>
              </a:ext>
            </a:extLst>
          </p:cNvPr>
          <p:cNvSpPr>
            <a:spLocks xmlns:a="http://schemas.openxmlformats.org/drawingml/2006/main" noGrp="1"/>
          </p:cNvSpPr>
          <p:nvPr/>
        </p:nvSpPr>
        <p:spPr>
          <a:xfrm xmlns:a="http://schemas.openxmlformats.org/drawingml/2006/main">
            <a:off x="476250" y="1381125"/>
            <a:ext cx="8763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1211"/>
          </a:bodyPr>
          <a:lstStyle xmlns:a="http://schemas.openxmlformats.org/drawingml/2006/main"/>
          <a:p xmlns:a="http://schemas.openxmlformats.org/drawingml/2006/main">
            <a:pPr algn="l">
              <a:buNone/>
              <a:defRPr sz="3000" b="1">
                <a:solidFill>
                  <a:srgbClr val="F7FAF8"/>
                </a:solidFill>
                <a:latin typeface="Helvetica Neue"/>
                <a:ea typeface="Helvetica Neue"/>
                <a:cs typeface="Helvetica Neue"/>
              </a:defRPr>
            </a:pPr>
            <a:r>
              <a:rPr sz="3000" b="1">
                <a:solidFill>
                  <a:srgbClr val="F7FAF8"/>
                </a:solidFill>
                <a:latin typeface="Helvetica Neue"/>
                <a:ea typeface="Helvetica Neue"/>
                <a:cs typeface="Helvetica Neue"/>
              </a:rPr>
              <a:t>Sarvam turns Indian speech and invoices into action.</a:t>
            </a:r>
          </a:p>
        </p:txBody>
      </p:sp>
      <p:sp>
        <p:nvSpPr>
          <p:cNvPr id="6" name="">
            <a:extLst xmlns:a="http://schemas.openxmlformats.org/drawingml/2006/main">
              <a:ext uri="{FF2B5EF4-FFF2-40B4-BE49-F238E27FC236}">
                <a16:creationId xmlns:a16="http://schemas.microsoft.com/office/drawing/2014/main" id="{8679D301-130D-4DC6-A00C-FAB2985741A7}"/>
              </a:ext>
            </a:extLst>
          </p:cNvPr>
          <p:cNvSpPr>
            <a:spLocks xmlns:a="http://schemas.openxmlformats.org/drawingml/2006/main" noGrp="1"/>
          </p:cNvSpPr>
          <p:nvPr/>
        </p:nvSpPr>
        <p:spPr>
          <a:xfrm xmlns:a="http://schemas.openxmlformats.org/drawingml/2006/main">
            <a:off x="523875" y="2333625"/>
            <a:ext cx="1809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6CF8BB"/>
                </a:solidFill>
                <a:latin typeface="Helvetica Neue"/>
                <a:ea typeface="Helvetica Neue"/>
                <a:cs typeface="Helvetica Neue"/>
              </a:defRPr>
            </a:pPr>
            <a:r>
              <a:rPr sz="3225" b="1">
                <a:solidFill>
                  <a:srgbClr val="6CF8BB"/>
                </a:solidFill>
                <a:latin typeface="Helvetica Neue"/>
                <a:ea typeface="Helvetica Neue"/>
                <a:cs typeface="Helvetica Neue"/>
              </a:rPr>
              <a:t>11</a:t>
            </a:r>
          </a:p>
        </p:txBody>
      </p:sp>
      <p:sp>
        <p:nvSpPr>
          <p:cNvPr id="7" name="">
            <a:extLst xmlns:a="http://schemas.openxmlformats.org/drawingml/2006/main">
              <a:ext uri="{FF2B5EF4-FFF2-40B4-BE49-F238E27FC236}">
                <a16:creationId xmlns:a16="http://schemas.microsoft.com/office/drawing/2014/main" id="{2F53770C-F052-4BC7-A6B0-966250DB979D}"/>
              </a:ext>
            </a:extLst>
          </p:cNvPr>
          <p:cNvSpPr>
            <a:spLocks xmlns:a="http://schemas.openxmlformats.org/drawingml/2006/main" noGrp="1"/>
          </p:cNvSpPr>
          <p:nvPr/>
        </p:nvSpPr>
        <p:spPr>
          <a:xfrm xmlns:a="http://schemas.openxmlformats.org/drawingml/2006/main">
            <a:off x="2266950" y="2447925"/>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9CA59F"/>
                </a:solidFill>
                <a:latin typeface="Helvetica Neue"/>
                <a:ea typeface="Helvetica Neue"/>
                <a:cs typeface="Helvetica Neue"/>
              </a:defRPr>
            </a:pPr>
            <a:r>
              <a:rPr sz="1275" b="1">
                <a:solidFill>
                  <a:srgbClr val="9CA59F"/>
                </a:solidFill>
                <a:latin typeface="Helvetica Neue"/>
                <a:ea typeface="Helvetica Neue"/>
                <a:cs typeface="Helvetica Neue"/>
              </a:rPr>
              <a:t>Samvaad languages</a:t>
            </a:r>
          </a:p>
        </p:txBody>
      </p:sp>
      <p:cxnSp>
        <p:nvCxnSpPr>
          <p:cNvPr id="102" name=""/>
          <p:cNvCxnSpPr/>
          <p:nvPr/>
        </p:nvCxnSpPr>
        <p:spPr>
          <a:xfrm xmlns:a="http://schemas.openxmlformats.org/drawingml/2006/main">
            <a:off x="523875" y="3076575"/>
            <a:ext cx="3667125" cy="0"/>
          </a:xfrm>
          <a:prstGeom xmlns:a="http://schemas.openxmlformats.org/drawingml/2006/main" prst="straightConnector1">
            <a:avLst/>
          </a:prstGeom>
          <a:ln xmlns:a="http://schemas.openxmlformats.org/drawingml/2006/main" w="9525">
            <a:solidFill>
              <a:srgbClr val="2C3430"/>
            </a:solidFill>
            <a:prstDash val="solid"/>
          </a:ln>
        </p:spPr>
      </p:cxnSp>
      <p:sp>
        <p:nvSpPr>
          <p:cNvPr id="9" name="">
            <a:extLst xmlns:a="http://schemas.openxmlformats.org/drawingml/2006/main">
              <a:ext uri="{FF2B5EF4-FFF2-40B4-BE49-F238E27FC236}">
                <a16:creationId xmlns:a16="http://schemas.microsoft.com/office/drawing/2014/main" id="{5C5919E5-4D4E-44B4-98BB-7D7295C62DA0}"/>
              </a:ext>
            </a:extLst>
          </p:cNvPr>
          <p:cNvSpPr>
            <a:spLocks xmlns:a="http://schemas.openxmlformats.org/drawingml/2006/main" noGrp="1"/>
          </p:cNvSpPr>
          <p:nvPr/>
        </p:nvSpPr>
        <p:spPr>
          <a:xfrm xmlns:a="http://schemas.openxmlformats.org/drawingml/2006/main">
            <a:off x="523875" y="3400425"/>
            <a:ext cx="1809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2850" b="1">
                <a:solidFill>
                  <a:srgbClr val="6CF8BB"/>
                </a:solidFill>
                <a:latin typeface="Helvetica Neue"/>
                <a:ea typeface="Helvetica Neue"/>
                <a:cs typeface="Helvetica Neue"/>
              </a:defRPr>
            </a:pPr>
            <a:r>
              <a:rPr sz="2850" b="1">
                <a:solidFill>
                  <a:srgbClr val="6CF8BB"/>
                </a:solidFill>
                <a:latin typeface="Helvetica Neue"/>
                <a:ea typeface="Helvetica Neue"/>
                <a:cs typeface="Helvetica Neue"/>
              </a:rPr>
              <a:t>&lt;500ms</a:t>
            </a:r>
          </a:p>
        </p:txBody>
      </p:sp>
      <p:sp>
        <p:nvSpPr>
          <p:cNvPr id="10" name="">
            <a:extLst xmlns:a="http://schemas.openxmlformats.org/drawingml/2006/main">
              <a:ext uri="{FF2B5EF4-FFF2-40B4-BE49-F238E27FC236}">
                <a16:creationId xmlns:a16="http://schemas.microsoft.com/office/drawing/2014/main" id="{715075F0-5F3A-4D3F-8A43-457B1EDF5A45}"/>
              </a:ext>
            </a:extLst>
          </p:cNvPr>
          <p:cNvSpPr>
            <a:spLocks xmlns:a="http://schemas.openxmlformats.org/drawingml/2006/main" noGrp="1"/>
          </p:cNvSpPr>
          <p:nvPr/>
        </p:nvSpPr>
        <p:spPr>
          <a:xfrm xmlns:a="http://schemas.openxmlformats.org/drawingml/2006/main">
            <a:off x="2266950" y="3514725"/>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9CA59F"/>
                </a:solidFill>
                <a:latin typeface="Helvetica Neue"/>
                <a:ea typeface="Helvetica Neue"/>
                <a:cs typeface="Helvetica Neue"/>
              </a:defRPr>
            </a:pPr>
            <a:r>
              <a:rPr sz="1275" b="1">
                <a:solidFill>
                  <a:srgbClr val="9CA59F"/>
                </a:solidFill>
                <a:latin typeface="Helvetica Neue"/>
                <a:ea typeface="Helvetica Neue"/>
                <a:cs typeface="Helvetica Neue"/>
              </a:rPr>
              <a:t>stated live latency</a:t>
            </a:r>
          </a:p>
        </p:txBody>
      </p:sp>
      <p:cxnSp>
        <p:nvCxnSpPr>
          <p:cNvPr id="105" name=""/>
          <p:cNvCxnSpPr/>
          <p:nvPr/>
        </p:nvCxnSpPr>
        <p:spPr>
          <a:xfrm xmlns:a="http://schemas.openxmlformats.org/drawingml/2006/main">
            <a:off x="523875" y="4143375"/>
            <a:ext cx="3667125" cy="0"/>
          </a:xfrm>
          <a:prstGeom xmlns:a="http://schemas.openxmlformats.org/drawingml/2006/main" prst="straightConnector1">
            <a:avLst/>
          </a:prstGeom>
          <a:ln xmlns:a="http://schemas.openxmlformats.org/drawingml/2006/main" w="9525">
            <a:solidFill>
              <a:srgbClr val="2C3430"/>
            </a:solidFill>
            <a:prstDash val="solid"/>
          </a:ln>
        </p:spPr>
      </p:cxnSp>
      <p:sp>
        <p:nvSpPr>
          <p:cNvPr id="12" name="">
            <a:extLst xmlns:a="http://schemas.openxmlformats.org/drawingml/2006/main">
              <a:ext uri="{FF2B5EF4-FFF2-40B4-BE49-F238E27FC236}">
                <a16:creationId xmlns:a16="http://schemas.microsoft.com/office/drawing/2014/main" id="{CDFAB8B2-6E47-4C45-8CA2-26ADE2E3A0A2}"/>
              </a:ext>
            </a:extLst>
          </p:cNvPr>
          <p:cNvSpPr>
            <a:spLocks xmlns:a="http://schemas.openxmlformats.org/drawingml/2006/main" noGrp="1"/>
          </p:cNvSpPr>
          <p:nvPr/>
        </p:nvSpPr>
        <p:spPr>
          <a:xfrm xmlns:a="http://schemas.openxmlformats.org/drawingml/2006/main">
            <a:off x="523875" y="4467225"/>
            <a:ext cx="18097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225" b="1">
                <a:solidFill>
                  <a:srgbClr val="6CF8BB"/>
                </a:solidFill>
                <a:latin typeface="Helvetica Neue"/>
                <a:ea typeface="Helvetica Neue"/>
                <a:cs typeface="Helvetica Neue"/>
              </a:defRPr>
            </a:pPr>
            <a:r>
              <a:rPr sz="3225" b="1">
                <a:solidFill>
                  <a:srgbClr val="6CF8BB"/>
                </a:solidFill>
                <a:latin typeface="Helvetica Neue"/>
                <a:ea typeface="Helvetica Neue"/>
                <a:cs typeface="Helvetica Neue"/>
              </a:rPr>
              <a:t>23</a:t>
            </a:r>
          </a:p>
        </p:txBody>
      </p:sp>
      <p:sp>
        <p:nvSpPr>
          <p:cNvPr id="13" name="">
            <a:extLst xmlns:a="http://schemas.openxmlformats.org/drawingml/2006/main">
              <a:ext uri="{FF2B5EF4-FFF2-40B4-BE49-F238E27FC236}">
                <a16:creationId xmlns:a16="http://schemas.microsoft.com/office/drawing/2014/main" id="{D8E56FF9-9590-4CBD-8D88-F6258A4ADD24}"/>
              </a:ext>
            </a:extLst>
          </p:cNvPr>
          <p:cNvSpPr>
            <a:spLocks xmlns:a="http://schemas.openxmlformats.org/drawingml/2006/main" noGrp="1"/>
          </p:cNvSpPr>
          <p:nvPr/>
        </p:nvSpPr>
        <p:spPr>
          <a:xfrm xmlns:a="http://schemas.openxmlformats.org/drawingml/2006/main">
            <a:off x="2266950" y="4581525"/>
            <a:ext cx="20955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9CA59F"/>
                </a:solidFill>
                <a:latin typeface="Helvetica Neue"/>
                <a:ea typeface="Helvetica Neue"/>
                <a:cs typeface="Helvetica Neue"/>
              </a:defRPr>
            </a:pPr>
            <a:r>
              <a:rPr sz="1275" b="1">
                <a:solidFill>
                  <a:srgbClr val="9CA59F"/>
                </a:solidFill>
                <a:latin typeface="Helvetica Neue"/>
                <a:ea typeface="Helvetica Neue"/>
                <a:cs typeface="Helvetica Neue"/>
              </a:rPr>
              <a:t>Vision languages</a:t>
            </a:r>
          </a:p>
        </p:txBody>
      </p:sp>
      <p:sp>
        <p:nvSpPr>
          <p:cNvPr id="14" name="">
            <a:extLst xmlns:a="http://schemas.openxmlformats.org/drawingml/2006/main">
              <a:ext uri="{FF2B5EF4-FFF2-40B4-BE49-F238E27FC236}">
                <a16:creationId xmlns:a16="http://schemas.microsoft.com/office/drawing/2014/main" id="{EE888AB9-222B-4C70-977C-1429D42890FB}"/>
              </a:ext>
            </a:extLst>
          </p:cNvPr>
          <p:cNvSpPr>
            <a:spLocks xmlns:a="http://schemas.openxmlformats.org/drawingml/2006/main" noGrp="1"/>
          </p:cNvSpPr>
          <p:nvPr/>
        </p:nvSpPr>
        <p:spPr>
          <a:xfrm xmlns:a="http://schemas.openxmlformats.org/drawingml/2006/main">
            <a:off x="4619625" y="2190750"/>
            <a:ext cx="3095625" cy="3429000"/>
          </a:xfrm>
          <a:prstGeom xmlns:a="http://schemas.openxmlformats.org/drawingml/2006/main" prst="roundRect">
            <a:avLst>
              <a:gd name="adj" fmla="val 5538"/>
            </a:avLst>
          </a:prstGeom>
          <a:solidFill xmlns:a="http://schemas.openxmlformats.org/drawingml/2006/main">
            <a:srgbClr val="111514"/>
          </a:solidFill>
          <a:ln xmlns:a="http://schemas.openxmlformats.org/drawingml/2006/main" w="9525">
            <a:solidFill>
              <a:srgbClr val="2C3430"/>
            </a:solidFill>
            <a:prstDash val="solid"/>
          </a:ln>
        </p:spPr>
      </p:sp>
      <p:sp>
        <p:nvSpPr>
          <p:cNvPr id="15" name="">
            <a:extLst xmlns:a="http://schemas.openxmlformats.org/drawingml/2006/main">
              <a:ext uri="{FF2B5EF4-FFF2-40B4-BE49-F238E27FC236}">
                <a16:creationId xmlns:a16="http://schemas.microsoft.com/office/drawing/2014/main" id="{893A1F2B-3B80-43BA-A62A-80A56B45A902}"/>
              </a:ext>
            </a:extLst>
          </p:cNvPr>
          <p:cNvSpPr>
            <a:spLocks xmlns:a="http://schemas.openxmlformats.org/drawingml/2006/main" noGrp="1"/>
          </p:cNvSpPr>
          <p:nvPr/>
        </p:nvSpPr>
        <p:spPr>
          <a:xfrm xmlns:a="http://schemas.openxmlformats.org/drawingml/2006/main">
            <a:off x="8001000" y="2190750"/>
            <a:ext cx="3714750" cy="3429000"/>
          </a:xfrm>
          <a:prstGeom xmlns:a="http://schemas.openxmlformats.org/drawingml/2006/main" prst="roundRect">
            <a:avLst>
              <a:gd name="adj" fmla="val 5000"/>
            </a:avLst>
          </a:prstGeom>
          <a:solidFill xmlns:a="http://schemas.openxmlformats.org/drawingml/2006/main">
            <a:srgbClr val="102119"/>
          </a:solidFill>
          <a:ln xmlns:a="http://schemas.openxmlformats.org/drawingml/2006/main" w="9525">
            <a:solidFill>
              <a:srgbClr val="2F6A51"/>
            </a:solidFill>
            <a:prstDash val="solid"/>
          </a:ln>
        </p:spPr>
      </p:sp>
      <p:sp>
        <p:nvSpPr>
          <p:cNvPr id="16" name="">
            <a:extLst xmlns:a="http://schemas.openxmlformats.org/drawingml/2006/main">
              <a:ext uri="{FF2B5EF4-FFF2-40B4-BE49-F238E27FC236}">
                <a16:creationId xmlns:a16="http://schemas.microsoft.com/office/drawing/2014/main" id="{8E28C877-AB11-4217-AD45-CFADDB07A62C}"/>
              </a:ext>
            </a:extLst>
          </p:cNvPr>
          <p:cNvSpPr>
            <a:spLocks xmlns:a="http://schemas.openxmlformats.org/drawingml/2006/main" noGrp="1"/>
          </p:cNvSpPr>
          <p:nvPr/>
        </p:nvSpPr>
        <p:spPr>
          <a:xfrm xmlns:a="http://schemas.openxmlformats.org/drawingml/2006/main">
            <a:off x="4905375" y="251460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86806"/>
          </a:bodyPr>
          <a:lstStyle xmlns:a="http://schemas.openxmlformats.org/drawingml/2006/main"/>
          <a:p xmlns:a="http://schemas.openxmlformats.org/drawingml/2006/main">
            <a:pPr algn="l">
              <a:buNone/>
              <a:defRPr sz="1800" b="1">
                <a:solidFill>
                  <a:srgbClr val="F7FAF8"/>
                </a:solidFill>
                <a:latin typeface="Helvetica Neue"/>
                <a:ea typeface="Helvetica Neue"/>
                <a:cs typeface="Helvetica Neue"/>
              </a:defRPr>
            </a:pPr>
            <a:r>
              <a:rPr sz="1800" b="1">
                <a:solidFill>
                  <a:srgbClr val="F7FAF8"/>
                </a:solidFill>
                <a:latin typeface="Helvetica Neue"/>
                <a:ea typeface="Helvetica Neue"/>
                <a:cs typeface="Helvetica Neue"/>
              </a:rPr>
              <a:t>SAMVAAD: SPEECH → ACTION</a:t>
            </a:r>
          </a:p>
        </p:txBody>
      </p:sp>
      <p:sp>
        <p:nvSpPr>
          <p:cNvPr id="17" name="">
            <a:extLst xmlns:a="http://schemas.openxmlformats.org/drawingml/2006/main">
              <a:ext uri="{FF2B5EF4-FFF2-40B4-BE49-F238E27FC236}">
                <a16:creationId xmlns:a16="http://schemas.microsoft.com/office/drawing/2014/main" id="{35811EAE-8AA4-4836-83EF-B117364C63FD}"/>
              </a:ext>
            </a:extLst>
          </p:cNvPr>
          <p:cNvSpPr>
            <a:spLocks xmlns:a="http://schemas.openxmlformats.org/drawingml/2006/main" noGrp="1"/>
          </p:cNvSpPr>
          <p:nvPr/>
        </p:nvSpPr>
        <p:spPr>
          <a:xfrm xmlns:a="http://schemas.openxmlformats.org/drawingml/2006/main">
            <a:off x="4905375" y="3200400"/>
            <a:ext cx="23812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Accents + code-mixing</a:t>
            </a:r>
          </a:p>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
            </a:r>
          </a:p>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Streaming turns + barge-in</a:t>
            </a:r>
          </a:p>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
            </a:r>
          </a:p>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Voice, web + WhatsApp</a:t>
            </a:r>
          </a:p>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
            </a:r>
          </a:p>
          <a:p xmlns:a="http://schemas.openxmlformats.org/drawingml/2006/main">
            <a:pPr algn="l">
              <a:buNone/>
              <a:defRPr sz="1500" b="0">
                <a:solidFill>
                  <a:srgbClr val="9CA59F"/>
                </a:solidFill>
                <a:latin typeface="Helvetica Neue"/>
                <a:ea typeface="Helvetica Neue"/>
                <a:cs typeface="Helvetica Neue"/>
              </a:defRPr>
            </a:pPr>
            <a:r>
              <a:rPr sz="1500" b="0">
                <a:solidFill>
                  <a:srgbClr val="9CA59F"/>
                </a:solidFill>
                <a:latin typeface="Helvetica Neue"/>
                <a:ea typeface="Helvetica Neue"/>
                <a:cs typeface="Helvetica Neue"/>
              </a:rPr>
              <a:t>Grounded API tool calls</a:t>
            </a:r>
          </a:p>
        </p:txBody>
      </p:sp>
      <p:sp>
        <p:nvSpPr>
          <p:cNvPr id="18" name="">
            <a:extLst xmlns:a="http://schemas.openxmlformats.org/drawingml/2006/main">
              <a:ext uri="{FF2B5EF4-FFF2-40B4-BE49-F238E27FC236}">
                <a16:creationId xmlns:a16="http://schemas.microsoft.com/office/drawing/2014/main" id="{4F264E50-A415-423F-8B1E-55FE8C96EFD5}"/>
              </a:ext>
            </a:extLst>
          </p:cNvPr>
          <p:cNvSpPr>
            <a:spLocks xmlns:a="http://schemas.openxmlformats.org/drawingml/2006/main" noGrp="1"/>
          </p:cNvSpPr>
          <p:nvPr/>
        </p:nvSpPr>
        <p:spPr>
          <a:xfrm xmlns:a="http://schemas.openxmlformats.org/drawingml/2006/main">
            <a:off x="8334375" y="2514600"/>
            <a:ext cx="2857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5256"/>
          </a:bodyPr>
          <a:lstStyle xmlns:a="http://schemas.openxmlformats.org/drawingml/2006/main"/>
          <a:p xmlns:a="http://schemas.openxmlformats.org/drawingml/2006/main">
            <a:pPr algn="l">
              <a:buNone/>
              <a:defRPr sz="1800" b="1">
                <a:solidFill>
                  <a:srgbClr val="6CF8BB"/>
                </a:solidFill>
                <a:latin typeface="Helvetica Neue"/>
                <a:ea typeface="Helvetica Neue"/>
                <a:cs typeface="Helvetica Neue"/>
              </a:defRPr>
            </a:pPr>
            <a:r>
              <a:rPr sz="1800" b="1">
                <a:solidFill>
                  <a:srgbClr val="6CF8BB"/>
                </a:solidFill>
                <a:latin typeface="Helvetica Neue"/>
                <a:ea typeface="Helvetica Neue"/>
                <a:cs typeface="Helvetica Neue"/>
              </a:rPr>
              <a:t>VISION: INVOICE → STOCK</a:t>
            </a:r>
          </a:p>
        </p:txBody>
      </p:sp>
      <p:sp>
        <p:nvSpPr>
          <p:cNvPr id="19" name="">
            <a:extLst xmlns:a="http://schemas.openxmlformats.org/drawingml/2006/main">
              <a:ext uri="{FF2B5EF4-FFF2-40B4-BE49-F238E27FC236}">
                <a16:creationId xmlns:a16="http://schemas.microsoft.com/office/drawing/2014/main" id="{6668FC51-0136-4318-96CF-2C97EFCC8A5C}"/>
              </a:ext>
            </a:extLst>
          </p:cNvPr>
          <p:cNvSpPr>
            <a:spLocks xmlns:a="http://schemas.openxmlformats.org/drawingml/2006/main" noGrp="1"/>
          </p:cNvSpPr>
          <p:nvPr/>
        </p:nvSpPr>
        <p:spPr>
          <a:xfrm xmlns:a="http://schemas.openxmlformats.org/drawingml/2006/main">
            <a:off x="8334375" y="3200400"/>
            <a:ext cx="2857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500" b="0">
                <a:solidFill>
                  <a:srgbClr val="F7FAF8"/>
                </a:solidFill>
                <a:latin typeface="Helvetica Neue"/>
                <a:ea typeface="Helvetica Neue"/>
                <a:cs typeface="Helvetica Neue"/>
              </a:defRPr>
            </a:pPr>
            <a:r>
              <a:rPr sz="1500" b="0">
                <a:solidFill>
                  <a:srgbClr val="F7FAF8"/>
                </a:solidFill>
                <a:latin typeface="Helvetica Neue"/>
                <a:ea typeface="Helvetica Neue"/>
                <a:cs typeface="Helvetica Neue"/>
              </a:rPr>
              <a:t>Photo / PDF / scan</a:t>
            </a:r>
          </a:p>
          <a:p xmlns:a="http://schemas.openxmlformats.org/drawingml/2006/main">
            <a:r>
              <a:t/>
            </a:r>
          </a:p>
          <a:p xmlns:a="http://schemas.openxmlformats.org/drawingml/2006/main">
            <a:pPr algn="l">
              <a:buNone/>
              <a:defRPr sz="1500" b="0">
                <a:solidFill>
                  <a:srgbClr val="F7FAF8"/>
                </a:solidFill>
                <a:latin typeface="Helvetica Neue"/>
                <a:ea typeface="Helvetica Neue"/>
                <a:cs typeface="Helvetica Neue"/>
              </a:defRPr>
            </a:pPr>
            <a:r>
              <a:rPr sz="1500" b="0">
                <a:solidFill>
                  <a:srgbClr val="F7FAF8"/>
                </a:solidFill>
                <a:latin typeface="Helvetica Neue"/>
                <a:ea typeface="Helvetica Neue"/>
                <a:cs typeface="Helvetica Neue"/>
              </a:rPr>
              <a:t>Text, tables + layout</a:t>
            </a:r>
          </a:p>
          <a:p xmlns:a="http://schemas.openxmlformats.org/drawingml/2006/main">
            <a:r>
              <a:t/>
            </a:r>
          </a:p>
          <a:p xmlns:a="http://schemas.openxmlformats.org/drawingml/2006/main">
            <a:pPr algn="l">
              <a:buNone/>
              <a:defRPr sz="1500" b="0">
                <a:solidFill>
                  <a:srgbClr val="F7FAF8"/>
                </a:solidFill>
                <a:latin typeface="Helvetica Neue"/>
                <a:ea typeface="Helvetica Neue"/>
                <a:cs typeface="Helvetica Neue"/>
              </a:defRPr>
            </a:pPr>
            <a:r>
              <a:rPr sz="1500" b="0">
                <a:solidFill>
                  <a:srgbClr val="F7FAF8"/>
                </a:solidFill>
                <a:latin typeface="Helvetica Neue"/>
                <a:ea typeface="Helvetica Neue"/>
                <a:cs typeface="Helvetica Neue"/>
              </a:rPr>
              <a:t>SKU, qty + GST extraction</a:t>
            </a:r>
          </a:p>
          <a:p xmlns:a="http://schemas.openxmlformats.org/drawingml/2006/main">
            <a:r>
              <a:t/>
            </a:r>
          </a:p>
          <a:p xmlns:a="http://schemas.openxmlformats.org/drawingml/2006/main">
            <a:pPr algn="l">
              <a:buNone/>
              <a:defRPr sz="1500" b="0">
                <a:solidFill>
                  <a:srgbClr val="F7FAF8"/>
                </a:solidFill>
                <a:latin typeface="Helvetica Neue"/>
                <a:ea typeface="Helvetica Neue"/>
                <a:cs typeface="Helvetica Neue"/>
              </a:defRPr>
            </a:pPr>
            <a:r>
              <a:rPr sz="1500" b="0">
                <a:solidFill>
                  <a:srgbClr val="F7FAF8"/>
                </a:solidFill>
                <a:latin typeface="Helvetica Neue"/>
                <a:ea typeface="Helvetica Neue"/>
                <a:cs typeface="Helvetica Neue"/>
              </a:rPr>
              <a:t>Human review → inventory</a:t>
            </a:r>
          </a:p>
        </p:txBody>
      </p:sp>
      <p:sp>
        <p:nvSpPr>
          <p:cNvPr id="20" name="">
            <a:extLst xmlns:a="http://schemas.openxmlformats.org/drawingml/2006/main">
              <a:ext uri="{FF2B5EF4-FFF2-40B4-BE49-F238E27FC236}">
                <a16:creationId xmlns:a16="http://schemas.microsoft.com/office/drawing/2014/main" id="{2AF86A8E-E5C7-40B8-A37F-0DB28D157E29}"/>
              </a:ext>
            </a:extLst>
          </p:cNvPr>
          <p:cNvSpPr>
            <a:spLocks xmlns:a="http://schemas.openxmlformats.org/drawingml/2006/main" noGrp="1"/>
          </p:cNvSpPr>
          <p:nvPr/>
        </p:nvSpPr>
        <p:spPr>
          <a:xfrm xmlns:a="http://schemas.openxmlformats.org/drawingml/2006/main">
            <a:off x="4619625" y="5905500"/>
            <a:ext cx="70961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200" b="1">
                <a:solidFill>
                  <a:srgbClr val="FFB34D"/>
                </a:solidFill>
                <a:latin typeface="Helvetica Neue"/>
                <a:ea typeface="Helvetica Neue"/>
                <a:cs typeface="Helvetica Neue"/>
              </a:defRPr>
            </a:pPr>
            <a:r>
              <a:rPr sz="1200" b="1">
                <a:solidFill>
                  <a:srgbClr val="FFB34D"/>
                </a:solidFill>
                <a:latin typeface="Helvetica Neue"/>
                <a:ea typeface="Helvetica Neue"/>
                <a:cs typeface="Helvetica Neue"/>
              </a:rPr>
              <a:t>Used live: multilingual conversation, grounded tools and document-to-stock workflows.</a:t>
            </a:r>
          </a:p>
        </p:txBody>
      </p:sp>
      <p:sp>
        <p:nvSpPr>
          <p:cNvPr id="21" name="">
            <a:extLst xmlns:a="http://schemas.openxmlformats.org/drawingml/2006/main">
              <a:ext uri="{FF2B5EF4-FFF2-40B4-BE49-F238E27FC236}">
                <a16:creationId xmlns:a16="http://schemas.microsoft.com/office/drawing/2014/main" id="{B009595A-E908-46F5-8C30-3C6FE7579EF7}"/>
              </a:ext>
            </a:extLst>
          </p:cNvPr>
          <p:cNvSpPr>
            <a:spLocks xmlns:a="http://schemas.openxmlformats.org/drawingml/2006/main" noGrp="1"/>
          </p:cNvSpPr>
          <p:nvPr/>
        </p:nvSpPr>
        <p:spPr>
          <a:xfrm xmlns:a="http://schemas.openxmlformats.org/drawingml/2006/main">
            <a:off x="476250" y="6429375"/>
            <a:ext cx="1028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750" b="0">
                <a:solidFill>
                  <a:srgbClr val="68716C"/>
                </a:solidFill>
                <a:latin typeface="Helvetica Neue"/>
                <a:ea typeface="Helvetica Neue"/>
                <a:cs typeface="Helvetica Neue"/>
              </a:defRPr>
            </a:pPr>
            <a:r>
              <a:rPr sz="750" b="0">
                <a:solidFill>
                  <a:srgbClr val="68716C"/>
                </a:solidFill>
                <a:latin typeface="Helvetica Neue"/>
                <a:ea typeface="Helvetica Neue"/>
                <a:cs typeface="Helvetica Neue"/>
              </a:rPr>
              <a:t>Sources: Sarvam Samvaad, Sarvam Vision + Document Digitization docs.</a:t>
            </a:r>
          </a:p>
        </p:txBody>
      </p:sp>
      <p:sp>
        <p:nvSpPr>
          <p:cNvPr id="22" name="">
            <a:extLst xmlns:a="http://schemas.openxmlformats.org/drawingml/2006/main">
              <a:ext uri="{FF2B5EF4-FFF2-40B4-BE49-F238E27FC236}">
                <a16:creationId xmlns:a16="http://schemas.microsoft.com/office/drawing/2014/main" id="{B883FFE3-519E-4862-B469-018043BCF48A}"/>
              </a:ext>
            </a:extLst>
          </p:cNvPr>
          <p:cNvSpPr>
            <a:spLocks xmlns:a="http://schemas.openxmlformats.org/drawingml/2006/main" noGrp="1"/>
          </p:cNvSpPr>
          <p:nvPr/>
        </p:nvSpPr>
        <p:spPr>
          <a:xfrm xmlns:a="http://schemas.openxmlformats.org/drawingml/2006/main">
            <a:off x="11334750" y="6381750"/>
            <a:ext cx="361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68716C"/>
                </a:solidFill>
                <a:latin typeface="Helvetica Neue"/>
                <a:ea typeface="Helvetica Neue"/>
                <a:cs typeface="Helvetica Neue"/>
              </a:defRPr>
            </a:pPr>
            <a:r>
              <a:rPr sz="825" b="0">
                <a:solidFill>
                  <a:srgbClr val="68716C"/>
                </a:solidFill>
                <a:latin typeface="Helvetica Neue"/>
                <a:ea typeface="Helvetica Neue"/>
                <a:cs typeface="Helvetica Neue"/>
              </a:rPr>
              <a:t>03</a:t>
            </a:r>
          </a:p>
        </p:txBody>
      </p:sp>
    </p:spTree>
    <p:extLst>
      <p:ext uri="{BB962C8B-B14F-4D97-AF65-F5344CB8AC3E}">
        <p14:creationId xmlns:p14="http://schemas.microsoft.com/office/powerpoint/2010/main" val="1821446770"/>
      </p:ext>
    </p:extLst>
  </p:cSld>
</p:sld>
</file>

<file path=ppt/slides/slide4.xml><?xml version="1.0" encoding="utf-8"?>
<p:sld xmlns:p="http://schemas.openxmlformats.org/presentationml/2006/main">
  <p:cSld>
    <p:bg>
      <p:bgPr>
        <a:solidFill xmlns:a="http://schemas.openxmlformats.org/drawingml/2006/main">
          <a:srgbClr val="E9EFEB"/>
        </a:solidFill>
      </p:bgPr>
    </p:bg>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96d877722b74689">
            <a:extLst>
              <a:ext uri="{96DAC541-7B7A-43D3-8B79-37D633B846F1}">
                <asvg:svgBlip xmlns:asvg="http://schemas.microsoft.com/office/drawing/2016/SVG/main" r:embed="Rad81726964044f15"/>
              </a:ext>
            </a:extLst>
          </a:blip>
          <a:stretch xmlns:a="http://schemas.openxmlformats.org/drawingml/2006/main"/>
        </p:blipFill>
        <p:spPr>
          <a:xfrm xmlns:a="http://schemas.openxmlformats.org/drawingml/2006/main">
            <a:off x="476250" y="400050"/>
            <a:ext cx="381000" cy="381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071AC61-944B-4789-8AC5-2BB308B47615}"/>
              </a:ext>
            </a:extLst>
          </p:cNvPr>
          <p:cNvSpPr>
            <a:spLocks xmlns:a="http://schemas.openxmlformats.org/drawingml/2006/main" noGrp="1"/>
          </p:cNvSpPr>
          <p:nvPr/>
        </p:nvSpPr>
        <p:spPr>
          <a:xfrm xmlns:a="http://schemas.openxmlformats.org/drawingml/2006/main">
            <a:off x="962025" y="438150"/>
            <a:ext cx="971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111613"/>
                </a:solidFill>
                <a:latin typeface="Helvetica Neue"/>
                <a:ea typeface="Helvetica Neue"/>
                <a:cs typeface="Helvetica Neue"/>
              </a:defRPr>
            </a:pPr>
            <a:r>
              <a:rPr sz="1650" b="1">
                <a:solidFill>
                  <a:srgbClr val="111613"/>
                </a:solidFill>
                <a:latin typeface="Helvetica Neue"/>
                <a:ea typeface="Helvetica Neue"/>
                <a:cs typeface="Helvetica Neue"/>
              </a:rPr>
              <a:t>Chhotu</a:t>
            </a:r>
          </a:p>
        </p:txBody>
      </p:sp>
      <p:sp>
        <p:nvSpPr>
          <p:cNvPr id="3" name="">
            <a:extLst xmlns:a="http://schemas.openxmlformats.org/drawingml/2006/main">
              <a:ext uri="{FF2B5EF4-FFF2-40B4-BE49-F238E27FC236}">
                <a16:creationId xmlns:a16="http://schemas.microsoft.com/office/drawing/2014/main" id="{3C53E068-38DA-4FBA-AE50-6DDECDDE78B0}"/>
              </a:ext>
            </a:extLst>
          </p:cNvPr>
          <p:cNvSpPr>
            <a:spLocks xmlns:a="http://schemas.openxmlformats.org/drawingml/2006/main" noGrp="1"/>
          </p:cNvSpPr>
          <p:nvPr/>
        </p:nvSpPr>
        <p:spPr>
          <a:xfrm xmlns:a="http://schemas.openxmlformats.org/drawingml/2006/main">
            <a:off x="1809750" y="4381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6C49"/>
                </a:solidFill>
                <a:latin typeface="Helvetica Neue"/>
                <a:ea typeface="Helvetica Neue"/>
                <a:cs typeface="Helvetica Neue"/>
              </a:defRPr>
            </a:pPr>
            <a:r>
              <a:rPr sz="1650" b="1">
                <a:solidFill>
                  <a:srgbClr val="006C49"/>
                </a:solidFill>
                <a:latin typeface="Helvetica Neue"/>
                <a:ea typeface="Helvetica Neue"/>
                <a:cs typeface="Helvetica Neue"/>
              </a:rPr>
              <a:t>.ai</a:t>
            </a:r>
          </a:p>
        </p:txBody>
      </p:sp>
      <p:sp>
        <p:nvSpPr>
          <p:cNvPr id="4" name="">
            <a:extLst xmlns:a="http://schemas.openxmlformats.org/drawingml/2006/main">
              <a:ext uri="{FF2B5EF4-FFF2-40B4-BE49-F238E27FC236}">
                <a16:creationId xmlns:a16="http://schemas.microsoft.com/office/drawing/2014/main" id="{7AC671BB-5861-4747-BC82-7B1E632F5AD8}"/>
              </a:ext>
            </a:extLst>
          </p:cNvPr>
          <p:cNvSpPr>
            <a:spLocks xmlns:a="http://schemas.openxmlformats.org/drawingml/2006/main" noGrp="1"/>
          </p:cNvSpPr>
          <p:nvPr/>
        </p:nvSpPr>
        <p:spPr>
          <a:xfrm xmlns:a="http://schemas.openxmlformats.org/drawingml/2006/main">
            <a:off x="476250" y="10668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a:solidFill>
                  <a:srgbClr val="006C49"/>
                </a:solidFill>
                <a:latin typeface="Helvetica Neue"/>
                <a:ea typeface="Helvetica Neue"/>
                <a:cs typeface="Helvetica Neue"/>
              </a:defRPr>
            </a:pPr>
            <a:r>
              <a:rPr sz="900" b="1">
                <a:solidFill>
                  <a:srgbClr val="006C49"/>
                </a:solidFill>
                <a:latin typeface="Helvetica Neue"/>
                <a:ea typeface="Helvetica Neue"/>
                <a:cs typeface="Helvetica Neue"/>
              </a:rPr>
              <a:t>LIVE / HARDWARE-FIRST</a:t>
            </a:r>
          </a:p>
        </p:txBody>
      </p:sp>
      <p:sp>
        <p:nvSpPr>
          <p:cNvPr id="5" name="">
            <a:extLst xmlns:a="http://schemas.openxmlformats.org/drawingml/2006/main">
              <a:ext uri="{FF2B5EF4-FFF2-40B4-BE49-F238E27FC236}">
                <a16:creationId xmlns:a16="http://schemas.microsoft.com/office/drawing/2014/main" id="{DA322289-4A4D-418B-8529-F1B5352ABE84}"/>
              </a:ext>
            </a:extLst>
          </p:cNvPr>
          <p:cNvSpPr>
            <a:spLocks xmlns:a="http://schemas.openxmlformats.org/drawingml/2006/main" noGrp="1"/>
          </p:cNvSpPr>
          <p:nvPr/>
        </p:nvSpPr>
        <p:spPr>
          <a:xfrm xmlns:a="http://schemas.openxmlformats.org/drawingml/2006/main">
            <a:off x="476250" y="1381125"/>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111613"/>
                </a:solidFill>
                <a:latin typeface="Helvetica Neue"/>
                <a:ea typeface="Helvetica Neue"/>
                <a:cs typeface="Helvetica Neue"/>
              </a:defRPr>
            </a:pPr>
            <a:r>
              <a:rPr sz="3000" b="1">
                <a:solidFill>
                  <a:srgbClr val="111613"/>
                </a:solidFill>
                <a:latin typeface="Helvetica Neue"/>
                <a:ea typeface="Helvetica Neue"/>
                <a:cs typeface="Helvetica Neue"/>
              </a:rPr>
              <a:t>A complete operating system for trade.</a:t>
            </a:r>
          </a:p>
        </p:txBody>
      </p:sp>
      <p:sp>
        <p:nvSpPr>
          <p:cNvPr id="6" name="">
            <a:extLst xmlns:a="http://schemas.openxmlformats.org/drawingml/2006/main">
              <a:ext uri="{FF2B5EF4-FFF2-40B4-BE49-F238E27FC236}">
                <a16:creationId xmlns:a16="http://schemas.microsoft.com/office/drawing/2014/main" id="{52257E59-F1EB-4CE1-A064-AE5DC05B751F}"/>
              </a:ext>
            </a:extLst>
          </p:cNvPr>
          <p:cNvSpPr>
            <a:spLocks xmlns:a="http://schemas.openxmlformats.org/drawingml/2006/main" noGrp="1"/>
          </p:cNvSpPr>
          <p:nvPr/>
        </p:nvSpPr>
        <p:spPr>
          <a:xfrm xmlns:a="http://schemas.openxmlformats.org/drawingml/2006/main">
            <a:off x="476250" y="195262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06A"/>
                </a:solidFill>
                <a:latin typeface="Helvetica Neue"/>
                <a:ea typeface="Helvetica Neue"/>
                <a:cs typeface="Helvetica Neue"/>
              </a:defRPr>
            </a:pPr>
            <a:r>
              <a:rPr sz="1350" b="0">
                <a:solidFill>
                  <a:srgbClr val="66706A"/>
                </a:solidFill>
                <a:latin typeface="Helvetica Neue"/>
                <a:ea typeface="Helvetica Neue"/>
                <a:cs typeface="Helvetica Neue"/>
              </a:rPr>
              <a:t>For retailers, wholesalers and distributors: voice in front, auditable ledgers underneath.</a:t>
            </a:r>
          </a:p>
        </p:txBody>
      </p:sp>
      <p:sp>
        <p:nvSpPr>
          <p:cNvPr id="7" name="">
            <a:extLst xmlns:a="http://schemas.openxmlformats.org/drawingml/2006/main">
              <a:ext uri="{FF2B5EF4-FFF2-40B4-BE49-F238E27FC236}">
                <a16:creationId xmlns:a16="http://schemas.microsoft.com/office/drawing/2014/main" id="{04931027-A7A6-4BDD-8693-6B5D14FD6D9E}"/>
              </a:ext>
            </a:extLst>
          </p:cNvPr>
          <p:cNvSpPr>
            <a:spLocks xmlns:a="http://schemas.openxmlformats.org/drawingml/2006/main" noGrp="1"/>
          </p:cNvSpPr>
          <p:nvPr/>
        </p:nvSpPr>
        <p:spPr>
          <a:xfrm xmlns:a="http://schemas.openxmlformats.org/drawingml/2006/main">
            <a:off x="476250" y="261937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8" name="">
            <a:extLst xmlns:a="http://schemas.openxmlformats.org/drawingml/2006/main">
              <a:ext uri="{FF2B5EF4-FFF2-40B4-BE49-F238E27FC236}">
                <a16:creationId xmlns:a16="http://schemas.microsoft.com/office/drawing/2014/main" id="{9B813A43-3F61-42D4-8185-C04839F423E2}"/>
              </a:ext>
            </a:extLst>
          </p:cNvPr>
          <p:cNvSpPr>
            <a:spLocks xmlns:a="http://schemas.openxmlformats.org/drawingml/2006/main" noGrp="1"/>
          </p:cNvSpPr>
          <p:nvPr/>
        </p:nvSpPr>
        <p:spPr>
          <a:xfrm xmlns:a="http://schemas.openxmlformats.org/drawingml/2006/main">
            <a:off x="704850" y="280987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01 / VOICE</a:t>
            </a:r>
          </a:p>
        </p:txBody>
      </p:sp>
      <p:sp>
        <p:nvSpPr>
          <p:cNvPr id="9" name="">
            <a:extLst xmlns:a="http://schemas.openxmlformats.org/drawingml/2006/main">
              <a:ext uri="{FF2B5EF4-FFF2-40B4-BE49-F238E27FC236}">
                <a16:creationId xmlns:a16="http://schemas.microsoft.com/office/drawing/2014/main" id="{7764C079-EA72-43D5-8437-616792DB117D}"/>
              </a:ext>
            </a:extLst>
          </p:cNvPr>
          <p:cNvSpPr>
            <a:spLocks xmlns:a="http://schemas.openxmlformats.org/drawingml/2006/main" noGrp="1"/>
          </p:cNvSpPr>
          <p:nvPr/>
        </p:nvSpPr>
        <p:spPr>
          <a:xfrm xmlns:a="http://schemas.openxmlformats.org/drawingml/2006/main">
            <a:off x="704850" y="3105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Run the ledger by speaking</a:t>
            </a:r>
          </a:p>
        </p:txBody>
      </p:sp>
      <p:sp>
        <p:nvSpPr>
          <p:cNvPr id="10" name="">
            <a:extLst xmlns:a="http://schemas.openxmlformats.org/drawingml/2006/main">
              <a:ext uri="{FF2B5EF4-FFF2-40B4-BE49-F238E27FC236}">
                <a16:creationId xmlns:a16="http://schemas.microsoft.com/office/drawing/2014/main" id="{895323D0-0E06-4EEB-B560-9E712BCC3C51}"/>
              </a:ext>
            </a:extLst>
          </p:cNvPr>
          <p:cNvSpPr>
            <a:spLocks xmlns:a="http://schemas.openxmlformats.org/drawingml/2006/main" noGrp="1"/>
          </p:cNvSpPr>
          <p:nvPr/>
        </p:nvSpPr>
        <p:spPr>
          <a:xfrm xmlns:a="http://schemas.openxmlformats.org/drawingml/2006/main">
            <a:off x="704850" y="34861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Sales, purchases, stock questions and summaries across supported languages.</a:t>
            </a:r>
          </a:p>
        </p:txBody>
      </p:sp>
      <p:sp>
        <p:nvSpPr>
          <p:cNvPr id="11" name="">
            <a:extLst xmlns:a="http://schemas.openxmlformats.org/drawingml/2006/main">
              <a:ext uri="{FF2B5EF4-FFF2-40B4-BE49-F238E27FC236}">
                <a16:creationId xmlns:a16="http://schemas.microsoft.com/office/drawing/2014/main" id="{3B18C7EF-48A2-4902-9058-356256B8E7BA}"/>
              </a:ext>
            </a:extLst>
          </p:cNvPr>
          <p:cNvSpPr>
            <a:spLocks xmlns:a="http://schemas.openxmlformats.org/drawingml/2006/main" noGrp="1"/>
          </p:cNvSpPr>
          <p:nvPr/>
        </p:nvSpPr>
        <p:spPr>
          <a:xfrm xmlns:a="http://schemas.openxmlformats.org/drawingml/2006/main">
            <a:off x="6286500" y="261937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12" name="">
            <a:extLst xmlns:a="http://schemas.openxmlformats.org/drawingml/2006/main">
              <a:ext uri="{FF2B5EF4-FFF2-40B4-BE49-F238E27FC236}">
                <a16:creationId xmlns:a16="http://schemas.microsoft.com/office/drawing/2014/main" id="{BCCBB997-48F6-46C9-8017-30DD28DB4E11}"/>
              </a:ext>
            </a:extLst>
          </p:cNvPr>
          <p:cNvSpPr>
            <a:spLocks xmlns:a="http://schemas.openxmlformats.org/drawingml/2006/main" noGrp="1"/>
          </p:cNvSpPr>
          <p:nvPr/>
        </p:nvSpPr>
        <p:spPr>
          <a:xfrm xmlns:a="http://schemas.openxmlformats.org/drawingml/2006/main">
            <a:off x="6515100" y="280987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02 / INVENTORY</a:t>
            </a:r>
          </a:p>
        </p:txBody>
      </p:sp>
      <p:sp>
        <p:nvSpPr>
          <p:cNvPr id="13" name="">
            <a:extLst xmlns:a="http://schemas.openxmlformats.org/drawingml/2006/main">
              <a:ext uri="{FF2B5EF4-FFF2-40B4-BE49-F238E27FC236}">
                <a16:creationId xmlns:a16="http://schemas.microsoft.com/office/drawing/2014/main" id="{E91787D4-56AF-49D2-B41D-87760A7F46A5}"/>
              </a:ext>
            </a:extLst>
          </p:cNvPr>
          <p:cNvSpPr>
            <a:spLocks xmlns:a="http://schemas.openxmlformats.org/drawingml/2006/main" noGrp="1"/>
          </p:cNvSpPr>
          <p:nvPr/>
        </p:nvSpPr>
        <p:spPr>
          <a:xfrm xmlns:a="http://schemas.openxmlformats.org/drawingml/2006/main">
            <a:off x="6515100" y="3105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Know what is moving—and stuck</a:t>
            </a:r>
          </a:p>
        </p:txBody>
      </p:sp>
      <p:sp>
        <p:nvSpPr>
          <p:cNvPr id="14" name="">
            <a:extLst xmlns:a="http://schemas.openxmlformats.org/drawingml/2006/main">
              <a:ext uri="{FF2B5EF4-FFF2-40B4-BE49-F238E27FC236}">
                <a16:creationId xmlns:a16="http://schemas.microsoft.com/office/drawing/2014/main" id="{D2943E00-E8A3-4B2A-A628-EB9725439579}"/>
              </a:ext>
            </a:extLst>
          </p:cNvPr>
          <p:cNvSpPr>
            <a:spLocks xmlns:a="http://schemas.openxmlformats.org/drawingml/2006/main" noGrp="1"/>
          </p:cNvSpPr>
          <p:nvPr/>
        </p:nvSpPr>
        <p:spPr>
          <a:xfrm xmlns:a="http://schemas.openxmlformats.org/drawingml/2006/main">
            <a:off x="6515100" y="34861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Derived stock, low-stock alerts, margin, reconciliation and frozen capital.</a:t>
            </a:r>
          </a:p>
        </p:txBody>
      </p:sp>
      <p:sp>
        <p:nvSpPr>
          <p:cNvPr id="15" name="">
            <a:extLst xmlns:a="http://schemas.openxmlformats.org/drawingml/2006/main">
              <a:ext uri="{FF2B5EF4-FFF2-40B4-BE49-F238E27FC236}">
                <a16:creationId xmlns:a16="http://schemas.microsoft.com/office/drawing/2014/main" id="{E06871B3-3A41-4390-BEAF-DDF621CB2659}"/>
              </a:ext>
            </a:extLst>
          </p:cNvPr>
          <p:cNvSpPr>
            <a:spLocks xmlns:a="http://schemas.openxmlformats.org/drawingml/2006/main" noGrp="1"/>
          </p:cNvSpPr>
          <p:nvPr/>
        </p:nvSpPr>
        <p:spPr>
          <a:xfrm xmlns:a="http://schemas.openxmlformats.org/drawingml/2006/main">
            <a:off x="476250" y="423862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16" name="">
            <a:extLst xmlns:a="http://schemas.openxmlformats.org/drawingml/2006/main">
              <a:ext uri="{FF2B5EF4-FFF2-40B4-BE49-F238E27FC236}">
                <a16:creationId xmlns:a16="http://schemas.microsoft.com/office/drawing/2014/main" id="{21F8935F-3913-4741-A1E0-069FCD611728}"/>
              </a:ext>
            </a:extLst>
          </p:cNvPr>
          <p:cNvSpPr>
            <a:spLocks xmlns:a="http://schemas.openxmlformats.org/drawingml/2006/main" noGrp="1"/>
          </p:cNvSpPr>
          <p:nvPr/>
        </p:nvSpPr>
        <p:spPr>
          <a:xfrm xmlns:a="http://schemas.openxmlformats.org/drawingml/2006/main">
            <a:off x="704850" y="442912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03 / CRM + BILLING</a:t>
            </a:r>
          </a:p>
        </p:txBody>
      </p:sp>
      <p:sp>
        <p:nvSpPr>
          <p:cNvPr id="17" name="">
            <a:extLst xmlns:a="http://schemas.openxmlformats.org/drawingml/2006/main">
              <a:ext uri="{FF2B5EF4-FFF2-40B4-BE49-F238E27FC236}">
                <a16:creationId xmlns:a16="http://schemas.microsoft.com/office/drawing/2014/main" id="{BA7AF209-3E65-4405-A770-BE3687FCC2AA}"/>
              </a:ext>
            </a:extLst>
          </p:cNvPr>
          <p:cNvSpPr>
            <a:spLocks xmlns:a="http://schemas.openxmlformats.org/drawingml/2006/main" noGrp="1"/>
          </p:cNvSpPr>
          <p:nvPr/>
        </p:nvSpPr>
        <p:spPr>
          <a:xfrm xmlns:a="http://schemas.openxmlformats.org/drawingml/2006/main">
            <a:off x="704850" y="47244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Every customer and rupee linked</a:t>
            </a:r>
          </a:p>
        </p:txBody>
      </p:sp>
      <p:sp>
        <p:nvSpPr>
          <p:cNvPr id="18" name="">
            <a:extLst xmlns:a="http://schemas.openxmlformats.org/drawingml/2006/main">
              <a:ext uri="{FF2B5EF4-FFF2-40B4-BE49-F238E27FC236}">
                <a16:creationId xmlns:a16="http://schemas.microsoft.com/office/drawing/2014/main" id="{2DB86878-85C2-45D7-8F28-703D7C65BA46}"/>
              </a:ext>
            </a:extLst>
          </p:cNvPr>
          <p:cNvSpPr>
            <a:spLocks xmlns:a="http://schemas.openxmlformats.org/drawingml/2006/main" noGrp="1"/>
          </p:cNvSpPr>
          <p:nvPr/>
        </p:nvSpPr>
        <p:spPr>
          <a:xfrm xmlns:a="http://schemas.openxmlformats.org/drawingml/2006/main">
            <a:off x="704850" y="51054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Customer history, credit, payments, reminders and GST bills.</a:t>
            </a:r>
          </a:p>
        </p:txBody>
      </p:sp>
      <p:sp>
        <p:nvSpPr>
          <p:cNvPr id="19" name="">
            <a:extLst xmlns:a="http://schemas.openxmlformats.org/drawingml/2006/main">
              <a:ext uri="{FF2B5EF4-FFF2-40B4-BE49-F238E27FC236}">
                <a16:creationId xmlns:a16="http://schemas.microsoft.com/office/drawing/2014/main" id="{B92F2451-BB12-4E79-9982-2F7DF95524D5}"/>
              </a:ext>
            </a:extLst>
          </p:cNvPr>
          <p:cNvSpPr>
            <a:spLocks xmlns:a="http://schemas.openxmlformats.org/drawingml/2006/main" noGrp="1"/>
          </p:cNvSpPr>
          <p:nvPr/>
        </p:nvSpPr>
        <p:spPr>
          <a:xfrm xmlns:a="http://schemas.openxmlformats.org/drawingml/2006/main">
            <a:off x="6286500" y="423862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20" name="">
            <a:extLst xmlns:a="http://schemas.openxmlformats.org/drawingml/2006/main">
              <a:ext uri="{FF2B5EF4-FFF2-40B4-BE49-F238E27FC236}">
                <a16:creationId xmlns:a16="http://schemas.microsoft.com/office/drawing/2014/main" id="{CE4A1BED-6703-428A-8E4D-699DA5ECCF61}"/>
              </a:ext>
            </a:extLst>
          </p:cNvPr>
          <p:cNvSpPr>
            <a:spLocks xmlns:a="http://schemas.openxmlformats.org/drawingml/2006/main" noGrp="1"/>
          </p:cNvSpPr>
          <p:nvPr/>
        </p:nvSpPr>
        <p:spPr>
          <a:xfrm xmlns:a="http://schemas.openxmlformats.org/drawingml/2006/main">
            <a:off x="6515100" y="442912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04 / DOCUMENT AI</a:t>
            </a:r>
          </a:p>
        </p:txBody>
      </p:sp>
      <p:sp>
        <p:nvSpPr>
          <p:cNvPr id="21" name="">
            <a:extLst xmlns:a="http://schemas.openxmlformats.org/drawingml/2006/main">
              <a:ext uri="{FF2B5EF4-FFF2-40B4-BE49-F238E27FC236}">
                <a16:creationId xmlns:a16="http://schemas.microsoft.com/office/drawing/2014/main" id="{E421E6FE-6E4C-41A3-AA83-020AC6B64AE7}"/>
              </a:ext>
            </a:extLst>
          </p:cNvPr>
          <p:cNvSpPr>
            <a:spLocks xmlns:a="http://schemas.openxmlformats.org/drawingml/2006/main" noGrp="1"/>
          </p:cNvSpPr>
          <p:nvPr/>
        </p:nvSpPr>
        <p:spPr>
          <a:xfrm xmlns:a="http://schemas.openxmlformats.org/drawingml/2006/main">
            <a:off x="6515100" y="47244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Turn invoices into usable stock</a:t>
            </a:r>
          </a:p>
        </p:txBody>
      </p:sp>
      <p:sp>
        <p:nvSpPr>
          <p:cNvPr id="22" name="">
            <a:extLst xmlns:a="http://schemas.openxmlformats.org/drawingml/2006/main">
              <a:ext uri="{FF2B5EF4-FFF2-40B4-BE49-F238E27FC236}">
                <a16:creationId xmlns:a16="http://schemas.microsoft.com/office/drawing/2014/main" id="{F3637A70-FDBA-4BA1-A638-75B6577B14CA}"/>
              </a:ext>
            </a:extLst>
          </p:cNvPr>
          <p:cNvSpPr>
            <a:spLocks xmlns:a="http://schemas.openxmlformats.org/drawingml/2006/main" noGrp="1"/>
          </p:cNvSpPr>
          <p:nvPr/>
        </p:nvSpPr>
        <p:spPr>
          <a:xfrm xmlns:a="http://schemas.openxmlformats.org/drawingml/2006/main">
            <a:off x="6515100" y="51054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Scan supplier invoices; match SKUs, freight and landed cost with review.</a:t>
            </a:r>
          </a:p>
        </p:txBody>
      </p:sp>
      <p:sp>
        <p:nvSpPr>
          <p:cNvPr id="23" name="">
            <a:extLst xmlns:a="http://schemas.openxmlformats.org/drawingml/2006/main">
              <a:ext uri="{FF2B5EF4-FFF2-40B4-BE49-F238E27FC236}">
                <a16:creationId xmlns:a16="http://schemas.microsoft.com/office/drawing/2014/main" id="{8A27E46F-539B-451D-B483-076B31D3441D}"/>
              </a:ext>
            </a:extLst>
          </p:cNvPr>
          <p:cNvSpPr>
            <a:spLocks xmlns:a="http://schemas.openxmlformats.org/drawingml/2006/main" noGrp="1"/>
          </p:cNvSpPr>
          <p:nvPr/>
        </p:nvSpPr>
        <p:spPr>
          <a:xfrm xmlns:a="http://schemas.openxmlformats.org/drawingml/2006/main">
            <a:off x="476250" y="5953125"/>
            <a:ext cx="11287125" cy="514350"/>
          </a:xfrm>
          <a:prstGeom xmlns:a="http://schemas.openxmlformats.org/drawingml/2006/main" prst="roundRect">
            <a:avLst>
              <a:gd name="adj" fmla="val 25926"/>
            </a:avLst>
          </a:prstGeom>
          <a:solidFill xmlns:a="http://schemas.openxmlformats.org/drawingml/2006/main">
            <a:srgbClr val="090B0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4AA82B0-18AE-4A2F-8F18-7DCEEE1D7860}"/>
              </a:ext>
            </a:extLst>
          </p:cNvPr>
          <p:cNvSpPr>
            <a:spLocks xmlns:a="http://schemas.openxmlformats.org/drawingml/2006/main" noGrp="1"/>
          </p:cNvSpPr>
          <p:nvPr/>
        </p:nvSpPr>
        <p:spPr>
          <a:xfrm xmlns:a="http://schemas.openxmlformats.org/drawingml/2006/main">
            <a:off x="742950" y="6115050"/>
            <a:ext cx="485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F7FAF8"/>
                </a:solidFill>
                <a:latin typeface="Helvetica Neue"/>
                <a:ea typeface="Helvetica Neue"/>
                <a:cs typeface="Helvetica Neue"/>
              </a:defRPr>
            </a:pPr>
            <a:r>
              <a:rPr sz="1275" b="1">
                <a:solidFill>
                  <a:srgbClr val="F7FAF8"/>
                </a:solidFill>
                <a:latin typeface="Helvetica Neue"/>
                <a:ea typeface="Helvetica Neue"/>
                <a:cs typeface="Helvetica Neue"/>
              </a:rPr>
              <a:t>“Aaj ka hisaab batao.”</a:t>
            </a:r>
          </a:p>
        </p:txBody>
      </p:sp>
      <p:sp>
        <p:nvSpPr>
          <p:cNvPr id="25" name="">
            <a:extLst xmlns:a="http://schemas.openxmlformats.org/drawingml/2006/main">
              <a:ext uri="{FF2B5EF4-FFF2-40B4-BE49-F238E27FC236}">
                <a16:creationId xmlns:a16="http://schemas.microsoft.com/office/drawing/2014/main" id="{F61E12D5-9D6E-4215-920C-8B0DEBDF583B}"/>
              </a:ext>
            </a:extLst>
          </p:cNvPr>
          <p:cNvSpPr>
            <a:spLocks xmlns:a="http://schemas.openxmlformats.org/drawingml/2006/main" noGrp="1"/>
          </p:cNvSpPr>
          <p:nvPr/>
        </p:nvSpPr>
        <p:spPr>
          <a:xfrm xmlns:a="http://schemas.openxmlformats.org/drawingml/2006/main">
            <a:off x="6191250" y="61150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1">
                <a:solidFill>
                  <a:srgbClr val="6CF8BB"/>
                </a:solidFill>
                <a:latin typeface="Helvetica Neue"/>
                <a:ea typeface="Helvetica Neue"/>
                <a:cs typeface="Helvetica Neue"/>
              </a:defRPr>
            </a:pPr>
            <a:r>
              <a:rPr sz="1050" b="1">
                <a:solidFill>
                  <a:srgbClr val="6CF8BB"/>
                </a:solidFill>
                <a:latin typeface="Helvetica Neue"/>
                <a:ea typeface="Helvetica Neue"/>
                <a:cs typeface="Helvetica Neue"/>
              </a:rPr>
              <a:t>VOICE  •  LEDGER  •  CRM  •  DOCUMENTS — GROUNDED</a:t>
            </a:r>
          </a:p>
        </p:txBody>
      </p:sp>
      <p:sp>
        <p:nvSpPr>
          <p:cNvPr id="26" name="">
            <a:extLst xmlns:a="http://schemas.openxmlformats.org/drawingml/2006/main">
              <a:ext uri="{FF2B5EF4-FFF2-40B4-BE49-F238E27FC236}">
                <a16:creationId xmlns:a16="http://schemas.microsoft.com/office/drawing/2014/main" id="{1BF3C772-F758-44C3-8293-4A1BF34527C8}"/>
              </a:ext>
            </a:extLst>
          </p:cNvPr>
          <p:cNvSpPr>
            <a:spLocks xmlns:a="http://schemas.openxmlformats.org/drawingml/2006/main" noGrp="1"/>
          </p:cNvSpPr>
          <p:nvPr/>
        </p:nvSpPr>
        <p:spPr>
          <a:xfrm xmlns:a="http://schemas.openxmlformats.org/drawingml/2006/main">
            <a:off x="11334750" y="6381750"/>
            <a:ext cx="361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7C8780"/>
                </a:solidFill>
                <a:latin typeface="Helvetica Neue"/>
                <a:ea typeface="Helvetica Neue"/>
                <a:cs typeface="Helvetica Neue"/>
              </a:defRPr>
            </a:pPr>
            <a:r>
              <a:rPr sz="825" b="0">
                <a:solidFill>
                  <a:srgbClr val="7C8780"/>
                </a:solidFill>
                <a:latin typeface="Helvetica Neue"/>
                <a:ea typeface="Helvetica Neue"/>
                <a:cs typeface="Helvetica Neue"/>
              </a:rPr>
              <a:t>04</a:t>
            </a:r>
          </a:p>
        </p:txBody>
      </p:sp>
    </p:spTree>
    <p:extLst>
      <p:ext uri="{BB962C8B-B14F-4D97-AF65-F5344CB8AC3E}">
        <p14:creationId xmlns:p14="http://schemas.microsoft.com/office/powerpoint/2010/main" val="287940562"/>
      </p:ext>
    </p:extLst>
  </p:cSld>
</p:sld>
</file>

<file path=ppt/slides/slide5.xml><?xml version="1.0" encoding="utf-8"?>
<p:sld xmlns:p="http://schemas.openxmlformats.org/presentationml/2006/main">
  <p:cSld>
    <p:bg>
      <p:bgPr>
        <a:solidFill xmlns:a="http://schemas.openxmlformats.org/drawingml/2006/main">
          <a:srgbClr val="E9EFEB"/>
        </a:solidFill>
      </p:bgPr>
    </p:bg>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c9ce8ae3a5149a4">
            <a:extLst>
              <a:ext uri="{96DAC541-7B7A-43D3-8B79-37D633B846F1}">
                <asvg:svgBlip xmlns:asvg="http://schemas.microsoft.com/office/drawing/2016/SVG/main" r:embed="R46bd2baeffc84904"/>
              </a:ext>
            </a:extLst>
          </a:blip>
          <a:stretch xmlns:a="http://schemas.openxmlformats.org/drawingml/2006/main"/>
        </p:blipFill>
        <p:spPr>
          <a:xfrm xmlns:a="http://schemas.openxmlformats.org/drawingml/2006/main">
            <a:off x="476250" y="400050"/>
            <a:ext cx="381000" cy="381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071AC61-944B-4789-8AC5-2BB308B47615}"/>
              </a:ext>
            </a:extLst>
          </p:cNvPr>
          <p:cNvSpPr>
            <a:spLocks xmlns:a="http://schemas.openxmlformats.org/drawingml/2006/main" noGrp="1"/>
          </p:cNvSpPr>
          <p:nvPr/>
        </p:nvSpPr>
        <p:spPr>
          <a:xfrm xmlns:a="http://schemas.openxmlformats.org/drawingml/2006/main">
            <a:off x="962025" y="438150"/>
            <a:ext cx="971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111613"/>
                </a:solidFill>
                <a:latin typeface="Helvetica Neue"/>
                <a:ea typeface="Helvetica Neue"/>
                <a:cs typeface="Helvetica Neue"/>
              </a:defRPr>
            </a:pPr>
            <a:r>
              <a:rPr sz="1650" b="1">
                <a:solidFill>
                  <a:srgbClr val="111613"/>
                </a:solidFill>
                <a:latin typeface="Helvetica Neue"/>
                <a:ea typeface="Helvetica Neue"/>
                <a:cs typeface="Helvetica Neue"/>
              </a:rPr>
              <a:t>Chhotu</a:t>
            </a:r>
          </a:p>
        </p:txBody>
      </p:sp>
      <p:sp>
        <p:nvSpPr>
          <p:cNvPr id="3" name="">
            <a:extLst xmlns:a="http://schemas.openxmlformats.org/drawingml/2006/main">
              <a:ext uri="{FF2B5EF4-FFF2-40B4-BE49-F238E27FC236}">
                <a16:creationId xmlns:a16="http://schemas.microsoft.com/office/drawing/2014/main" id="{3C53E068-38DA-4FBA-AE50-6DDECDDE78B0}"/>
              </a:ext>
            </a:extLst>
          </p:cNvPr>
          <p:cNvSpPr>
            <a:spLocks xmlns:a="http://schemas.openxmlformats.org/drawingml/2006/main" noGrp="1"/>
          </p:cNvSpPr>
          <p:nvPr/>
        </p:nvSpPr>
        <p:spPr>
          <a:xfrm xmlns:a="http://schemas.openxmlformats.org/drawingml/2006/main">
            <a:off x="1809750" y="438150"/>
            <a:ext cx="476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650" b="1">
                <a:solidFill>
                  <a:srgbClr val="006C49"/>
                </a:solidFill>
                <a:latin typeface="Helvetica Neue"/>
                <a:ea typeface="Helvetica Neue"/>
                <a:cs typeface="Helvetica Neue"/>
              </a:defRPr>
            </a:pPr>
            <a:r>
              <a:rPr sz="1650" b="1">
                <a:solidFill>
                  <a:srgbClr val="006C49"/>
                </a:solidFill>
                <a:latin typeface="Helvetica Neue"/>
                <a:ea typeface="Helvetica Neue"/>
                <a:cs typeface="Helvetica Neue"/>
              </a:rPr>
              <a:t>.ai</a:t>
            </a:r>
          </a:p>
        </p:txBody>
      </p:sp>
      <p:sp>
        <p:nvSpPr>
          <p:cNvPr id="4" name="">
            <a:extLst xmlns:a="http://schemas.openxmlformats.org/drawingml/2006/main">
              <a:ext uri="{FF2B5EF4-FFF2-40B4-BE49-F238E27FC236}">
                <a16:creationId xmlns:a16="http://schemas.microsoft.com/office/drawing/2014/main" id="{7AC671BB-5861-4747-BC82-7B1E632F5AD8}"/>
              </a:ext>
            </a:extLst>
          </p:cNvPr>
          <p:cNvSpPr>
            <a:spLocks xmlns:a="http://schemas.openxmlformats.org/drawingml/2006/main" noGrp="1"/>
          </p:cNvSpPr>
          <p:nvPr/>
        </p:nvSpPr>
        <p:spPr>
          <a:xfrm xmlns:a="http://schemas.openxmlformats.org/drawingml/2006/main">
            <a:off x="476250" y="10668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900" b="1">
                <a:solidFill>
                  <a:srgbClr val="006C49"/>
                </a:solidFill>
                <a:latin typeface="Helvetica Neue"/>
                <a:ea typeface="Helvetica Neue"/>
                <a:cs typeface="Helvetica Neue"/>
              </a:defRPr>
            </a:pPr>
            <a:r>
              <a:rPr sz="900" b="1">
                <a:solidFill>
                  <a:srgbClr val="006C49"/>
                </a:solidFill>
                <a:latin typeface="Helvetica Neue"/>
                <a:ea typeface="Helvetica Neue"/>
                <a:cs typeface="Helvetica Neue"/>
              </a:rPr>
              <a:t>ROADMAP / TRADE → WAREHOUSE</a:t>
            </a:r>
          </a:p>
        </p:txBody>
      </p:sp>
      <p:sp>
        <p:nvSpPr>
          <p:cNvPr id="5" name="">
            <a:extLst xmlns:a="http://schemas.openxmlformats.org/drawingml/2006/main">
              <a:ext uri="{FF2B5EF4-FFF2-40B4-BE49-F238E27FC236}">
                <a16:creationId xmlns:a16="http://schemas.microsoft.com/office/drawing/2014/main" id="{DA322289-4A4D-418B-8529-F1B5352ABE84}"/>
              </a:ext>
            </a:extLst>
          </p:cNvPr>
          <p:cNvSpPr>
            <a:spLocks xmlns:a="http://schemas.openxmlformats.org/drawingml/2006/main" noGrp="1"/>
          </p:cNvSpPr>
          <p:nvPr/>
        </p:nvSpPr>
        <p:spPr>
          <a:xfrm xmlns:a="http://schemas.openxmlformats.org/drawingml/2006/main">
            <a:off x="476250" y="1381125"/>
            <a:ext cx="89535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3000" b="1">
                <a:solidFill>
                  <a:srgbClr val="111613"/>
                </a:solidFill>
                <a:latin typeface="Helvetica Neue"/>
                <a:ea typeface="Helvetica Neue"/>
                <a:cs typeface="Helvetica Neue"/>
              </a:defRPr>
            </a:pPr>
            <a:r>
              <a:rPr sz="3000" b="1">
                <a:solidFill>
                  <a:srgbClr val="111613"/>
                </a:solidFill>
                <a:latin typeface="Helvetica Neue"/>
                <a:ea typeface="Helvetica Neue"/>
                <a:cs typeface="Helvetica Neue"/>
              </a:rPr>
              <a:t>From trade assistant to fulfilment network.</a:t>
            </a:r>
          </a:p>
        </p:txBody>
      </p:sp>
      <p:sp>
        <p:nvSpPr>
          <p:cNvPr id="6" name="">
            <a:extLst xmlns:a="http://schemas.openxmlformats.org/drawingml/2006/main">
              <a:ext uri="{FF2B5EF4-FFF2-40B4-BE49-F238E27FC236}">
                <a16:creationId xmlns:a16="http://schemas.microsoft.com/office/drawing/2014/main" id="{52257E59-F1EB-4CE1-A064-AE5DC05B751F}"/>
              </a:ext>
            </a:extLst>
          </p:cNvPr>
          <p:cNvSpPr>
            <a:spLocks xmlns:a="http://schemas.openxmlformats.org/drawingml/2006/main" noGrp="1"/>
          </p:cNvSpPr>
          <p:nvPr/>
        </p:nvSpPr>
        <p:spPr>
          <a:xfrm xmlns:a="http://schemas.openxmlformats.org/drawingml/2006/main">
            <a:off x="476250" y="1952625"/>
            <a:ext cx="762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350" b="0">
                <a:solidFill>
                  <a:srgbClr val="66706A"/>
                </a:solidFill>
                <a:latin typeface="Helvetica Neue"/>
                <a:ea typeface="Helvetica Neue"/>
                <a:cs typeface="Helvetica Neue"/>
              </a:defRPr>
            </a:pPr>
            <a:r>
              <a:rPr sz="1350" b="0">
                <a:solidFill>
                  <a:srgbClr val="66706A"/>
                </a:solidFill>
                <a:latin typeface="Helvetica Neue"/>
                <a:ea typeface="Helvetica Neue"/>
                <a:cs typeface="Helvetica Neue"/>
              </a:rPr>
              <a:t>Orders become promises. Deliveries become movement. The ledger stays the truth.</a:t>
            </a:r>
          </a:p>
        </p:txBody>
      </p:sp>
      <p:sp>
        <p:nvSpPr>
          <p:cNvPr id="7" name="">
            <a:extLst xmlns:a="http://schemas.openxmlformats.org/drawingml/2006/main">
              <a:ext uri="{FF2B5EF4-FFF2-40B4-BE49-F238E27FC236}">
                <a16:creationId xmlns:a16="http://schemas.microsoft.com/office/drawing/2014/main" id="{04931027-A7A6-4BDD-8693-6B5D14FD6D9E}"/>
              </a:ext>
            </a:extLst>
          </p:cNvPr>
          <p:cNvSpPr>
            <a:spLocks xmlns:a="http://schemas.openxmlformats.org/drawingml/2006/main" noGrp="1"/>
          </p:cNvSpPr>
          <p:nvPr/>
        </p:nvSpPr>
        <p:spPr>
          <a:xfrm xmlns:a="http://schemas.openxmlformats.org/drawingml/2006/main">
            <a:off x="476250" y="261937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8" name="">
            <a:extLst xmlns:a="http://schemas.openxmlformats.org/drawingml/2006/main">
              <a:ext uri="{FF2B5EF4-FFF2-40B4-BE49-F238E27FC236}">
                <a16:creationId xmlns:a16="http://schemas.microsoft.com/office/drawing/2014/main" id="{9B813A43-3F61-42D4-8185-C04839F423E2}"/>
              </a:ext>
            </a:extLst>
          </p:cNvPr>
          <p:cNvSpPr>
            <a:spLocks xmlns:a="http://schemas.openxmlformats.org/drawingml/2006/main" noGrp="1"/>
          </p:cNvSpPr>
          <p:nvPr/>
        </p:nvSpPr>
        <p:spPr>
          <a:xfrm xmlns:a="http://schemas.openxmlformats.org/drawingml/2006/main">
            <a:off x="704850" y="280987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01 / ORDERS</a:t>
            </a:r>
          </a:p>
        </p:txBody>
      </p:sp>
      <p:sp>
        <p:nvSpPr>
          <p:cNvPr id="9" name="">
            <a:extLst xmlns:a="http://schemas.openxmlformats.org/drawingml/2006/main">
              <a:ext uri="{FF2B5EF4-FFF2-40B4-BE49-F238E27FC236}">
                <a16:creationId xmlns:a16="http://schemas.microsoft.com/office/drawing/2014/main" id="{7764C079-EA72-43D5-8437-616792DB117D}"/>
              </a:ext>
            </a:extLst>
          </p:cNvPr>
          <p:cNvSpPr>
            <a:spLocks xmlns:a="http://schemas.openxmlformats.org/drawingml/2006/main" noGrp="1"/>
          </p:cNvSpPr>
          <p:nvPr/>
        </p:nvSpPr>
        <p:spPr>
          <a:xfrm xmlns:a="http://schemas.openxmlformats.org/drawingml/2006/main">
            <a:off x="704850" y="3105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Take orders on voice and calls</a:t>
            </a:r>
          </a:p>
        </p:txBody>
      </p:sp>
      <p:sp>
        <p:nvSpPr>
          <p:cNvPr id="10" name="">
            <a:extLst xmlns:a="http://schemas.openxmlformats.org/drawingml/2006/main">
              <a:ext uri="{FF2B5EF4-FFF2-40B4-BE49-F238E27FC236}">
                <a16:creationId xmlns:a16="http://schemas.microsoft.com/office/drawing/2014/main" id="{895323D0-0E06-4EEB-B560-9E712BCC3C51}"/>
              </a:ext>
            </a:extLst>
          </p:cNvPr>
          <p:cNvSpPr>
            <a:spLocks xmlns:a="http://schemas.openxmlformats.org/drawingml/2006/main" noGrp="1"/>
          </p:cNvSpPr>
          <p:nvPr/>
        </p:nvSpPr>
        <p:spPr>
          <a:xfrm xmlns:a="http://schemas.openxmlformats.org/drawingml/2006/main">
            <a:off x="704850" y="34861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Multi-item drafts, confirmation, reservations and customer order status.</a:t>
            </a:r>
          </a:p>
        </p:txBody>
      </p:sp>
      <p:sp>
        <p:nvSpPr>
          <p:cNvPr id="11" name="">
            <a:extLst xmlns:a="http://schemas.openxmlformats.org/drawingml/2006/main">
              <a:ext uri="{FF2B5EF4-FFF2-40B4-BE49-F238E27FC236}">
                <a16:creationId xmlns:a16="http://schemas.microsoft.com/office/drawing/2014/main" id="{3B18C7EF-48A2-4902-9058-356256B8E7BA}"/>
              </a:ext>
            </a:extLst>
          </p:cNvPr>
          <p:cNvSpPr>
            <a:spLocks xmlns:a="http://schemas.openxmlformats.org/drawingml/2006/main" noGrp="1"/>
          </p:cNvSpPr>
          <p:nvPr/>
        </p:nvSpPr>
        <p:spPr>
          <a:xfrm xmlns:a="http://schemas.openxmlformats.org/drawingml/2006/main">
            <a:off x="6286500" y="261937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12" name="">
            <a:extLst xmlns:a="http://schemas.openxmlformats.org/drawingml/2006/main">
              <a:ext uri="{FF2B5EF4-FFF2-40B4-BE49-F238E27FC236}">
                <a16:creationId xmlns:a16="http://schemas.microsoft.com/office/drawing/2014/main" id="{BCCBB997-48F6-46C9-8017-30DD28DB4E11}"/>
              </a:ext>
            </a:extLst>
          </p:cNvPr>
          <p:cNvSpPr>
            <a:spLocks xmlns:a="http://schemas.openxmlformats.org/drawingml/2006/main" noGrp="1"/>
          </p:cNvSpPr>
          <p:nvPr/>
        </p:nvSpPr>
        <p:spPr>
          <a:xfrm xmlns:a="http://schemas.openxmlformats.org/drawingml/2006/main">
            <a:off x="6515100" y="280987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02 / DELIVERY</a:t>
            </a:r>
          </a:p>
        </p:txBody>
      </p:sp>
      <p:sp>
        <p:nvSpPr>
          <p:cNvPr id="13" name="">
            <a:extLst xmlns:a="http://schemas.openxmlformats.org/drawingml/2006/main">
              <a:ext uri="{FF2B5EF4-FFF2-40B4-BE49-F238E27FC236}">
                <a16:creationId xmlns:a16="http://schemas.microsoft.com/office/drawing/2014/main" id="{E91787D4-56AF-49D2-B41D-87760A7F46A5}"/>
              </a:ext>
            </a:extLst>
          </p:cNvPr>
          <p:cNvSpPr>
            <a:spLocks xmlns:a="http://schemas.openxmlformats.org/drawingml/2006/main" noGrp="1"/>
          </p:cNvSpPr>
          <p:nvPr/>
        </p:nvSpPr>
        <p:spPr>
          <a:xfrm xmlns:a="http://schemas.openxmlformats.org/drawingml/2006/main">
            <a:off x="6515100" y="31051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Track fulfilment end to end</a:t>
            </a:r>
          </a:p>
        </p:txBody>
      </p:sp>
      <p:sp>
        <p:nvSpPr>
          <p:cNvPr id="14" name="">
            <a:extLst xmlns:a="http://schemas.openxmlformats.org/drawingml/2006/main">
              <a:ext uri="{FF2B5EF4-FFF2-40B4-BE49-F238E27FC236}">
                <a16:creationId xmlns:a16="http://schemas.microsoft.com/office/drawing/2014/main" id="{D2943E00-E8A3-4B2A-A628-EB9725439579}"/>
              </a:ext>
            </a:extLst>
          </p:cNvPr>
          <p:cNvSpPr>
            <a:spLocks xmlns:a="http://schemas.openxmlformats.org/drawingml/2006/main" noGrp="1"/>
          </p:cNvSpPr>
          <p:nvPr/>
        </p:nvSpPr>
        <p:spPr>
          <a:xfrm xmlns:a="http://schemas.openxmlformats.org/drawingml/2006/main">
            <a:off x="6515100" y="348615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9622"/>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Dispatch queue, own-fleet or provider adapters, proof and reattempts.</a:t>
            </a:r>
          </a:p>
        </p:txBody>
      </p:sp>
      <p:sp>
        <p:nvSpPr>
          <p:cNvPr id="15" name="">
            <a:extLst xmlns:a="http://schemas.openxmlformats.org/drawingml/2006/main">
              <a:ext uri="{FF2B5EF4-FFF2-40B4-BE49-F238E27FC236}">
                <a16:creationId xmlns:a16="http://schemas.microsoft.com/office/drawing/2014/main" id="{E06871B3-3A41-4390-BEAF-DDF621CB2659}"/>
              </a:ext>
            </a:extLst>
          </p:cNvPr>
          <p:cNvSpPr>
            <a:spLocks xmlns:a="http://schemas.openxmlformats.org/drawingml/2006/main" noGrp="1"/>
          </p:cNvSpPr>
          <p:nvPr/>
        </p:nvSpPr>
        <p:spPr>
          <a:xfrm xmlns:a="http://schemas.openxmlformats.org/drawingml/2006/main">
            <a:off x="476250" y="423862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16" name="">
            <a:extLst xmlns:a="http://schemas.openxmlformats.org/drawingml/2006/main">
              <a:ext uri="{FF2B5EF4-FFF2-40B4-BE49-F238E27FC236}">
                <a16:creationId xmlns:a16="http://schemas.microsoft.com/office/drawing/2014/main" id="{21F8935F-3913-4741-A1E0-069FCD611728}"/>
              </a:ext>
            </a:extLst>
          </p:cNvPr>
          <p:cNvSpPr>
            <a:spLocks xmlns:a="http://schemas.openxmlformats.org/drawingml/2006/main" noGrp="1"/>
          </p:cNvSpPr>
          <p:nvPr/>
        </p:nvSpPr>
        <p:spPr>
          <a:xfrm xmlns:a="http://schemas.openxmlformats.org/drawingml/2006/main">
            <a:off x="704850" y="442912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03 / RESTOCK</a:t>
            </a:r>
          </a:p>
        </p:txBody>
      </p:sp>
      <p:sp>
        <p:nvSpPr>
          <p:cNvPr id="17" name="">
            <a:extLst xmlns:a="http://schemas.openxmlformats.org/drawingml/2006/main">
              <a:ext uri="{FF2B5EF4-FFF2-40B4-BE49-F238E27FC236}">
                <a16:creationId xmlns:a16="http://schemas.microsoft.com/office/drawing/2014/main" id="{BA7AF209-3E65-4405-A770-BE3687FCC2AA}"/>
              </a:ext>
            </a:extLst>
          </p:cNvPr>
          <p:cNvSpPr>
            <a:spLocks xmlns:a="http://schemas.openxmlformats.org/drawingml/2006/main" noGrp="1"/>
          </p:cNvSpPr>
          <p:nvPr/>
        </p:nvSpPr>
        <p:spPr>
          <a:xfrm xmlns:a="http://schemas.openxmlformats.org/drawingml/2006/main">
            <a:off x="704850" y="47244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Chhotu calls suppliers</a:t>
            </a:r>
          </a:p>
        </p:txBody>
      </p:sp>
      <p:sp>
        <p:nvSpPr>
          <p:cNvPr id="18" name="">
            <a:extLst xmlns:a="http://schemas.openxmlformats.org/drawingml/2006/main">
              <a:ext uri="{FF2B5EF4-FFF2-40B4-BE49-F238E27FC236}">
                <a16:creationId xmlns:a16="http://schemas.microsoft.com/office/drawing/2014/main" id="{2DB86878-85C2-45D7-8F28-703D7C65BA46}"/>
              </a:ext>
            </a:extLst>
          </p:cNvPr>
          <p:cNvSpPr>
            <a:spLocks xmlns:a="http://schemas.openxmlformats.org/drawingml/2006/main" noGrp="1"/>
          </p:cNvSpPr>
          <p:nvPr/>
        </p:nvSpPr>
        <p:spPr>
          <a:xfrm xmlns:a="http://schemas.openxmlformats.org/drawingml/2006/main">
            <a:off x="704850" y="51054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Reorder suggestions, purchase orders, rates, lead times and goods receipts.</a:t>
            </a:r>
          </a:p>
        </p:txBody>
      </p:sp>
      <p:sp>
        <p:nvSpPr>
          <p:cNvPr id="19" name="">
            <a:extLst xmlns:a="http://schemas.openxmlformats.org/drawingml/2006/main">
              <a:ext uri="{FF2B5EF4-FFF2-40B4-BE49-F238E27FC236}">
                <a16:creationId xmlns:a16="http://schemas.microsoft.com/office/drawing/2014/main" id="{B92F2451-BB12-4E79-9982-2F7DF95524D5}"/>
              </a:ext>
            </a:extLst>
          </p:cNvPr>
          <p:cNvSpPr>
            <a:spLocks xmlns:a="http://schemas.openxmlformats.org/drawingml/2006/main" noGrp="1"/>
          </p:cNvSpPr>
          <p:nvPr/>
        </p:nvSpPr>
        <p:spPr>
          <a:xfrm xmlns:a="http://schemas.openxmlformats.org/drawingml/2006/main">
            <a:off x="6286500" y="4238625"/>
            <a:ext cx="5476875" cy="1381125"/>
          </a:xfrm>
          <a:prstGeom xmlns:a="http://schemas.openxmlformats.org/drawingml/2006/main" prst="roundRect">
            <a:avLst>
              <a:gd name="adj" fmla="val 11034"/>
            </a:avLst>
          </a:prstGeom>
          <a:solidFill xmlns:a="http://schemas.openxmlformats.org/drawingml/2006/main">
            <a:srgbClr val="F6F8F7"/>
          </a:solidFill>
          <a:ln xmlns:a="http://schemas.openxmlformats.org/drawingml/2006/main" w="9525">
            <a:solidFill>
              <a:srgbClr val="CCD6D0"/>
            </a:solidFill>
            <a:prstDash val="solid"/>
          </a:ln>
        </p:spPr>
      </p:sp>
      <p:sp>
        <p:nvSpPr>
          <p:cNvPr id="20" name="">
            <a:extLst xmlns:a="http://schemas.openxmlformats.org/drawingml/2006/main">
              <a:ext uri="{FF2B5EF4-FFF2-40B4-BE49-F238E27FC236}">
                <a16:creationId xmlns:a16="http://schemas.microsoft.com/office/drawing/2014/main" id="{CE4A1BED-6703-428A-8E4D-699DA5ECCF61}"/>
              </a:ext>
            </a:extLst>
          </p:cNvPr>
          <p:cNvSpPr>
            <a:spLocks xmlns:a="http://schemas.openxmlformats.org/drawingml/2006/main" noGrp="1"/>
          </p:cNvSpPr>
          <p:nvPr/>
        </p:nvSpPr>
        <p:spPr>
          <a:xfrm xmlns:a="http://schemas.openxmlformats.org/drawingml/2006/main">
            <a:off x="6515100" y="4429125"/>
            <a:ext cx="190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825" b="1">
                <a:solidFill>
                  <a:srgbClr val="006C49"/>
                </a:solidFill>
                <a:latin typeface="Helvetica Neue"/>
                <a:ea typeface="Helvetica Neue"/>
                <a:cs typeface="Helvetica Neue"/>
              </a:defRPr>
            </a:pPr>
            <a:r>
              <a:rPr sz="825" b="1">
                <a:solidFill>
                  <a:srgbClr val="006C49"/>
                </a:solidFill>
                <a:latin typeface="Helvetica Neue"/>
                <a:ea typeface="Helvetica Neue"/>
                <a:cs typeface="Helvetica Neue"/>
              </a:rPr>
              <a:t>04 / WAREHOUSE SCALE</a:t>
            </a:r>
          </a:p>
        </p:txBody>
      </p:sp>
      <p:sp>
        <p:nvSpPr>
          <p:cNvPr id="21" name="">
            <a:extLst xmlns:a="http://schemas.openxmlformats.org/drawingml/2006/main">
              <a:ext uri="{FF2B5EF4-FFF2-40B4-BE49-F238E27FC236}">
                <a16:creationId xmlns:a16="http://schemas.microsoft.com/office/drawing/2014/main" id="{E421E6FE-6E4C-41A3-AA83-020AC6B64AE7}"/>
              </a:ext>
            </a:extLst>
          </p:cNvPr>
          <p:cNvSpPr>
            <a:spLocks xmlns:a="http://schemas.openxmlformats.org/drawingml/2006/main" noGrp="1"/>
          </p:cNvSpPr>
          <p:nvPr/>
        </p:nvSpPr>
        <p:spPr>
          <a:xfrm xmlns:a="http://schemas.openxmlformats.org/drawingml/2006/main">
            <a:off x="6515100" y="47244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725" b="1">
                <a:solidFill>
                  <a:srgbClr val="111613"/>
                </a:solidFill>
                <a:latin typeface="Helvetica Neue"/>
                <a:ea typeface="Helvetica Neue"/>
                <a:cs typeface="Helvetica Neue"/>
              </a:defRPr>
            </a:pPr>
            <a:r>
              <a:rPr sz="1725" b="1">
                <a:solidFill>
                  <a:srgbClr val="111613"/>
                </a:solidFill>
                <a:latin typeface="Helvetica Neue"/>
                <a:ea typeface="Helvetica Neue"/>
                <a:cs typeface="Helvetica Neue"/>
              </a:rPr>
              <a:t>Reconcile every hand-off</a:t>
            </a:r>
          </a:p>
        </p:txBody>
      </p:sp>
      <p:sp>
        <p:nvSpPr>
          <p:cNvPr id="22" name="">
            <a:extLst xmlns:a="http://schemas.openxmlformats.org/drawingml/2006/main">
              <a:ext uri="{FF2B5EF4-FFF2-40B4-BE49-F238E27FC236}">
                <a16:creationId xmlns:a16="http://schemas.microsoft.com/office/drawing/2014/main" id="{F3637A70-FDBA-4BA1-A638-75B6577B14CA}"/>
              </a:ext>
            </a:extLst>
          </p:cNvPr>
          <p:cNvSpPr>
            <a:spLocks xmlns:a="http://schemas.openxmlformats.org/drawingml/2006/main" noGrp="1"/>
          </p:cNvSpPr>
          <p:nvPr/>
        </p:nvSpPr>
        <p:spPr>
          <a:xfrm xmlns:a="http://schemas.openxmlformats.org/drawingml/2006/main">
            <a:off x="6515100" y="5105400"/>
            <a:ext cx="4762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98958"/>
          </a:bodyPr>
          <a:lstStyle xmlns:a="http://schemas.openxmlformats.org/drawingml/2006/main"/>
          <a:p xmlns:a="http://schemas.openxmlformats.org/drawingml/2006/main">
            <a:pPr algn="l">
              <a:buNone/>
              <a:defRPr sz="1200" b="0">
                <a:solidFill>
                  <a:srgbClr val="69736D"/>
                </a:solidFill>
                <a:latin typeface="Helvetica Neue"/>
                <a:ea typeface="Helvetica Neue"/>
                <a:cs typeface="Helvetica Neue"/>
              </a:defRPr>
            </a:pPr>
            <a:r>
              <a:rPr sz="1200" b="0">
                <a:solidFill>
                  <a:srgbClr val="69736D"/>
                </a:solidFill>
                <a:latin typeface="Helvetica Neue"/>
                <a:ea typeface="Helvetica Neue"/>
                <a:cs typeface="Helvetica Neue"/>
              </a:rPr>
              <a:t>PO ↔ receipt ↔ invoice checks, provider webhooks and fulfilment analytics.</a:t>
            </a:r>
          </a:p>
        </p:txBody>
      </p:sp>
      <p:sp>
        <p:nvSpPr>
          <p:cNvPr id="23" name="">
            <a:extLst xmlns:a="http://schemas.openxmlformats.org/drawingml/2006/main">
              <a:ext uri="{FF2B5EF4-FFF2-40B4-BE49-F238E27FC236}">
                <a16:creationId xmlns:a16="http://schemas.microsoft.com/office/drawing/2014/main" id="{8A27E46F-539B-451D-B483-076B31D3441D}"/>
              </a:ext>
            </a:extLst>
          </p:cNvPr>
          <p:cNvSpPr>
            <a:spLocks xmlns:a="http://schemas.openxmlformats.org/drawingml/2006/main" noGrp="1"/>
          </p:cNvSpPr>
          <p:nvPr/>
        </p:nvSpPr>
        <p:spPr>
          <a:xfrm xmlns:a="http://schemas.openxmlformats.org/drawingml/2006/main">
            <a:off x="476250" y="5953125"/>
            <a:ext cx="11287125" cy="514350"/>
          </a:xfrm>
          <a:prstGeom xmlns:a="http://schemas.openxmlformats.org/drawingml/2006/main" prst="roundRect">
            <a:avLst>
              <a:gd name="adj" fmla="val 25926"/>
            </a:avLst>
          </a:prstGeom>
          <a:solidFill xmlns:a="http://schemas.openxmlformats.org/drawingml/2006/main">
            <a:srgbClr val="090B0B"/>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14AA82B0-18AE-4A2F-8F18-7DCEEE1D7860}"/>
              </a:ext>
            </a:extLst>
          </p:cNvPr>
          <p:cNvSpPr>
            <a:spLocks xmlns:a="http://schemas.openxmlformats.org/drawingml/2006/main" noGrp="1"/>
          </p:cNvSpPr>
          <p:nvPr/>
        </p:nvSpPr>
        <p:spPr>
          <a:xfrm xmlns:a="http://schemas.openxmlformats.org/drawingml/2006/main">
            <a:off x="742950" y="6115050"/>
            <a:ext cx="485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buNone/>
              <a:defRPr sz="1275" b="1">
                <a:solidFill>
                  <a:srgbClr val="F7FAF8"/>
                </a:solidFill>
                <a:latin typeface="Helvetica Neue"/>
                <a:ea typeface="Helvetica Neue"/>
                <a:cs typeface="Helvetica Neue"/>
              </a:defRPr>
            </a:pPr>
            <a:r>
              <a:rPr sz="1275" b="1">
                <a:solidFill>
                  <a:srgbClr val="F7FAF8"/>
                </a:solidFill>
                <a:latin typeface="Helvetica Neue"/>
                <a:ea typeface="Helvetica Neue"/>
                <a:cs typeface="Helvetica Neue"/>
              </a:rPr>
              <a:t>“Hey Chhotu…”</a:t>
            </a:r>
          </a:p>
        </p:txBody>
      </p:sp>
      <p:sp>
        <p:nvSpPr>
          <p:cNvPr id="25" name="">
            <a:extLst xmlns:a="http://schemas.openxmlformats.org/drawingml/2006/main">
              <a:ext uri="{FF2B5EF4-FFF2-40B4-BE49-F238E27FC236}">
                <a16:creationId xmlns:a16="http://schemas.microsoft.com/office/drawing/2014/main" id="{F61E12D5-9D6E-4215-920C-8B0DEBDF583B}"/>
              </a:ext>
            </a:extLst>
          </p:cNvPr>
          <p:cNvSpPr>
            <a:spLocks xmlns:a="http://schemas.openxmlformats.org/drawingml/2006/main" noGrp="1"/>
          </p:cNvSpPr>
          <p:nvPr/>
        </p:nvSpPr>
        <p:spPr>
          <a:xfrm xmlns:a="http://schemas.openxmlformats.org/drawingml/2006/main">
            <a:off x="6191250" y="6115050"/>
            <a:ext cx="523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1050" b="1">
                <a:solidFill>
                  <a:srgbClr val="6CF8BB"/>
                </a:solidFill>
                <a:latin typeface="Helvetica Neue"/>
                <a:ea typeface="Helvetica Neue"/>
                <a:cs typeface="Helvetica Neue"/>
              </a:defRPr>
            </a:pPr>
            <a:r>
              <a:rPr sz="1050" b="1">
                <a:solidFill>
                  <a:srgbClr val="6CF8BB"/>
                </a:solidFill>
                <a:latin typeface="Helvetica Neue"/>
                <a:ea typeface="Helvetica Neue"/>
                <a:cs typeface="Helvetica Neue"/>
              </a:rPr>
              <a:t>OPT-IN WAKE WORD  •  ON-DEVICE TRIGGER  •  FUTURE</a:t>
            </a:r>
          </a:p>
        </p:txBody>
      </p:sp>
      <p:sp>
        <p:nvSpPr>
          <p:cNvPr id="26" name="">
            <a:extLst xmlns:a="http://schemas.openxmlformats.org/drawingml/2006/main">
              <a:ext uri="{FF2B5EF4-FFF2-40B4-BE49-F238E27FC236}">
                <a16:creationId xmlns:a16="http://schemas.microsoft.com/office/drawing/2014/main" id="{1BF3C772-F758-44C3-8293-4A1BF34527C8}"/>
              </a:ext>
            </a:extLst>
          </p:cNvPr>
          <p:cNvSpPr>
            <a:spLocks xmlns:a="http://schemas.openxmlformats.org/drawingml/2006/main" noGrp="1"/>
          </p:cNvSpPr>
          <p:nvPr/>
        </p:nvSpPr>
        <p:spPr>
          <a:xfrm xmlns:a="http://schemas.openxmlformats.org/drawingml/2006/main">
            <a:off x="11334750" y="6381750"/>
            <a:ext cx="3619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buNone/>
              <a:defRPr sz="825" b="0">
                <a:solidFill>
                  <a:srgbClr val="7C8780"/>
                </a:solidFill>
                <a:latin typeface="Helvetica Neue"/>
                <a:ea typeface="Helvetica Neue"/>
                <a:cs typeface="Helvetica Neue"/>
              </a:defRPr>
            </a:pPr>
            <a:r>
              <a:rPr sz="825" b="0">
                <a:solidFill>
                  <a:srgbClr val="7C8780"/>
                </a:solidFill>
                <a:latin typeface="Helvetica Neue"/>
                <a:ea typeface="Helvetica Neue"/>
                <a:cs typeface="Helvetica Neue"/>
              </a:rPr>
              <a:t>05</a:t>
            </a:r>
          </a:p>
        </p:txBody>
      </p:sp>
    </p:spTree>
    <p:extLst>
      <p:ext uri="{BB962C8B-B14F-4D97-AF65-F5344CB8AC3E}">
        <p14:creationId xmlns:p14="http://schemas.microsoft.com/office/powerpoint/2010/main" val="2879405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2026-07-29T20:39:51.4000000Z</dcterms:created>
  <dcterms:modified xsi:type="dcterms:W3CDTF">2026-07-29T20:39:51.4000000Z</dcterms:modified>
</coreProperties>
</file>