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a06e59f8ee4322" /><Relationship Type="http://schemas.openxmlformats.org/officeDocument/2006/relationships/extended-properties" Target="/docProps/app.xml" Id="R25c090e017ce42a9" /><Relationship Type="http://schemas.openxmlformats.org/officeDocument/2006/relationships/officeDocument" Target="/ppt/presentation.xml" Id="Rd37448ca0f2e4d59" /></Relationships>
</file>

<file path=ppt/presentation.xml><?xml version="1.0" encoding="utf-8"?>
<p:presentation xmlns:p="http://schemas.openxmlformats.org/presentationml/2006/main">
  <p:sldMasterIdLst>
    <p:sldMasterId xmlns:r="http://schemas.openxmlformats.org/officeDocument/2006/relationships" id="2147483648" r:id="R16dbcefe54464cce"/>
  </p:sldMasterIdLst>
  <p:notesMasterIdLst>
    <p:notesMasterId xmlns:r="http://schemas.openxmlformats.org/officeDocument/2006/relationships" r:id="R4ba6d48bdcac465a"/>
  </p:notesMasterIdLst>
  <p:sldIdLst>
    <p:sldId xmlns:r="http://schemas.openxmlformats.org/officeDocument/2006/relationships" id="256" r:id="R5ef89145a4424e99"/>
    <p:sldId xmlns:r="http://schemas.openxmlformats.org/officeDocument/2006/relationships" id="257" r:id="Ra7ef4004299649b3"/>
    <p:sldId xmlns:r="http://schemas.openxmlformats.org/officeDocument/2006/relationships" id="258" r:id="Re2a493cfce594b73"/>
    <p:sldId xmlns:r="http://schemas.openxmlformats.org/officeDocument/2006/relationships" id="259" r:id="Rb8f4248a7f2b4488"/>
    <p:sldId xmlns:r="http://schemas.openxmlformats.org/officeDocument/2006/relationships" id="260" r:id="R2fa8601092204f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61dc4512834eca" /><Relationship Type="http://schemas.openxmlformats.org/officeDocument/2006/relationships/slideMaster" Target="/ppt/slideMasters/slideMaster1.xml" Id="R16dbcefe54464cce" /><Relationship Type="http://schemas.openxmlformats.org/officeDocument/2006/relationships/notesMaster" Target="/ppt/notesMasters/notesMaster1.xml" Id="R4ba6d48bdcac465a" /><Relationship Type="http://schemas.openxmlformats.org/officeDocument/2006/relationships/presProps" Target="/ppt/presProps.xml" Id="Ra7c766edb1734d7e" /><Relationship Type="http://schemas.openxmlformats.org/officeDocument/2006/relationships/tableStyles" Target="/ppt/tableStyles.xml" Id="R3e9455d0c1ab4b04" /><Relationship Type="http://schemas.openxmlformats.org/officeDocument/2006/relationships/slide" Target="/ppt/slides/slide1.xml" Id="R5ef89145a4424e99" /><Relationship Type="http://schemas.openxmlformats.org/officeDocument/2006/relationships/slide" Target="/ppt/slides/slide2.xml" Id="Ra7ef4004299649b3" /><Relationship Type="http://schemas.openxmlformats.org/officeDocument/2006/relationships/slide" Target="/ppt/slides/slide3.xml" Id="Re2a493cfce594b73" /><Relationship Type="http://schemas.openxmlformats.org/officeDocument/2006/relationships/slide" Target="/ppt/slides/slide4.xml" Id="Rb8f4248a7f2b4488" /><Relationship Type="http://schemas.openxmlformats.org/officeDocument/2006/relationships/slide" Target="/ppt/slides/slide5.xml" Id="R2fa8601092204f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2613f155524e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904d5086334f65" /><Relationship Type="http://schemas.openxmlformats.org/officeDocument/2006/relationships/notesMaster" Target="/ppt/notesMasters/notesMaster1.xml" Id="Re03d5556f61c49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601b3c23f84c31" /><Relationship Type="http://schemas.openxmlformats.org/officeDocument/2006/relationships/notesMaster" Target="/ppt/notesMasters/notesMaster1.xml" Id="R487a41922e6c4f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2fa4ca108043a2" /><Relationship Type="http://schemas.openxmlformats.org/officeDocument/2006/relationships/notesMaster" Target="/ppt/notesMasters/notesMaster1.xml" Id="R0d4acfe7f7fd44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c1e38c81e347f6" /><Relationship Type="http://schemas.openxmlformats.org/officeDocument/2006/relationships/notesMaster" Target="/ppt/notesMasters/notesMaster1.xml" Id="R8c8d2b9f945b4e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3a2e469a59457d" /><Relationship Type="http://schemas.openxmlformats.org/officeDocument/2006/relationships/notesMaster" Target="/ppt/notesMasters/notesMaster1.xml" Id="Re4645d1799114d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Start with the hardware and construction-store beachhead. The warehouse image is the destination, not the first customer segment. Speaker 2 introduces Aneesh Gupta and Faizan Sheikh.</a:t>
            </a:r>
          </a:p>
          <a:p xmlns:a="http://schemas.openxmlformats.org/drawingml/2006/main">
            <a:r>
              <a:t/>
            </a:r>
          </a:p>
          <a:p xmlns:a="http://schemas.openxmlformats.org/drawingml/2006/main">
            <a:r>
              <a:t>[Sources]</a:t>
            </a:r>
          </a:p>
          <a:p xmlns:a="http://schemas.openxmlformats.org/drawingml/2006/main">
            <a:r>
              <a:t>- /Users/faizansheikh/ChhotuAI/README.md</a:t>
            </a:r>
          </a:p>
          <a:p xmlns:a="http://schemas.openxmlformats.org/drawingml/2006/main">
            <a:r>
              <a:t>- /Users/faizansheikh/ChhotuAI/frontend/index.html</a:t>
            </a:r>
          </a:p>
          <a:p xmlns:a="http://schemas.openxmlformats.org/drawingml/2006/main">
            <a:r>
              <a:t>- /Users/faizansheikh/ChhotuAI/ChhotuAI_Investor_Pitch.pptx (existing embedded OpenAI ImageGen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1: Our first market is not retail alone. MoSPI estimates 2.28 crore unincorporated trade establishments in 2023–24; trade covers wholesale and retail. Only 34.7% of trade establishments used the internet for entrepreneurial work. The Rs 55,244.31 crore figure is not the whole receivables market: it is the value of formal delayed-payment applications filed by micro and small enterprises on MSME Samadhaan through 31 December 2025. Together, the numbers show a very large operating base, uneven digitisation, and a costly credit problem.</a:t>
            </a:r>
          </a:p>
          <a:p xmlns:a="http://schemas.openxmlformats.org/drawingml/2006/main">
            <a:r>
              <a:t/>
            </a:r>
          </a:p>
          <a:p xmlns:a="http://schemas.openxmlformats.org/drawingml/2006/main">
            <a:r>
              <a:t>[Sources]</a:t>
            </a:r>
          </a:p>
          <a:p xmlns:a="http://schemas.openxmlformats.org/drawingml/2006/main">
            <a:r>
              <a:t>- https://mospi.gov.in/sites/default/files/publication_reports/ASUSE_2023_24_Full_Report-L.pdf</a:t>
            </a:r>
          </a:p>
          <a:p xmlns:a="http://schemas.openxmlformats.org/drawingml/2006/main">
            <a:r>
              <a:t>- https://msme.gov.in/sites/default/files/MSMEANNUALREPORT2025-26ENGLISH_0.pdf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Sarvam is the interaction layer we actually use. Saaras v3 converts multilingual and code-mixed speech into text. Samvaad carries the live conversation, interruptions, context, and grounded calls to our inventory, CRM, billing, and reporting tools. Bulbul v3 speaks the verified result back to the owner. In the fallback path, Chhotu.ai calls Saaras and Bulbul directly. For supplier documents, Sarvam Vision digitises images and PDFs; our backend then maps product, quantity, GST, freight, and cost to the shop catalogue and keeps a review gate before stock changes. We do not use a separate generic translation service in the live voice path: code-mixed transcription, transliteration, and English-normalised tool parameters keep backend actions reliable.</a:t>
            </a:r>
          </a:p>
          <a:p xmlns:a="http://schemas.openxmlformats.org/drawingml/2006/main">
            <a:r>
              <a:t/>
            </a:r>
          </a:p>
          <a:p xmlns:a="http://schemas.openxmlformats.org/drawingml/2006/main">
            <a:r>
              <a:t>[Sources]</a:t>
            </a:r>
          </a:p>
          <a:p xmlns:a="http://schemas.openxmlformats.org/drawingml/2006/main">
            <a:r>
              <a:t>- https://docs.sarvam.ai/api/getting-started/models</a:t>
            </a:r>
          </a:p>
          <a:p xmlns:a="http://schemas.openxmlformats.org/drawingml/2006/main">
            <a:r>
              <a:t>- https://docs.sarvam.ai/api/getting-started/models/saaras</a:t>
            </a:r>
          </a:p>
          <a:p xmlns:a="http://schemas.openxmlformats.org/drawingml/2006/main">
            <a:r>
              <a:t>- https://docs.sarvam.ai/api/getting-started/models/sarvam-vision</a:t>
            </a:r>
          </a:p>
          <a:p xmlns:a="http://schemas.openxmlformats.org/drawingml/2006/main">
            <a:r>
              <a:t>- https://docs.sarvam.ai/api/api-guides-tutorials/document-digitization/overview</a:t>
            </a:r>
          </a:p>
          <a:p xmlns:a="http://schemas.openxmlformats.org/drawingml/2006/main">
            <a:r>
              <a:t>- https://www.sarvam.ai/products/conversational-agents</a:t>
            </a:r>
          </a:p>
          <a:p xmlns:a="http://schemas.openxmlformats.org/drawingml/2006/main">
            <a:r>
              <a:t>- /Users/faizansheikh/ChhotuAI/backend/sarvam_client.py</a:t>
            </a:r>
          </a:p>
          <a:p xmlns:a="http://schemas.openxmlformats.org/drawingml/2006/main">
            <a:r>
              <a:t>- /Users/faizansheikh/ChhotuAI/backend/samvaad_runtime.py</a:t>
            </a:r>
          </a:p>
          <a:p xmlns:a="http://schemas.openxmlformats.org/drawingml/2006/main">
            <a:r>
              <a:t>- /Users/faizansheikh/ChhotuAI/frontend/src/samvaad.js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Everything on this slide is available in the current product: multilingual voice-led sales and purchases; inventory, stock and margin questions; customer credit and payment records; bills and reminders; and reviewed supplier-invoice digitisation. The grounded backend remains the system of record—Samvaad can request an action, but only validated tools write stock or money movements.</a:t>
            </a:r>
          </a:p>
          <a:p xmlns:a="http://schemas.openxmlformats.org/drawingml/2006/main">
            <a:r>
              <a:t/>
            </a:r>
          </a:p>
          <a:p xmlns:a="http://schemas.openxmlformats.org/drawingml/2006/main">
            <a:r>
              <a:t>[Sources]</a:t>
            </a:r>
          </a:p>
          <a:p xmlns:a="http://schemas.openxmlformats.org/drawingml/2006/main">
            <a:r>
              <a:t>- /Users/faizansheikh/ChhotuAI/README.md</a:t>
            </a:r>
          </a:p>
          <a:p xmlns:a="http://schemas.openxmlformats.org/drawingml/2006/main">
            <a:r>
              <a:t>- /Users/faizansheikh/ChhotuAI/frontend/index.html</a:t>
            </a:r>
          </a:p>
          <a:p xmlns:a="http://schemas.openxmlformats.org/drawingml/2006/main">
            <a:r>
              <a:t>- /Users/faizansheikh/ChhotuAI/backend/main.py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2: This slide is explicitly the roadmap. Order lifecycle and grounded Sarvam order tools are in development on the dev branch and are not a current production claim. Provider-managed deliveries, supplier restocking calls, invoice reconciliation and warehouse-scale fulfilment analytics are planned phases. A 'Hey Chhotu' wake word is a future concept: it should be opt-in and privacy-preserving, with an on-device trigger that starts a Samvaad session only after activation.</a:t>
            </a:r>
          </a:p>
          <a:p xmlns:a="http://schemas.openxmlformats.org/drawingml/2006/main">
            <a:r>
              <a:t/>
            </a:r>
          </a:p>
          <a:p xmlns:a="http://schemas.openxmlformats.org/drawingml/2006/main">
            <a:r>
              <a:t>[Sources]</a:t>
            </a:r>
          </a:p>
          <a:p xmlns:a="http://schemas.openxmlformats.org/drawingml/2006/main">
            <a:r>
              <a:t>- /Users/faizansheikh/ChhotuAI/docs/order-fulfilment-roadmap.md</a:t>
            </a:r>
          </a:p>
          <a:p xmlns:a="http://schemas.openxmlformats.org/drawingml/2006/main">
            <a:r>
              <a:t>- /Users/faizansheikh/ChhotuAI/README.md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53f82cdff64f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4dcdebc6ae45a8" /><Relationship Type="http://schemas.openxmlformats.org/officeDocument/2006/relationships/slideLayout" Target="/ppt/slideLayouts/slideLayout1.xml" Id="R29a639b1f2ea4b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a639b1f2ea4b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81fd6e658a444a" /><Relationship Type="http://schemas.openxmlformats.org/officeDocument/2006/relationships/image" Target="/ppt/media/image.png" Id="R3214d42bc2394fed" /><Relationship Type="http://schemas.openxmlformats.org/officeDocument/2006/relationships/image" Target="/ppt/media/image2.png" Id="Rac2fa249a5f24c5b" /><Relationship Type="http://schemas.openxmlformats.org/officeDocument/2006/relationships/image" Target="/ppt/media/image3.png" Id="Rc96ca138cafe4b66" /><Relationship Type="http://schemas.openxmlformats.org/officeDocument/2006/relationships/notesSlide" Target="/ppt/notesSlides/notesSlide1.xml" Id="R4fbfa98ef81745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18fe24c80b4a75" /><Relationship Type="http://schemas.openxmlformats.org/officeDocument/2006/relationships/image" Target="/ppt/media/image4.png" Id="R507c84bcc6b14fa2" /><Relationship Type="http://schemas.openxmlformats.org/officeDocument/2006/relationships/image" Target="/ppt/media/image5.png" Id="Re132a798efc94c06" /><Relationship Type="http://schemas.openxmlformats.org/officeDocument/2006/relationships/notesSlide" Target="/ppt/notesSlides/notesSlide2.xml" Id="R1dfeae6ffe7543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2b368b36cc4e26" /><Relationship Type="http://schemas.openxmlformats.org/officeDocument/2006/relationships/image" Target="/ppt/media/image6.png" Id="R166022ee76de47c2" /><Relationship Type="http://schemas.openxmlformats.org/officeDocument/2006/relationships/image" Target="/ppt/media/image7.png" Id="R7f8b80973f9d401c" /><Relationship Type="http://schemas.openxmlformats.org/officeDocument/2006/relationships/notesSlide" Target="/ppt/notesSlides/notesSlide3.xml" Id="Rfab1e71e2b9a42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b9617f3eaa4232" /><Relationship Type="http://schemas.openxmlformats.org/officeDocument/2006/relationships/image" Target="/ppt/media/image8.png" Id="R5d510ccced444cd8" /><Relationship Type="http://schemas.openxmlformats.org/officeDocument/2006/relationships/image" Target="/ppt/media/image9.png" Id="R006190b81be44ab8" /><Relationship Type="http://schemas.openxmlformats.org/officeDocument/2006/relationships/notesSlide" Target="/ppt/notesSlides/notesSlide4.xml" Id="R781dc3fa229a40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e7c478465d4231" /><Relationship Type="http://schemas.openxmlformats.org/officeDocument/2006/relationships/image" Target="/ppt/media/image10.png" Id="Rbea1e3e99ca948e0" /><Relationship Type="http://schemas.openxmlformats.org/officeDocument/2006/relationships/image" Target="/ppt/media/image11.png" Id="R83637e72e58d47b4" /><Relationship Type="http://schemas.openxmlformats.org/officeDocument/2006/relationships/notesSlide" Target="/ppt/notesSlides/notesSlide5.xml" Id="Ra4fd6fbe37574c9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3214d42bc2394fe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9DEA8B0-72D6-410E-B576-225492906D2D}"/>
              </a:ext>
            </a:extLst>
          </p:cNvPr>
          <p:cNvSpPr>
            <a:spLocks xmlns:a="http://schemas.openxmlformats.org/drawingml/2006/main" noGrp="1"/>
          </p:cNvSpPr>
          <p:nvPr/>
        </p:nvSpPr>
        <p:spPr>
          <a:xfrm xmlns:a="http://schemas.openxmlformats.org/drawingml/2006/main">
            <a:off x="495300" y="12192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6CF8BB"/>
                </a:solidFill>
                <a:latin typeface="Helvetica Neue"/>
                <a:ea typeface="Helvetica Neue"/>
                <a:cs typeface="Helvetica Neue"/>
              </a:defRPr>
            </a:pPr>
            <a:r>
              <a:rPr sz="1050" b="1">
                <a:solidFill>
                  <a:srgbClr val="6CF8BB"/>
                </a:solidFill>
                <a:latin typeface="Helvetica Neue"/>
                <a:ea typeface="Helvetica Neue"/>
                <a:cs typeface="Helvetica Neue"/>
              </a:rPr>
              <a:t>THE AI OPERATING SYSTEM FOR INDIA'S HARDWARE TRADE</a:t>
            </a:r>
          </a:p>
        </p:txBody>
      </p:sp>
      <p:sp>
        <p:nvSpPr>
          <p:cNvPr id="6" name="">
            <a:extLst xmlns:a="http://schemas.openxmlformats.org/drawingml/2006/main">
              <a:ext uri="{FF2B5EF4-FFF2-40B4-BE49-F238E27FC236}">
                <a16:creationId xmlns:a16="http://schemas.microsoft.com/office/drawing/2014/main" id="{D0527617-5FF0-4C96-8104-C820629C79D8}"/>
              </a:ext>
            </a:extLst>
          </p:cNvPr>
          <p:cNvSpPr>
            <a:spLocks xmlns:a="http://schemas.openxmlformats.org/drawingml/2006/main" noGrp="1"/>
          </p:cNvSpPr>
          <p:nvPr/>
        </p:nvSpPr>
        <p:spPr>
          <a:xfrm xmlns:a="http://schemas.openxmlformats.org/drawingml/2006/main">
            <a:off x="476250" y="1752600"/>
            <a:ext cx="533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2"/>
          </a:bodyPr>
          <a:lstStyle xmlns:a="http://schemas.openxmlformats.org/drawingml/2006/main"/>
          <a:p xmlns:a="http://schemas.openxmlformats.org/drawingml/2006/main">
            <a:pPr algn="l">
              <a:buNone/>
              <a:defRPr sz="4650" b="1">
                <a:solidFill>
                  <a:srgbClr val="F7FAF8"/>
                </a:solidFill>
                <a:latin typeface="Helvetica Neue"/>
                <a:ea typeface="Helvetica Neue"/>
                <a:cs typeface="Helvetica Neue"/>
              </a:defRPr>
            </a:pPr>
            <a:r>
              <a:rPr sz="4650" b="1">
                <a:solidFill>
                  <a:srgbClr val="F7FAF8"/>
                </a:solidFill>
                <a:latin typeface="Helvetica Neue"/>
                <a:ea typeface="Helvetica Neue"/>
                <a:cs typeface="Helvetica Neue"/>
              </a:rPr>
              <a:t>Your business</a:t>
            </a:r>
          </a:p>
        </p:txBody>
      </p:sp>
      <p:sp>
        <p:nvSpPr>
          <p:cNvPr id="7" name="">
            <a:extLst xmlns:a="http://schemas.openxmlformats.org/drawingml/2006/main">
              <a:ext uri="{FF2B5EF4-FFF2-40B4-BE49-F238E27FC236}">
                <a16:creationId xmlns:a16="http://schemas.microsoft.com/office/drawing/2014/main" id="{28E3960B-5776-476E-A941-039263333FCC}"/>
              </a:ext>
            </a:extLst>
          </p:cNvPr>
          <p:cNvSpPr>
            <a:spLocks xmlns:a="http://schemas.openxmlformats.org/drawingml/2006/main" noGrp="1"/>
          </p:cNvSpPr>
          <p:nvPr/>
        </p:nvSpPr>
        <p:spPr>
          <a:xfrm xmlns:a="http://schemas.openxmlformats.org/drawingml/2006/main">
            <a:off x="476250" y="2447925"/>
            <a:ext cx="533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62"/>
          </a:bodyPr>
          <a:lstStyle xmlns:a="http://schemas.openxmlformats.org/drawingml/2006/main"/>
          <a:p xmlns:a="http://schemas.openxmlformats.org/drawingml/2006/main">
            <a:pPr algn="l">
              <a:buNone/>
              <a:defRPr sz="4650" b="1">
                <a:solidFill>
                  <a:srgbClr val="79827D"/>
                </a:solidFill>
                <a:latin typeface="Helvetica Neue"/>
                <a:ea typeface="Helvetica Neue"/>
                <a:cs typeface="Helvetica Neue"/>
              </a:defRPr>
            </a:pPr>
            <a:r>
              <a:rPr sz="4650" b="1">
                <a:solidFill>
                  <a:srgbClr val="79827D"/>
                </a:solidFill>
                <a:latin typeface="Helvetica Neue"/>
                <a:ea typeface="Helvetica Neue"/>
                <a:cs typeface="Helvetica Neue"/>
              </a:rPr>
              <a:t>just learned</a:t>
            </a:r>
          </a:p>
        </p:txBody>
      </p:sp>
      <p:sp>
        <p:nvSpPr>
          <p:cNvPr id="8" name="">
            <a:extLst xmlns:a="http://schemas.openxmlformats.org/drawingml/2006/main">
              <a:ext uri="{FF2B5EF4-FFF2-40B4-BE49-F238E27FC236}">
                <a16:creationId xmlns:a16="http://schemas.microsoft.com/office/drawing/2014/main" id="{17946C83-2036-49E8-887B-D06697640A51}"/>
              </a:ext>
            </a:extLst>
          </p:cNvPr>
          <p:cNvSpPr>
            <a:spLocks xmlns:a="http://schemas.openxmlformats.org/drawingml/2006/main" noGrp="1"/>
          </p:cNvSpPr>
          <p:nvPr/>
        </p:nvSpPr>
        <p:spPr>
          <a:xfrm xmlns:a="http://schemas.openxmlformats.org/drawingml/2006/main">
            <a:off x="476250" y="3143250"/>
            <a:ext cx="476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5100" b="1">
                <a:solidFill>
                  <a:srgbClr val="6CF8BB"/>
                </a:solidFill>
                <a:latin typeface="Helvetica Neue"/>
                <a:ea typeface="Helvetica Neue"/>
                <a:cs typeface="Helvetica Neue"/>
              </a:defRPr>
            </a:pPr>
            <a:r>
              <a:rPr sz="5100" b="1">
                <a:solidFill>
                  <a:srgbClr val="6CF8BB"/>
                </a:solidFill>
                <a:latin typeface="Helvetica Neue"/>
                <a:ea typeface="Helvetica Neue"/>
                <a:cs typeface="Helvetica Neue"/>
              </a:rPr>
              <a:t>to listen.</a:t>
            </a:r>
          </a:p>
        </p:txBody>
      </p:sp>
      <p:sp>
        <p:nvSpPr>
          <p:cNvPr id="9" name="">
            <a:extLst xmlns:a="http://schemas.openxmlformats.org/drawingml/2006/main">
              <a:ext uri="{FF2B5EF4-FFF2-40B4-BE49-F238E27FC236}">
                <a16:creationId xmlns:a16="http://schemas.microsoft.com/office/drawing/2014/main" id="{C1F654FB-E953-4731-81C9-BFCE75A8CCD8}"/>
              </a:ext>
            </a:extLst>
          </p:cNvPr>
          <p:cNvSpPr>
            <a:spLocks xmlns:a="http://schemas.openxmlformats.org/drawingml/2006/main" noGrp="1"/>
          </p:cNvSpPr>
          <p:nvPr/>
        </p:nvSpPr>
        <p:spPr>
          <a:xfrm xmlns:a="http://schemas.openxmlformats.org/drawingml/2006/main">
            <a:off x="504825" y="40957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9CA59F"/>
                </a:solidFill>
                <a:latin typeface="Helvetica Neue"/>
                <a:ea typeface="Helvetica Neue"/>
                <a:cs typeface="Helvetica Neue"/>
              </a:defRPr>
            </a:pPr>
            <a:r>
              <a:rPr sz="1575" b="0">
                <a:solidFill>
                  <a:srgbClr val="9CA59F"/>
                </a:solidFill>
                <a:latin typeface="Helvetica Neue"/>
                <a:ea typeface="Helvetica Neue"/>
                <a:cs typeface="Helvetica Neue"/>
              </a:rPr>
              <a:t>Voice-first operations for hardware retailers, wholesalers and distributors.</a:t>
            </a:r>
          </a:p>
        </p:txBody>
      </p:sp>
      <p:cxnSp>
        <p:nvCxnSpPr>
          <p:cNvPr id="186" name=""/>
          <p:cNvCxnSpPr/>
          <p:nvPr/>
        </p:nvCxnSpPr>
        <p:spPr>
          <a:xfrm xmlns:a="http://schemas.openxmlformats.org/drawingml/2006/main">
            <a:off x="495300" y="5334000"/>
            <a:ext cx="4762500" cy="0"/>
          </a:xfrm>
          <a:prstGeom xmlns:a="http://schemas.openxmlformats.org/drawingml/2006/main" prst="straightConnector1">
            <a:avLst/>
          </a:prstGeom>
          <a:ln xmlns:a="http://schemas.openxmlformats.org/drawingml/2006/main" w="9525">
            <a:solidFill>
              <a:srgbClr val="35403A"/>
            </a:solidFill>
            <a:prstDash val="solid"/>
          </a:ln>
        </p:spPr>
      </p:cxnSp>
      <p:sp>
        <p:nvSpPr>
          <p:cNvPr id="11" name="">
            <a:extLst xmlns:a="http://schemas.openxmlformats.org/drawingml/2006/main">
              <a:ext uri="{FF2B5EF4-FFF2-40B4-BE49-F238E27FC236}">
                <a16:creationId xmlns:a16="http://schemas.microsoft.com/office/drawing/2014/main" id="{E86AA560-1F6C-4F65-A89A-E2A5F83B8A44}"/>
              </a:ext>
            </a:extLst>
          </p:cNvPr>
          <p:cNvSpPr>
            <a:spLocks xmlns:a="http://schemas.openxmlformats.org/drawingml/2006/main" noGrp="1"/>
          </p:cNvSpPr>
          <p:nvPr/>
        </p:nvSpPr>
        <p:spPr>
          <a:xfrm xmlns:a="http://schemas.openxmlformats.org/drawingml/2006/main">
            <a:off x="495300" y="554355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FFB34D"/>
                </a:solidFill>
                <a:latin typeface="Helvetica Neue"/>
                <a:ea typeface="Helvetica Neue"/>
                <a:cs typeface="Helvetica Neue"/>
              </a:defRPr>
            </a:pPr>
            <a:r>
              <a:rPr sz="825" b="1">
                <a:solidFill>
                  <a:srgbClr val="FFB34D"/>
                </a:solidFill>
                <a:latin typeface="Helvetica Neue"/>
                <a:ea typeface="Helvetica Neue"/>
                <a:cs typeface="Helvetica Neue"/>
              </a:rPr>
              <a:t>TEAM</a:t>
            </a:r>
          </a:p>
        </p:txBody>
      </p:sp>
      <p:sp>
        <p:nvSpPr>
          <p:cNvPr id="12" name="">
            <a:extLst xmlns:a="http://schemas.openxmlformats.org/drawingml/2006/main">
              <a:ext uri="{FF2B5EF4-FFF2-40B4-BE49-F238E27FC236}">
                <a16:creationId xmlns:a16="http://schemas.microsoft.com/office/drawing/2014/main" id="{041388A9-6AA3-4D22-B99F-12D0F3CB8418}"/>
              </a:ext>
            </a:extLst>
          </p:cNvPr>
          <p:cNvSpPr>
            <a:spLocks xmlns:a="http://schemas.openxmlformats.org/drawingml/2006/main" noGrp="1"/>
          </p:cNvSpPr>
          <p:nvPr/>
        </p:nvSpPr>
        <p:spPr>
          <a:xfrm xmlns:a="http://schemas.openxmlformats.org/drawingml/2006/main">
            <a:off x="495300" y="5810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7FAF8"/>
                </a:solidFill>
                <a:latin typeface="Helvetica Neue"/>
                <a:ea typeface="Helvetica Neue"/>
                <a:cs typeface="Helvetica Neue"/>
              </a:defRPr>
            </a:pPr>
            <a:r>
              <a:rPr sz="1500" b="1">
                <a:solidFill>
                  <a:srgbClr val="F7FAF8"/>
                </a:solidFill>
                <a:latin typeface="Helvetica Neue"/>
                <a:ea typeface="Helvetica Neue"/>
                <a:cs typeface="Helvetica Neue"/>
              </a:rPr>
              <a:t>Aneesh Gupta</a:t>
            </a:r>
          </a:p>
        </p:txBody>
      </p:sp>
      <p:sp>
        <p:nvSpPr>
          <p:cNvPr id="13" name="">
            <a:extLst xmlns:a="http://schemas.openxmlformats.org/drawingml/2006/main">
              <a:ext uri="{FF2B5EF4-FFF2-40B4-BE49-F238E27FC236}">
                <a16:creationId xmlns:a16="http://schemas.microsoft.com/office/drawing/2014/main" id="{49609BFB-B16A-47B2-9B71-258C4F5A28C1}"/>
              </a:ext>
            </a:extLst>
          </p:cNvPr>
          <p:cNvSpPr>
            <a:spLocks xmlns:a="http://schemas.openxmlformats.org/drawingml/2006/main" noGrp="1"/>
          </p:cNvSpPr>
          <p:nvPr/>
        </p:nvSpPr>
        <p:spPr>
          <a:xfrm xmlns:a="http://schemas.openxmlformats.org/drawingml/2006/main">
            <a:off x="2714625" y="5810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7FAF8"/>
                </a:solidFill>
                <a:latin typeface="Helvetica Neue"/>
                <a:ea typeface="Helvetica Neue"/>
                <a:cs typeface="Helvetica Neue"/>
              </a:defRPr>
            </a:pPr>
            <a:r>
              <a:rPr sz="1500" b="1">
                <a:solidFill>
                  <a:srgbClr val="F7FAF8"/>
                </a:solidFill>
                <a:latin typeface="Helvetica Neue"/>
                <a:ea typeface="Helvetica Neue"/>
                <a:cs typeface="Helvetica Neue"/>
              </a:rPr>
              <a:t>Faizan Sheikh</a:t>
            </a:r>
          </a:p>
        </p:txBody>
      </p:sp>
      <p:sp>
        <p:nvSpPr>
          <p:cNvPr id="14" name="">
            <a:extLst xmlns:a="http://schemas.openxmlformats.org/drawingml/2006/main">
              <a:ext uri="{FF2B5EF4-FFF2-40B4-BE49-F238E27FC236}">
                <a16:creationId xmlns:a16="http://schemas.microsoft.com/office/drawing/2014/main" id="{EAD682D9-DD20-4871-A38E-DF61787EC2F4}"/>
              </a:ext>
            </a:extLst>
          </p:cNvPr>
          <p:cNvSpPr>
            <a:spLocks xmlns:a="http://schemas.openxmlformats.org/drawingml/2006/main" noGrp="1"/>
          </p:cNvSpPr>
          <p:nvPr/>
        </p:nvSpPr>
        <p:spPr>
          <a:xfrm xmlns:a="http://schemas.openxmlformats.org/drawingml/2006/main">
            <a:off x="9620250" y="45720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1">
                <a:solidFill>
                  <a:srgbClr val="FFB34D"/>
                </a:solidFill>
                <a:latin typeface="Helvetica Neue"/>
                <a:ea typeface="Helvetica Neue"/>
                <a:cs typeface="Helvetica Neue"/>
              </a:defRPr>
            </a:pPr>
            <a:r>
              <a:rPr sz="825" b="1">
                <a:solidFill>
                  <a:srgbClr val="FFB34D"/>
                </a:solidFill>
                <a:latin typeface="Helvetica Neue"/>
                <a:ea typeface="Helvetica Neue"/>
                <a:cs typeface="Helvetica Neue"/>
              </a:rPr>
              <a:t>INVESTOR / JURY PITCH</a:t>
            </a:r>
          </a:p>
        </p:txBody>
      </p:sp>
      <p:pic>
        <p:nvPicPr>
          <p:cNvPr id="191" name=""/>
          <p:cNvPicPr>
            <a:picLocks xmlns:a="http://schemas.openxmlformats.org/drawingml/2006/main" noChangeAspect="1"/>
          </p:cNvPicPr>
          <p:nvPr/>
        </p:nvPicPr>
        <p:blipFill>
          <a:blip xmlns:r="http://schemas.openxmlformats.org/officeDocument/2006/relationships" xmlns:a="http://schemas.openxmlformats.org/drawingml/2006/main" r:embed="Rac2fa249a5f24c5b"/>
          <a:stretch xmlns:a="http://schemas.openxmlformats.org/drawingml/2006/main"/>
        </p:blipFill>
        <p:spPr>
          <a:xfrm xmlns:a="http://schemas.openxmlformats.org/drawingml/2006/main">
            <a:off x="476250" y="342900"/>
            <a:ext cx="266700" cy="266700"/>
          </a:xfrm>
          <a:prstGeom xmlns:a="http://schemas.openxmlformats.org/drawingml/2006/main" prst="rect">
            <a:avLst/>
          </a:prstGeom>
        </p:spPr>
      </p:pic>
      <p:pic>
        <p:nvPicPr>
          <p:cNvPr id="192" name=""/>
          <p:cNvPicPr>
            <a:picLocks xmlns:a="http://schemas.openxmlformats.org/drawingml/2006/main" noChangeAspect="1"/>
          </p:cNvPicPr>
          <p:nvPr/>
        </p:nvPicPr>
        <p:blipFill>
          <a:blip xmlns:r="http://schemas.openxmlformats.org/officeDocument/2006/relationships" xmlns:a="http://schemas.openxmlformats.org/drawingml/2006/main" r:embed="Rc96ca138cafe4b66"/>
          <a:stretch xmlns:a="http://schemas.openxmlformats.org/drawingml/2006/main"/>
        </p:blipFill>
        <p:spPr>
          <a:xfrm xmlns:a="http://schemas.openxmlformats.org/drawingml/2006/main">
            <a:off x="476250" y="342900"/>
            <a:ext cx="266700" cy="266700"/>
          </a:xfrm>
          <a:prstGeom xmlns:a="http://schemas.openxmlformats.org/drawingml/2006/main" prst="rect">
            <a:avLst/>
          </a:prstGeom>
        </p:spPr>
      </p:pic>
      <p:sp>
        <p:nvSpPr>
          <p:cNvPr id="179" name="Chhotu.ai wordmark">
            <a:extLst xmlns:a="http://schemas.openxmlformats.org/drawingml/2006/main">
              <a:ext uri="{FF2B5EF4-FFF2-40B4-BE49-F238E27FC236}">
                <a16:creationId xmlns:a16="http://schemas.microsoft.com/office/drawing/2014/main" id="{445CBE6C-9076-4D4F-90A6-061AB05FA3D7}"/>
              </a:ext>
            </a:extLst>
          </p:cNvPr>
          <p:cNvSpPr>
            <a:spLocks xmlns:a="http://schemas.openxmlformats.org/drawingml/2006/main" noGrp="1"/>
          </p:cNvSpPr>
          <p:nvPr/>
        </p:nvSpPr>
        <p:spPr>
          <a:xfrm xmlns:a="http://schemas.openxmlformats.org/drawingml/2006/main">
            <a:off x="800100" y="314325"/>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00">
                <a:latin typeface="Arial"/>
                <a:ea typeface="Arial"/>
                <a:cs typeface="Arial"/>
              </a:defRPr>
            </a:pPr>
            <a:r>
              <a:rPr sz="1500" b="1">
                <a:solidFill>
                  <a:srgbClr val="F7F8F8"/>
                </a:solidFill>
                <a:latin typeface="Arial"/>
                <a:ea typeface="Arial"/>
                <a:cs typeface="Arial"/>
              </a:rPr>
              <a:t>Chhotu</a:t>
            </a:r>
            <a:r>
              <a:rPr sz="1500" b="1">
                <a:solidFill>
                  <a:srgbClr val="59F2BC"/>
                </a:solidFill>
                <a:latin typeface="Arial"/>
                <a:ea typeface="Arial"/>
                <a:cs typeface="Arial"/>
              </a:rPr>
              <a:t>.ai</a:t>
            </a:r>
          </a:p>
        </p:txBody>
      </p:sp>
    </p:spTree>
    <p:extLst>
      <p:ext uri="{BB962C8B-B14F-4D97-AF65-F5344CB8AC3E}">
        <p14:creationId xmlns:p14="http://schemas.microsoft.com/office/powerpoint/2010/main" val="1104339199"/>
      </p:ext>
    </p:extLst>
  </p:cSld>
</p:sld>
</file>

<file path=ppt/slides/slide2.xml><?xml version="1.0" encoding="utf-8"?>
<p:sld xmlns:p="http://schemas.openxmlformats.org/presentationml/2006/main">
  <p:cSld>
    <p:bg>
      <p:bgPr>
        <a:solidFill xmlns:a="http://schemas.openxmlformats.org/drawingml/2006/main">
          <a:srgbClr val="090B0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BF1DADD-43DA-4FED-9A98-CB6355DB1E84}"/>
              </a:ext>
            </a:extLst>
          </p:cNvPr>
          <p:cNvSpPr>
            <a:spLocks xmlns:a="http://schemas.openxmlformats.org/drawingml/2006/main" noGrp="1"/>
          </p:cNvSpPr>
          <p:nvPr/>
        </p:nvSpPr>
        <p:spPr>
          <a:xfrm xmlns:a="http://schemas.openxmlformats.org/drawingml/2006/main">
            <a:off x="476250" y="1066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B34D"/>
                </a:solidFill>
                <a:latin typeface="Helvetica Neue"/>
                <a:ea typeface="Helvetica Neue"/>
                <a:cs typeface="Helvetica Neue"/>
              </a:defRPr>
            </a:pPr>
            <a:r>
              <a:rPr sz="900" b="1">
                <a:solidFill>
                  <a:srgbClr val="FFB34D"/>
                </a:solidFill>
                <a:latin typeface="Helvetica Neue"/>
                <a:ea typeface="Helvetica Neue"/>
                <a:cs typeface="Helvetica Neue"/>
              </a:rPr>
              <a:t>THE TRADE REALITY</a:t>
            </a:r>
          </a:p>
        </p:txBody>
      </p:sp>
      <p:sp>
        <p:nvSpPr>
          <p:cNvPr id="5" name="">
            <a:extLst xmlns:a="http://schemas.openxmlformats.org/drawingml/2006/main">
              <a:ext uri="{FF2B5EF4-FFF2-40B4-BE49-F238E27FC236}">
                <a16:creationId xmlns:a16="http://schemas.microsoft.com/office/drawing/2014/main" id="{1B998FAF-E5FB-4AF5-BD42-4A356C91DBC0}"/>
              </a:ext>
            </a:extLst>
          </p:cNvPr>
          <p:cNvSpPr>
            <a:spLocks xmlns:a="http://schemas.openxmlformats.org/drawingml/2006/main" noGrp="1"/>
          </p:cNvSpPr>
          <p:nvPr/>
        </p:nvSpPr>
        <p:spPr>
          <a:xfrm xmlns:a="http://schemas.openxmlformats.org/drawingml/2006/main">
            <a:off x="476250" y="1381125"/>
            <a:ext cx="952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F7FAF8"/>
                </a:solidFill>
                <a:latin typeface="Helvetica Neue"/>
                <a:ea typeface="Helvetica Neue"/>
                <a:cs typeface="Helvetica Neue"/>
              </a:defRPr>
            </a:pPr>
            <a:r>
              <a:rPr sz="3000" b="1">
                <a:solidFill>
                  <a:srgbClr val="F7FAF8"/>
                </a:solidFill>
                <a:latin typeface="Helvetica Neue"/>
                <a:ea typeface="Helvetica Neue"/>
                <a:cs typeface="Helvetica Neue"/>
              </a:rPr>
              <a:t>Trade moves fast. Records still lag.</a:t>
            </a:r>
          </a:p>
        </p:txBody>
      </p:sp>
      <p:sp>
        <p:nvSpPr>
          <p:cNvPr id="6" name="">
            <a:extLst xmlns:a="http://schemas.openxmlformats.org/drawingml/2006/main">
              <a:ext uri="{FF2B5EF4-FFF2-40B4-BE49-F238E27FC236}">
                <a16:creationId xmlns:a16="http://schemas.microsoft.com/office/drawing/2014/main" id="{D52F71CD-CD68-472D-B87B-5FA96953EBE2}"/>
              </a:ext>
            </a:extLst>
          </p:cNvPr>
          <p:cNvSpPr>
            <a:spLocks xmlns:a="http://schemas.openxmlformats.org/drawingml/2006/main" noGrp="1"/>
          </p:cNvSpPr>
          <p:nvPr/>
        </p:nvSpPr>
        <p:spPr>
          <a:xfrm xmlns:a="http://schemas.openxmlformats.org/drawingml/2006/main">
            <a:off x="476250" y="2095500"/>
            <a:ext cx="319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6CF8BB"/>
                </a:solidFill>
                <a:latin typeface="Helvetica Neue"/>
                <a:ea typeface="Helvetica Neue"/>
                <a:cs typeface="Helvetica Neue"/>
              </a:defRPr>
            </a:pPr>
            <a:r>
              <a:rPr sz="3000" b="1">
                <a:solidFill>
                  <a:srgbClr val="6CF8BB"/>
                </a:solidFill>
                <a:latin typeface="Helvetica Neue"/>
                <a:ea typeface="Helvetica Neue"/>
                <a:cs typeface="Helvetica Neue"/>
              </a:rPr>
              <a:t>2.28 crore</a:t>
            </a:r>
          </a:p>
        </p:txBody>
      </p:sp>
      <p:sp>
        <p:nvSpPr>
          <p:cNvPr id="7" name="">
            <a:extLst xmlns:a="http://schemas.openxmlformats.org/drawingml/2006/main">
              <a:ext uri="{FF2B5EF4-FFF2-40B4-BE49-F238E27FC236}">
                <a16:creationId xmlns:a16="http://schemas.microsoft.com/office/drawing/2014/main" id="{4B524CF0-8E93-43D2-B8A8-E49CD9154BE6}"/>
              </a:ext>
            </a:extLst>
          </p:cNvPr>
          <p:cNvSpPr>
            <a:spLocks xmlns:a="http://schemas.openxmlformats.org/drawingml/2006/main" noGrp="1"/>
          </p:cNvSpPr>
          <p:nvPr/>
        </p:nvSpPr>
        <p:spPr>
          <a:xfrm xmlns:a="http://schemas.openxmlformats.org/drawingml/2006/main">
            <a:off x="476250" y="2647950"/>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9CA59F"/>
                </a:solidFill>
                <a:latin typeface="Helvetica Neue"/>
                <a:ea typeface="Helvetica Neue"/>
                <a:cs typeface="Helvetica Neue"/>
              </a:defRPr>
            </a:pPr>
            <a:r>
              <a:rPr sz="1200" b="0">
                <a:solidFill>
                  <a:srgbClr val="9CA59F"/>
                </a:solidFill>
                <a:latin typeface="Helvetica Neue"/>
                <a:ea typeface="Helvetica Neue"/>
                <a:cs typeface="Helvetica Neue"/>
              </a:rPr>
              <a:t>trade establishments</a:t>
            </a:r>
          </a:p>
        </p:txBody>
      </p:sp>
      <p:cxnSp>
        <p:nvCxnSpPr>
          <p:cNvPr id="192" name=""/>
          <p:cNvCxnSpPr/>
          <p:nvPr/>
        </p:nvCxnSpPr>
        <p:spPr>
          <a:xfrm xmlns:a="http://schemas.openxmlformats.org/drawingml/2006/main">
            <a:off x="4095750" y="2190750"/>
            <a:ext cx="9525" cy="0"/>
          </a:xfrm>
          <a:prstGeom xmlns:a="http://schemas.openxmlformats.org/drawingml/2006/main" prst="straightConnector1">
            <a:avLst/>
          </a:prstGeom>
          <a:ln xmlns:a="http://schemas.openxmlformats.org/drawingml/2006/main" w="9525">
            <a:solidFill>
              <a:srgbClr val="303835"/>
            </a:solidFill>
            <a:prstDash val="solid"/>
          </a:ln>
        </p:spPr>
      </p:cxnSp>
      <p:sp>
        <p:nvSpPr>
          <p:cNvPr id="9" name="">
            <a:extLst xmlns:a="http://schemas.openxmlformats.org/drawingml/2006/main">
              <a:ext uri="{FF2B5EF4-FFF2-40B4-BE49-F238E27FC236}">
                <a16:creationId xmlns:a16="http://schemas.microsoft.com/office/drawing/2014/main" id="{30B146CC-B12F-48EB-97B6-28A429ADE5D9}"/>
              </a:ext>
            </a:extLst>
          </p:cNvPr>
          <p:cNvSpPr>
            <a:spLocks xmlns:a="http://schemas.openxmlformats.org/drawingml/2006/main" noGrp="1"/>
          </p:cNvSpPr>
          <p:nvPr/>
        </p:nvSpPr>
        <p:spPr>
          <a:xfrm xmlns:a="http://schemas.openxmlformats.org/drawingml/2006/main">
            <a:off x="4333875" y="2095500"/>
            <a:ext cx="319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6CF8BB"/>
                </a:solidFill>
                <a:latin typeface="Helvetica Neue"/>
                <a:ea typeface="Helvetica Neue"/>
                <a:cs typeface="Helvetica Neue"/>
              </a:defRPr>
            </a:pPr>
            <a:r>
              <a:rPr sz="3000" b="1">
                <a:solidFill>
                  <a:srgbClr val="6CF8BB"/>
                </a:solidFill>
                <a:latin typeface="Helvetica Neue"/>
                <a:ea typeface="Helvetica Neue"/>
                <a:cs typeface="Helvetica Neue"/>
              </a:rPr>
              <a:t>34.7%</a:t>
            </a:r>
          </a:p>
        </p:txBody>
      </p:sp>
      <p:sp>
        <p:nvSpPr>
          <p:cNvPr id="10" name="">
            <a:extLst xmlns:a="http://schemas.openxmlformats.org/drawingml/2006/main">
              <a:ext uri="{FF2B5EF4-FFF2-40B4-BE49-F238E27FC236}">
                <a16:creationId xmlns:a16="http://schemas.microsoft.com/office/drawing/2014/main" id="{A523E032-B78F-4D65-9B44-AAAA4068A970}"/>
              </a:ext>
            </a:extLst>
          </p:cNvPr>
          <p:cNvSpPr>
            <a:spLocks xmlns:a="http://schemas.openxmlformats.org/drawingml/2006/main" noGrp="1"/>
          </p:cNvSpPr>
          <p:nvPr/>
        </p:nvSpPr>
        <p:spPr>
          <a:xfrm xmlns:a="http://schemas.openxmlformats.org/drawingml/2006/main">
            <a:off x="4333875" y="2647950"/>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9CA59F"/>
                </a:solidFill>
                <a:latin typeface="Helvetica Neue"/>
                <a:ea typeface="Helvetica Neue"/>
                <a:cs typeface="Helvetica Neue"/>
              </a:defRPr>
            </a:pPr>
            <a:r>
              <a:rPr sz="1200" b="0">
                <a:solidFill>
                  <a:srgbClr val="9CA59F"/>
                </a:solidFill>
                <a:latin typeface="Helvetica Neue"/>
                <a:ea typeface="Helvetica Neue"/>
                <a:cs typeface="Helvetica Neue"/>
              </a:rPr>
              <a:t>trade establishments using internet</a:t>
            </a:r>
          </a:p>
        </p:txBody>
      </p:sp>
      <p:cxnSp>
        <p:nvCxnSpPr>
          <p:cNvPr id="195" name=""/>
          <p:cNvCxnSpPr/>
          <p:nvPr/>
        </p:nvCxnSpPr>
        <p:spPr>
          <a:xfrm xmlns:a="http://schemas.openxmlformats.org/drawingml/2006/main">
            <a:off x="7953375" y="2190750"/>
            <a:ext cx="9525" cy="0"/>
          </a:xfrm>
          <a:prstGeom xmlns:a="http://schemas.openxmlformats.org/drawingml/2006/main" prst="straightConnector1">
            <a:avLst/>
          </a:prstGeom>
          <a:ln xmlns:a="http://schemas.openxmlformats.org/drawingml/2006/main" w="9525">
            <a:solidFill>
              <a:srgbClr val="303835"/>
            </a:solidFill>
            <a:prstDash val="solid"/>
          </a:ln>
        </p:spPr>
      </p:cxnSp>
      <p:sp>
        <p:nvSpPr>
          <p:cNvPr id="12" name="">
            <a:extLst xmlns:a="http://schemas.openxmlformats.org/drawingml/2006/main">
              <a:ext uri="{FF2B5EF4-FFF2-40B4-BE49-F238E27FC236}">
                <a16:creationId xmlns:a16="http://schemas.microsoft.com/office/drawing/2014/main" id="{BFA5A0EC-510E-4788-8A4B-64B6726987DD}"/>
              </a:ext>
            </a:extLst>
          </p:cNvPr>
          <p:cNvSpPr>
            <a:spLocks xmlns:a="http://schemas.openxmlformats.org/drawingml/2006/main" noGrp="1"/>
          </p:cNvSpPr>
          <p:nvPr/>
        </p:nvSpPr>
        <p:spPr>
          <a:xfrm xmlns:a="http://schemas.openxmlformats.org/drawingml/2006/main">
            <a:off x="8191500" y="2095500"/>
            <a:ext cx="319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FFB34D"/>
                </a:solidFill>
                <a:latin typeface="Helvetica Neue"/>
                <a:ea typeface="Helvetica Neue"/>
                <a:cs typeface="Helvetica Neue"/>
              </a:defRPr>
            </a:pPr>
            <a:r>
              <a:rPr sz="3000" b="1">
                <a:solidFill>
                  <a:srgbClr val="FFB34D"/>
                </a:solidFill>
                <a:latin typeface="Helvetica Neue"/>
                <a:ea typeface="Helvetica Neue"/>
                <a:cs typeface="Helvetica Neue"/>
              </a:rPr>
              <a:t>₹55,244 cr</a:t>
            </a:r>
          </a:p>
        </p:txBody>
      </p:sp>
      <p:sp>
        <p:nvSpPr>
          <p:cNvPr id="13" name="">
            <a:extLst xmlns:a="http://schemas.openxmlformats.org/drawingml/2006/main">
              <a:ext uri="{FF2B5EF4-FFF2-40B4-BE49-F238E27FC236}">
                <a16:creationId xmlns:a16="http://schemas.microsoft.com/office/drawing/2014/main" id="{B4DBD1A7-D1F1-48D6-A3D4-0724A65CA563}"/>
              </a:ext>
            </a:extLst>
          </p:cNvPr>
          <p:cNvSpPr>
            <a:spLocks xmlns:a="http://schemas.openxmlformats.org/drawingml/2006/main" noGrp="1"/>
          </p:cNvSpPr>
          <p:nvPr/>
        </p:nvSpPr>
        <p:spPr>
          <a:xfrm xmlns:a="http://schemas.openxmlformats.org/drawingml/2006/main">
            <a:off x="8191500" y="2647950"/>
            <a:ext cx="3095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9CA59F"/>
                </a:solidFill>
                <a:latin typeface="Helvetica Neue"/>
                <a:ea typeface="Helvetica Neue"/>
                <a:cs typeface="Helvetica Neue"/>
              </a:defRPr>
            </a:pPr>
            <a:r>
              <a:rPr sz="1200" b="0">
                <a:solidFill>
                  <a:srgbClr val="9CA59F"/>
                </a:solidFill>
                <a:latin typeface="Helvetica Neue"/>
                <a:ea typeface="Helvetica Neue"/>
                <a:cs typeface="Helvetica Neue"/>
              </a:rPr>
              <a:t>delayed-payment claims filed by MSEs</a:t>
            </a:r>
          </a:p>
        </p:txBody>
      </p:sp>
      <p:sp>
        <p:nvSpPr>
          <p:cNvPr id="14" name="">
            <a:extLst xmlns:a="http://schemas.openxmlformats.org/drawingml/2006/main">
              <a:ext uri="{FF2B5EF4-FFF2-40B4-BE49-F238E27FC236}">
                <a16:creationId xmlns:a16="http://schemas.microsoft.com/office/drawing/2014/main" id="{4BB4C6F2-B40A-41D8-A768-DA0D8CAA5C74}"/>
              </a:ext>
            </a:extLst>
          </p:cNvPr>
          <p:cNvSpPr>
            <a:spLocks xmlns:a="http://schemas.openxmlformats.org/drawingml/2006/main" noGrp="1"/>
          </p:cNvSpPr>
          <p:nvPr/>
        </p:nvSpPr>
        <p:spPr>
          <a:xfrm xmlns:a="http://schemas.openxmlformats.org/drawingml/2006/main">
            <a:off x="476250" y="3333750"/>
            <a:ext cx="5334000" cy="2571750"/>
          </a:xfrm>
          <a:prstGeom xmlns:a="http://schemas.openxmlformats.org/drawingml/2006/main" prst="roundRect">
            <a:avLst>
              <a:gd name="adj" fmla="val 6667"/>
            </a:avLst>
          </a:prstGeom>
          <a:solidFill xmlns:a="http://schemas.openxmlformats.org/drawingml/2006/main">
            <a:srgbClr val="111514"/>
          </a:solidFill>
          <a:ln xmlns:a="http://schemas.openxmlformats.org/drawingml/2006/main" w="9525">
            <a:solidFill>
              <a:srgbClr val="28302C"/>
            </a:solidFill>
            <a:prstDash val="solid"/>
          </a:ln>
        </p:spPr>
      </p:sp>
      <p:sp>
        <p:nvSpPr>
          <p:cNvPr id="15" name="">
            <a:extLst xmlns:a="http://schemas.openxmlformats.org/drawingml/2006/main">
              <a:ext uri="{FF2B5EF4-FFF2-40B4-BE49-F238E27FC236}">
                <a16:creationId xmlns:a16="http://schemas.microsoft.com/office/drawing/2014/main" id="{9E6416A9-55BE-48E5-9799-C9634D72A6B6}"/>
              </a:ext>
            </a:extLst>
          </p:cNvPr>
          <p:cNvSpPr>
            <a:spLocks xmlns:a="http://schemas.openxmlformats.org/drawingml/2006/main" noGrp="1"/>
          </p:cNvSpPr>
          <p:nvPr/>
        </p:nvSpPr>
        <p:spPr>
          <a:xfrm xmlns:a="http://schemas.openxmlformats.org/drawingml/2006/main">
            <a:off x="6191250" y="3333750"/>
            <a:ext cx="5524500" cy="2571750"/>
          </a:xfrm>
          <a:prstGeom xmlns:a="http://schemas.openxmlformats.org/drawingml/2006/main" prst="roundRect">
            <a:avLst>
              <a:gd name="adj" fmla="val 6667"/>
            </a:avLst>
          </a:prstGeom>
          <a:solidFill xmlns:a="http://schemas.openxmlformats.org/drawingml/2006/main">
            <a:srgbClr val="101B17"/>
          </a:solidFill>
          <a:ln xmlns:a="http://schemas.openxmlformats.org/drawingml/2006/main" w="9525">
            <a:solidFill>
              <a:srgbClr val="285643"/>
            </a:solidFill>
            <a:prstDash val="solid"/>
          </a:ln>
        </p:spPr>
      </p:sp>
      <p:sp>
        <p:nvSpPr>
          <p:cNvPr id="16" name="">
            <a:extLst xmlns:a="http://schemas.openxmlformats.org/drawingml/2006/main">
              <a:ext uri="{FF2B5EF4-FFF2-40B4-BE49-F238E27FC236}">
                <a16:creationId xmlns:a16="http://schemas.microsoft.com/office/drawing/2014/main" id="{5B3126F8-4A96-4851-B83D-CE51656EBC52}"/>
              </a:ext>
            </a:extLst>
          </p:cNvPr>
          <p:cNvSpPr>
            <a:spLocks xmlns:a="http://schemas.openxmlformats.org/drawingml/2006/main" noGrp="1"/>
          </p:cNvSpPr>
          <p:nvPr/>
        </p:nvSpPr>
        <p:spPr>
          <a:xfrm xmlns:a="http://schemas.openxmlformats.org/drawingml/2006/main">
            <a:off x="762000" y="36385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B34D"/>
                </a:solidFill>
                <a:latin typeface="Helvetica Neue"/>
                <a:ea typeface="Helvetica Neue"/>
                <a:cs typeface="Helvetica Neue"/>
              </a:defRPr>
            </a:pPr>
            <a:r>
              <a:rPr sz="900" b="1">
                <a:solidFill>
                  <a:srgbClr val="FFB34D"/>
                </a:solidFill>
                <a:latin typeface="Helvetica Neue"/>
                <a:ea typeface="Helvetica Neue"/>
                <a:cs typeface="Helvetica Neue"/>
              </a:rPr>
              <a:t>RETAIL • WHOLESALE • DISTRIBUTION</a:t>
            </a:r>
          </a:p>
        </p:txBody>
      </p:sp>
      <p:sp>
        <p:nvSpPr>
          <p:cNvPr id="17" name="">
            <a:extLst xmlns:a="http://schemas.openxmlformats.org/drawingml/2006/main">
              <a:ext uri="{FF2B5EF4-FFF2-40B4-BE49-F238E27FC236}">
                <a16:creationId xmlns:a16="http://schemas.microsoft.com/office/drawing/2014/main" id="{297F7369-F3C1-4DBC-876F-1C3006D82DB3}"/>
              </a:ext>
            </a:extLst>
          </p:cNvPr>
          <p:cNvSpPr>
            <a:spLocks xmlns:a="http://schemas.openxmlformats.org/drawingml/2006/main" noGrp="1"/>
          </p:cNvSpPr>
          <p:nvPr/>
        </p:nvSpPr>
        <p:spPr>
          <a:xfrm xmlns:a="http://schemas.openxmlformats.org/drawingml/2006/main">
            <a:off x="762000" y="4048125"/>
            <a:ext cx="4191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Variants in notebooks.</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Credit across parties.</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Stock split across counter + godown.</a:t>
            </a:r>
          </a:p>
        </p:txBody>
      </p:sp>
      <p:sp>
        <p:nvSpPr>
          <p:cNvPr id="18" name="">
            <a:extLst xmlns:a="http://schemas.openxmlformats.org/drawingml/2006/main">
              <a:ext uri="{FF2B5EF4-FFF2-40B4-BE49-F238E27FC236}">
                <a16:creationId xmlns:a16="http://schemas.microsoft.com/office/drawing/2014/main" id="{42D931A3-74D7-40F6-B3F2-76D295DCE3A1}"/>
              </a:ext>
            </a:extLst>
          </p:cNvPr>
          <p:cNvSpPr>
            <a:spLocks xmlns:a="http://schemas.openxmlformats.org/drawingml/2006/main" noGrp="1"/>
          </p:cNvSpPr>
          <p:nvPr/>
        </p:nvSpPr>
        <p:spPr>
          <a:xfrm xmlns:a="http://schemas.openxmlformats.org/drawingml/2006/main">
            <a:off x="6477000" y="36385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6CF8BB"/>
                </a:solidFill>
                <a:latin typeface="Helvetica Neue"/>
                <a:ea typeface="Helvetica Neue"/>
                <a:cs typeface="Helvetica Neue"/>
              </a:defRPr>
            </a:pPr>
            <a:r>
              <a:rPr sz="900" b="1">
                <a:solidFill>
                  <a:srgbClr val="6CF8BB"/>
                </a:solidFill>
                <a:latin typeface="Helvetica Neue"/>
                <a:ea typeface="Helvetica Neue"/>
                <a:cs typeface="Helvetica Neue"/>
              </a:rPr>
              <a:t>ONE TRADE OPERATING LAYER</a:t>
            </a:r>
          </a:p>
        </p:txBody>
      </p:sp>
      <p:sp>
        <p:nvSpPr>
          <p:cNvPr id="19" name="">
            <a:extLst xmlns:a="http://schemas.openxmlformats.org/drawingml/2006/main">
              <a:ext uri="{FF2B5EF4-FFF2-40B4-BE49-F238E27FC236}">
                <a16:creationId xmlns:a16="http://schemas.microsoft.com/office/drawing/2014/main" id="{7F21B03F-50E5-4EC9-BA2E-71B568F015FB}"/>
              </a:ext>
            </a:extLst>
          </p:cNvPr>
          <p:cNvSpPr>
            <a:spLocks xmlns:a="http://schemas.openxmlformats.org/drawingml/2006/main" noGrp="1"/>
          </p:cNvSpPr>
          <p:nvPr/>
        </p:nvSpPr>
        <p:spPr>
          <a:xfrm xmlns:a="http://schemas.openxmlformats.org/drawingml/2006/main">
            <a:off x="6477000" y="4048125"/>
            <a:ext cx="4286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Speak every movement.</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Customer + supplier credit linked.</a:t>
            </a:r>
          </a:p>
          <a:p xmlns:a="http://schemas.openxmlformats.org/drawingml/2006/main">
            <a:pPr algn="l">
              <a:buNone/>
              <a:defRPr sz="2025" b="1">
                <a:solidFill>
                  <a:srgbClr val="F7FAF8"/>
                </a:solidFill>
                <a:latin typeface="Helvetica Neue"/>
                <a:ea typeface="Helvetica Neue"/>
                <a:cs typeface="Helvetica Neue"/>
              </a:defRPr>
            </a:pPr>
            <a:r>
              <a:rPr sz="2025" b="1">
                <a:solidFill>
                  <a:srgbClr val="F7FAF8"/>
                </a:solidFill>
                <a:latin typeface="Helvetica Neue"/>
                <a:ea typeface="Helvetica Neue"/>
                <a:cs typeface="Helvetica Neue"/>
              </a:rPr>
              <a:t>Stock + margin stay live.</a:t>
            </a:r>
          </a:p>
        </p:txBody>
      </p:sp>
      <p:sp>
        <p:nvSpPr>
          <p:cNvPr id="20" name="">
            <a:extLst xmlns:a="http://schemas.openxmlformats.org/drawingml/2006/main">
              <a:ext uri="{FF2B5EF4-FFF2-40B4-BE49-F238E27FC236}">
                <a16:creationId xmlns:a16="http://schemas.microsoft.com/office/drawing/2014/main" id="{00C6AB2C-E690-4054-8802-1533D3C04C29}"/>
              </a:ext>
            </a:extLst>
          </p:cNvPr>
          <p:cNvSpPr>
            <a:spLocks xmlns:a="http://schemas.openxmlformats.org/drawingml/2006/main" noGrp="1"/>
          </p:cNvSpPr>
          <p:nvPr/>
        </p:nvSpPr>
        <p:spPr>
          <a:xfrm xmlns:a="http://schemas.openxmlformats.org/drawingml/2006/main">
            <a:off x="5762625" y="438150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550" b="1">
                <a:solidFill>
                  <a:srgbClr val="6CF8BB"/>
                </a:solidFill>
                <a:latin typeface="Helvetica Neue"/>
                <a:ea typeface="Helvetica Neue"/>
                <a:cs typeface="Helvetica Neue"/>
              </a:defRPr>
            </a:pPr>
            <a:r>
              <a:rPr sz="2550" b="1">
                <a:solidFill>
                  <a:srgbClr val="6CF8BB"/>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E7A15DD5-F23B-42A1-A8CF-30876E1DD7D3}"/>
              </a:ext>
            </a:extLst>
          </p:cNvPr>
          <p:cNvSpPr>
            <a:spLocks xmlns:a="http://schemas.openxmlformats.org/drawingml/2006/main" noGrp="1"/>
          </p:cNvSpPr>
          <p:nvPr/>
        </p:nvSpPr>
        <p:spPr>
          <a:xfrm xmlns:a="http://schemas.openxmlformats.org/drawingml/2006/main">
            <a:off x="476250" y="64293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68716C"/>
                </a:solidFill>
                <a:latin typeface="Helvetica Neue"/>
                <a:ea typeface="Helvetica Neue"/>
                <a:cs typeface="Helvetica Neue"/>
              </a:defRPr>
            </a:pPr>
            <a:r>
              <a:rPr sz="750" b="0">
                <a:solidFill>
                  <a:srgbClr val="68716C"/>
                </a:solidFill>
                <a:latin typeface="Helvetica Neue"/>
                <a:ea typeface="Helvetica Neue"/>
                <a:cs typeface="Helvetica Neue"/>
              </a:rPr>
              <a:t>Sources: MoSPI ASUSE 2023–24; MSME Annual Report 2025–26. Trade includes wholesale + retail.</a:t>
            </a:r>
          </a:p>
        </p:txBody>
      </p:sp>
      <p:sp>
        <p:nvSpPr>
          <p:cNvPr id="22" name="">
            <a:extLst xmlns:a="http://schemas.openxmlformats.org/drawingml/2006/main">
              <a:ext uri="{FF2B5EF4-FFF2-40B4-BE49-F238E27FC236}">
                <a16:creationId xmlns:a16="http://schemas.microsoft.com/office/drawing/2014/main" id="{34BDBEE9-F4E3-4ADD-B3F0-41AD8DC3BB22}"/>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68716C"/>
                </a:solidFill>
                <a:latin typeface="Helvetica Neue"/>
                <a:ea typeface="Helvetica Neue"/>
                <a:cs typeface="Helvetica Neue"/>
              </a:defRPr>
            </a:pPr>
            <a:r>
              <a:rPr sz="825" b="0">
                <a:solidFill>
                  <a:srgbClr val="68716C"/>
                </a:solidFill>
                <a:latin typeface="Helvetica Neue"/>
                <a:ea typeface="Helvetica Neue"/>
                <a:cs typeface="Helvetica Neue"/>
              </a:rPr>
              <a:t>02</a:t>
            </a:r>
          </a:p>
        </p:txBody>
      </p:sp>
      <p:pic>
        <p:nvPicPr>
          <p:cNvPr id="207" name=""/>
          <p:cNvPicPr>
            <a:picLocks xmlns:a="http://schemas.openxmlformats.org/drawingml/2006/main" noChangeAspect="1"/>
          </p:cNvPicPr>
          <p:nvPr/>
        </p:nvPicPr>
        <p:blipFill>
          <a:blip xmlns:r="http://schemas.openxmlformats.org/officeDocument/2006/relationships" xmlns:a="http://schemas.openxmlformats.org/drawingml/2006/main" r:embed="R507c84bcc6b14fa2"/>
          <a:stretch xmlns:a="http://schemas.openxmlformats.org/drawingml/2006/main"/>
        </p:blipFill>
        <p:spPr>
          <a:xfrm xmlns:a="http://schemas.openxmlformats.org/drawingml/2006/main">
            <a:off x="476250" y="342900"/>
            <a:ext cx="266700" cy="266700"/>
          </a:xfrm>
          <a:prstGeom xmlns:a="http://schemas.openxmlformats.org/drawingml/2006/main" prst="rect">
            <a:avLst/>
          </a:prstGeom>
        </p:spPr>
      </p:pic>
      <p:pic>
        <p:nvPicPr>
          <p:cNvPr id="208" name=""/>
          <p:cNvPicPr>
            <a:picLocks xmlns:a="http://schemas.openxmlformats.org/drawingml/2006/main" noChangeAspect="1"/>
          </p:cNvPicPr>
          <p:nvPr/>
        </p:nvPicPr>
        <p:blipFill>
          <a:blip xmlns:r="http://schemas.openxmlformats.org/officeDocument/2006/relationships" xmlns:a="http://schemas.openxmlformats.org/drawingml/2006/main" r:embed="Re132a798efc94c06"/>
          <a:stretch xmlns:a="http://schemas.openxmlformats.org/drawingml/2006/main"/>
        </p:blipFill>
        <p:spPr>
          <a:xfrm xmlns:a="http://schemas.openxmlformats.org/drawingml/2006/main">
            <a:off x="476250" y="342900"/>
            <a:ext cx="266700" cy="266700"/>
          </a:xfrm>
          <a:prstGeom xmlns:a="http://schemas.openxmlformats.org/drawingml/2006/main" prst="rect">
            <a:avLst/>
          </a:prstGeom>
        </p:spPr>
      </p:pic>
      <p:sp>
        <p:nvSpPr>
          <p:cNvPr id="187" name="Chhotu.ai wordmark">
            <a:extLst xmlns:a="http://schemas.openxmlformats.org/drawingml/2006/main">
              <a:ext uri="{FF2B5EF4-FFF2-40B4-BE49-F238E27FC236}">
                <a16:creationId xmlns:a16="http://schemas.microsoft.com/office/drawing/2014/main" id="{ACDD1CAE-4B0D-4FA1-BD8B-F91620C0F769}"/>
              </a:ext>
            </a:extLst>
          </p:cNvPr>
          <p:cNvSpPr>
            <a:spLocks xmlns:a="http://schemas.openxmlformats.org/drawingml/2006/main" noGrp="1"/>
          </p:cNvSpPr>
          <p:nvPr/>
        </p:nvSpPr>
        <p:spPr>
          <a:xfrm xmlns:a="http://schemas.openxmlformats.org/drawingml/2006/main">
            <a:off x="800100" y="314325"/>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00">
                <a:latin typeface="Arial"/>
                <a:ea typeface="Arial"/>
                <a:cs typeface="Arial"/>
              </a:defRPr>
            </a:pPr>
            <a:r>
              <a:rPr sz="1500" b="1">
                <a:solidFill>
                  <a:srgbClr val="F7F8F8"/>
                </a:solidFill>
                <a:latin typeface="Arial"/>
                <a:ea typeface="Arial"/>
                <a:cs typeface="Arial"/>
              </a:rPr>
              <a:t>Chhotu</a:t>
            </a:r>
            <a:r>
              <a:rPr sz="1500" b="1">
                <a:solidFill>
                  <a:srgbClr val="59F2BC"/>
                </a:solidFill>
                <a:latin typeface="Arial"/>
                <a:ea typeface="Arial"/>
                <a:cs typeface="Arial"/>
              </a:rPr>
              <a:t>.ai</a:t>
            </a:r>
          </a:p>
        </p:txBody>
      </p:sp>
    </p:spTree>
    <p:extLst>
      <p:ext uri="{BB962C8B-B14F-4D97-AF65-F5344CB8AC3E}">
        <p14:creationId xmlns:p14="http://schemas.microsoft.com/office/powerpoint/2010/main" val="345248246"/>
      </p:ext>
    </p:extLst>
  </p:cSld>
</p:sld>
</file>

<file path=ppt/slides/slide3.xml><?xml version="1.0" encoding="utf-8"?>
<p:sld xmlns:p="http://schemas.openxmlformats.org/presentationml/2006/main">
  <p:cSld>
    <p:bg>
      <p:bgPr>
        <a:solidFill xmlns:a="http://schemas.openxmlformats.org/drawingml/2006/main">
          <a:srgbClr val="0D100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C8F3E85-70A3-4E49-A5B2-F9F61BA1FF9D}"/>
              </a:ext>
            </a:extLst>
          </p:cNvPr>
          <p:cNvSpPr>
            <a:spLocks xmlns:a="http://schemas.openxmlformats.org/drawingml/2006/main" noGrp="1"/>
          </p:cNvSpPr>
          <p:nvPr/>
        </p:nvSpPr>
        <p:spPr>
          <a:xfrm xmlns:a="http://schemas.openxmlformats.org/drawingml/2006/main">
            <a:off x="476250" y="10668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FFB34D"/>
                </a:solidFill>
                <a:latin typeface="Helvetica Neue"/>
                <a:ea typeface="Helvetica Neue"/>
                <a:cs typeface="Helvetica Neue"/>
              </a:defRPr>
            </a:pPr>
            <a:r>
              <a:rPr sz="900" b="1">
                <a:solidFill>
                  <a:srgbClr val="FFB34D"/>
                </a:solidFill>
                <a:latin typeface="Helvetica Neue"/>
                <a:ea typeface="Helvetica Neue"/>
                <a:cs typeface="Helvetica Neue"/>
              </a:rPr>
              <a:t>WHY SARVAM</a:t>
            </a:r>
          </a:p>
        </p:txBody>
      </p:sp>
      <p:sp>
        <p:nvSpPr>
          <p:cNvPr id="5" name="">
            <a:extLst xmlns:a="http://schemas.openxmlformats.org/drawingml/2006/main">
              <a:ext uri="{FF2B5EF4-FFF2-40B4-BE49-F238E27FC236}">
                <a16:creationId xmlns:a16="http://schemas.microsoft.com/office/drawing/2014/main" id="{6FF6FC44-4EDB-40E6-AFA8-9C87D1685250}"/>
              </a:ext>
            </a:extLst>
          </p:cNvPr>
          <p:cNvSpPr>
            <a:spLocks xmlns:a="http://schemas.openxmlformats.org/drawingml/2006/main" noGrp="1"/>
          </p:cNvSpPr>
          <p:nvPr/>
        </p:nvSpPr>
        <p:spPr>
          <a:xfrm xmlns:a="http://schemas.openxmlformats.org/drawingml/2006/main">
            <a:off x="476250" y="1381125"/>
            <a:ext cx="8763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749"/>
          </a:bodyPr>
          <a:lstStyle xmlns:a="http://schemas.openxmlformats.org/drawingml/2006/main"/>
          <a:p xmlns:a="http://schemas.openxmlformats.org/drawingml/2006/main">
            <a:pPr algn="l">
              <a:buNone/>
              <a:defRPr sz="3000" b="1">
                <a:solidFill>
                  <a:srgbClr val="F7FAF8"/>
                </a:solidFill>
                <a:latin typeface="Helvetica Neue"/>
                <a:ea typeface="Helvetica Neue"/>
                <a:cs typeface="Helvetica Neue"/>
              </a:defRPr>
            </a:pPr>
            <a:r>
              <a:rPr sz="3000" b="1">
                <a:solidFill>
                  <a:srgbClr val="F7FAF8"/>
                </a:solidFill>
                <a:latin typeface="Helvetica Neue"/>
                <a:ea typeface="Helvetica Neue"/>
                <a:cs typeface="Helvetica Neue"/>
              </a:rPr>
              <a:t>Sarvam turns Indian speech into grounded business actions.</a:t>
            </a:r>
          </a:p>
        </p:txBody>
      </p:sp>
      <p:sp>
        <p:nvSpPr>
          <p:cNvPr id="6" name="">
            <a:extLst xmlns:a="http://schemas.openxmlformats.org/drawingml/2006/main">
              <a:ext uri="{FF2B5EF4-FFF2-40B4-BE49-F238E27FC236}">
                <a16:creationId xmlns:a16="http://schemas.microsoft.com/office/drawing/2014/main" id="{8679D301-130D-4DC6-A00C-FAB2985741A7}"/>
              </a:ext>
            </a:extLst>
          </p:cNvPr>
          <p:cNvSpPr>
            <a:spLocks xmlns:a="http://schemas.openxmlformats.org/drawingml/2006/main" noGrp="1"/>
          </p:cNvSpPr>
          <p:nvPr/>
        </p:nvSpPr>
        <p:spPr>
          <a:xfrm xmlns:a="http://schemas.openxmlformats.org/drawingml/2006/main">
            <a:off x="523875" y="23336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6CF8BB"/>
                </a:solidFill>
                <a:latin typeface="Helvetica Neue"/>
                <a:ea typeface="Helvetica Neue"/>
                <a:cs typeface="Helvetica Neue"/>
              </a:defRPr>
            </a:pPr>
            <a:r>
              <a:rPr sz="3225" b="1">
                <a:solidFill>
                  <a:srgbClr val="6CF8BB"/>
                </a:solidFill>
                <a:latin typeface="Helvetica Neue"/>
                <a:ea typeface="Helvetica Neue"/>
                <a:cs typeface="Helvetica Neue"/>
              </a:rPr>
              <a:t>23</a:t>
            </a:r>
          </a:p>
        </p:txBody>
      </p:sp>
      <p:sp>
        <p:nvSpPr>
          <p:cNvPr id="7" name="">
            <a:extLst xmlns:a="http://schemas.openxmlformats.org/drawingml/2006/main">
              <a:ext uri="{FF2B5EF4-FFF2-40B4-BE49-F238E27FC236}">
                <a16:creationId xmlns:a16="http://schemas.microsoft.com/office/drawing/2014/main" id="{2F53770C-F052-4BC7-A6B0-966250DB979D}"/>
              </a:ext>
            </a:extLst>
          </p:cNvPr>
          <p:cNvSpPr>
            <a:spLocks xmlns:a="http://schemas.openxmlformats.org/drawingml/2006/main" noGrp="1"/>
          </p:cNvSpPr>
          <p:nvPr/>
        </p:nvSpPr>
        <p:spPr>
          <a:xfrm xmlns:a="http://schemas.openxmlformats.org/drawingml/2006/main">
            <a:off x="2266950" y="24479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9CA59F"/>
                </a:solidFill>
                <a:latin typeface="Helvetica Neue"/>
                <a:ea typeface="Helvetica Neue"/>
                <a:cs typeface="Helvetica Neue"/>
              </a:defRPr>
            </a:pPr>
            <a:r>
              <a:rPr sz="1275" b="1">
                <a:solidFill>
                  <a:srgbClr val="9CA59F"/>
                </a:solidFill>
                <a:latin typeface="Helvetica Neue"/>
                <a:ea typeface="Helvetica Neue"/>
                <a:cs typeface="Helvetica Neue"/>
              </a:rPr>
              <a:t>STT languages</a:t>
            </a:r>
          </a:p>
        </p:txBody>
      </p:sp>
      <p:cxnSp>
        <p:nvCxnSpPr>
          <p:cNvPr id="192" name=""/>
          <p:cNvCxnSpPr/>
          <p:nvPr/>
        </p:nvCxnSpPr>
        <p:spPr>
          <a:xfrm xmlns:a="http://schemas.openxmlformats.org/drawingml/2006/main">
            <a:off x="523875" y="3076575"/>
            <a:ext cx="3667125" cy="0"/>
          </a:xfrm>
          <a:prstGeom xmlns:a="http://schemas.openxmlformats.org/drawingml/2006/main" prst="straightConnector1">
            <a:avLst/>
          </a:prstGeom>
          <a:ln xmlns:a="http://schemas.openxmlformats.org/drawingml/2006/main" w="9525">
            <a:solidFill>
              <a:srgbClr val="2C3430"/>
            </a:solidFill>
            <a:prstDash val="solid"/>
          </a:ln>
        </p:spPr>
      </p:cxnSp>
      <p:sp>
        <p:nvSpPr>
          <p:cNvPr id="9" name="">
            <a:extLst xmlns:a="http://schemas.openxmlformats.org/drawingml/2006/main">
              <a:ext uri="{FF2B5EF4-FFF2-40B4-BE49-F238E27FC236}">
                <a16:creationId xmlns:a16="http://schemas.microsoft.com/office/drawing/2014/main" id="{5C5919E5-4D4E-44B4-98BB-7D7295C62DA0}"/>
              </a:ext>
            </a:extLst>
          </p:cNvPr>
          <p:cNvSpPr>
            <a:spLocks xmlns:a="http://schemas.openxmlformats.org/drawingml/2006/main" noGrp="1"/>
          </p:cNvSpPr>
          <p:nvPr/>
        </p:nvSpPr>
        <p:spPr>
          <a:xfrm xmlns:a="http://schemas.openxmlformats.org/drawingml/2006/main">
            <a:off x="523875" y="34004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6CF8BB"/>
                </a:solidFill>
                <a:latin typeface="Helvetica Neue"/>
                <a:ea typeface="Helvetica Neue"/>
                <a:cs typeface="Helvetica Neue"/>
              </a:defRPr>
            </a:pPr>
            <a:r>
              <a:rPr sz="2850" b="1">
                <a:solidFill>
                  <a:srgbClr val="6CF8BB"/>
                </a:solidFill>
                <a:latin typeface="Helvetica Neue"/>
                <a:ea typeface="Helvetica Neue"/>
                <a:cs typeface="Helvetica Neue"/>
              </a:rPr>
              <a:t>11</a:t>
            </a:r>
          </a:p>
        </p:txBody>
      </p:sp>
      <p:sp>
        <p:nvSpPr>
          <p:cNvPr id="10" name="">
            <a:extLst xmlns:a="http://schemas.openxmlformats.org/drawingml/2006/main">
              <a:ext uri="{FF2B5EF4-FFF2-40B4-BE49-F238E27FC236}">
                <a16:creationId xmlns:a16="http://schemas.microsoft.com/office/drawing/2014/main" id="{715075F0-5F3A-4D3F-8A43-457B1EDF5A45}"/>
              </a:ext>
            </a:extLst>
          </p:cNvPr>
          <p:cNvSpPr>
            <a:spLocks xmlns:a="http://schemas.openxmlformats.org/drawingml/2006/main" noGrp="1"/>
          </p:cNvSpPr>
          <p:nvPr/>
        </p:nvSpPr>
        <p:spPr>
          <a:xfrm xmlns:a="http://schemas.openxmlformats.org/drawingml/2006/main">
            <a:off x="2266950" y="35147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9CA59F"/>
                </a:solidFill>
                <a:latin typeface="Helvetica Neue"/>
                <a:ea typeface="Helvetica Neue"/>
                <a:cs typeface="Helvetica Neue"/>
              </a:defRPr>
            </a:pPr>
            <a:r>
              <a:rPr sz="1275" b="1">
                <a:solidFill>
                  <a:srgbClr val="9CA59F"/>
                </a:solidFill>
                <a:latin typeface="Helvetica Neue"/>
                <a:ea typeface="Helvetica Neue"/>
                <a:cs typeface="Helvetica Neue"/>
              </a:rPr>
              <a:t>TTS languages</a:t>
            </a:r>
          </a:p>
        </p:txBody>
      </p:sp>
      <p:cxnSp>
        <p:nvCxnSpPr>
          <p:cNvPr id="195" name=""/>
          <p:cNvCxnSpPr/>
          <p:nvPr/>
        </p:nvCxnSpPr>
        <p:spPr>
          <a:xfrm xmlns:a="http://schemas.openxmlformats.org/drawingml/2006/main">
            <a:off x="523875" y="4143375"/>
            <a:ext cx="3667125" cy="0"/>
          </a:xfrm>
          <a:prstGeom xmlns:a="http://schemas.openxmlformats.org/drawingml/2006/main" prst="straightConnector1">
            <a:avLst/>
          </a:prstGeom>
          <a:ln xmlns:a="http://schemas.openxmlformats.org/drawingml/2006/main" w="9525">
            <a:solidFill>
              <a:srgbClr val="2C3430"/>
            </a:solidFill>
            <a:prstDash val="solid"/>
          </a:ln>
        </p:spPr>
      </p:cxnSp>
      <p:sp>
        <p:nvSpPr>
          <p:cNvPr id="12" name="">
            <a:extLst xmlns:a="http://schemas.openxmlformats.org/drawingml/2006/main">
              <a:ext uri="{FF2B5EF4-FFF2-40B4-BE49-F238E27FC236}">
                <a16:creationId xmlns:a16="http://schemas.microsoft.com/office/drawing/2014/main" id="{CDFAB8B2-6E47-4C45-8CA2-26ADE2E3A0A2}"/>
              </a:ext>
            </a:extLst>
          </p:cNvPr>
          <p:cNvSpPr>
            <a:spLocks xmlns:a="http://schemas.openxmlformats.org/drawingml/2006/main" noGrp="1"/>
          </p:cNvSpPr>
          <p:nvPr/>
        </p:nvSpPr>
        <p:spPr>
          <a:xfrm xmlns:a="http://schemas.openxmlformats.org/drawingml/2006/main">
            <a:off x="523875" y="4467225"/>
            <a:ext cx="180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225" b="1">
                <a:solidFill>
                  <a:srgbClr val="6CF8BB"/>
                </a:solidFill>
                <a:latin typeface="Helvetica Neue"/>
                <a:ea typeface="Helvetica Neue"/>
                <a:cs typeface="Helvetica Neue"/>
              </a:defRPr>
            </a:pPr>
            <a:r>
              <a:rPr sz="3225" b="1">
                <a:solidFill>
                  <a:srgbClr val="6CF8BB"/>
                </a:solidFill>
                <a:latin typeface="Helvetica Neue"/>
                <a:ea typeface="Helvetica Neue"/>
                <a:cs typeface="Helvetica Neue"/>
              </a:rPr>
              <a:t>23</a:t>
            </a:r>
          </a:p>
        </p:txBody>
      </p:sp>
      <p:sp>
        <p:nvSpPr>
          <p:cNvPr id="13" name="">
            <a:extLst xmlns:a="http://schemas.openxmlformats.org/drawingml/2006/main">
              <a:ext uri="{FF2B5EF4-FFF2-40B4-BE49-F238E27FC236}">
                <a16:creationId xmlns:a16="http://schemas.microsoft.com/office/drawing/2014/main" id="{D8E56FF9-9590-4CBD-8D88-F6258A4ADD24}"/>
              </a:ext>
            </a:extLst>
          </p:cNvPr>
          <p:cNvSpPr>
            <a:spLocks xmlns:a="http://schemas.openxmlformats.org/drawingml/2006/main" noGrp="1"/>
          </p:cNvSpPr>
          <p:nvPr/>
        </p:nvSpPr>
        <p:spPr>
          <a:xfrm xmlns:a="http://schemas.openxmlformats.org/drawingml/2006/main">
            <a:off x="2266950" y="45815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9CA59F"/>
                </a:solidFill>
                <a:latin typeface="Helvetica Neue"/>
                <a:ea typeface="Helvetica Neue"/>
                <a:cs typeface="Helvetica Neue"/>
              </a:defRPr>
            </a:pPr>
            <a:r>
              <a:rPr sz="1275" b="1">
                <a:solidFill>
                  <a:srgbClr val="9CA59F"/>
                </a:solidFill>
                <a:latin typeface="Helvetica Neue"/>
                <a:ea typeface="Helvetica Neue"/>
                <a:cs typeface="Helvetica Neue"/>
              </a:rPr>
              <a:t>document languages</a:t>
            </a:r>
          </a:p>
        </p:txBody>
      </p:sp>
      <p:sp>
        <p:nvSpPr>
          <p:cNvPr id="14" name="">
            <a:extLst xmlns:a="http://schemas.openxmlformats.org/drawingml/2006/main">
              <a:ext uri="{FF2B5EF4-FFF2-40B4-BE49-F238E27FC236}">
                <a16:creationId xmlns:a16="http://schemas.microsoft.com/office/drawing/2014/main" id="{EE888AB9-222B-4C70-977C-1429D42890FB}"/>
              </a:ext>
            </a:extLst>
          </p:cNvPr>
          <p:cNvSpPr>
            <a:spLocks xmlns:a="http://schemas.openxmlformats.org/drawingml/2006/main" noGrp="1"/>
          </p:cNvSpPr>
          <p:nvPr/>
        </p:nvSpPr>
        <p:spPr>
          <a:xfrm xmlns:a="http://schemas.openxmlformats.org/drawingml/2006/main">
            <a:off x="4619625" y="2190750"/>
            <a:ext cx="3095625" cy="3429000"/>
          </a:xfrm>
          <a:prstGeom xmlns:a="http://schemas.openxmlformats.org/drawingml/2006/main" prst="roundRect">
            <a:avLst>
              <a:gd name="adj" fmla="val 5538"/>
            </a:avLst>
          </a:prstGeom>
          <a:solidFill xmlns:a="http://schemas.openxmlformats.org/drawingml/2006/main">
            <a:srgbClr val="111514"/>
          </a:solidFill>
          <a:ln xmlns:a="http://schemas.openxmlformats.org/drawingml/2006/main" w="9525">
            <a:solidFill>
              <a:srgbClr val="2C3430"/>
            </a:solidFill>
            <a:prstDash val="solid"/>
          </a:ln>
        </p:spPr>
      </p:sp>
      <p:sp>
        <p:nvSpPr>
          <p:cNvPr id="15" name="">
            <a:extLst xmlns:a="http://schemas.openxmlformats.org/drawingml/2006/main">
              <a:ext uri="{FF2B5EF4-FFF2-40B4-BE49-F238E27FC236}">
                <a16:creationId xmlns:a16="http://schemas.microsoft.com/office/drawing/2014/main" id="{893A1F2B-3B80-43BA-A62A-80A56B45A902}"/>
              </a:ext>
            </a:extLst>
          </p:cNvPr>
          <p:cNvSpPr>
            <a:spLocks xmlns:a="http://schemas.openxmlformats.org/drawingml/2006/main" noGrp="1"/>
          </p:cNvSpPr>
          <p:nvPr/>
        </p:nvSpPr>
        <p:spPr>
          <a:xfrm xmlns:a="http://schemas.openxmlformats.org/drawingml/2006/main">
            <a:off x="8001000" y="2190750"/>
            <a:ext cx="3714750" cy="3429000"/>
          </a:xfrm>
          <a:prstGeom xmlns:a="http://schemas.openxmlformats.org/drawingml/2006/main" prst="roundRect">
            <a:avLst>
              <a:gd name="adj" fmla="val 5000"/>
            </a:avLst>
          </a:prstGeom>
          <a:solidFill xmlns:a="http://schemas.openxmlformats.org/drawingml/2006/main">
            <a:srgbClr val="102119"/>
          </a:solidFill>
          <a:ln xmlns:a="http://schemas.openxmlformats.org/drawingml/2006/main" w="9525">
            <a:solidFill>
              <a:srgbClr val="2F6A51"/>
            </a:solidFill>
            <a:prstDash val="solid"/>
          </a:ln>
        </p:spPr>
      </p:sp>
      <p:sp>
        <p:nvSpPr>
          <p:cNvPr id="16" name="">
            <a:extLst xmlns:a="http://schemas.openxmlformats.org/drawingml/2006/main">
              <a:ext uri="{FF2B5EF4-FFF2-40B4-BE49-F238E27FC236}">
                <a16:creationId xmlns:a16="http://schemas.microsoft.com/office/drawing/2014/main" id="{8E28C877-AB11-4217-AD45-CFADDB07A62C}"/>
              </a:ext>
            </a:extLst>
          </p:cNvPr>
          <p:cNvSpPr>
            <a:spLocks xmlns:a="http://schemas.openxmlformats.org/drawingml/2006/main" noGrp="1"/>
          </p:cNvSpPr>
          <p:nvPr/>
        </p:nvSpPr>
        <p:spPr>
          <a:xfrm xmlns:a="http://schemas.openxmlformats.org/drawingml/2006/main">
            <a:off x="4905375" y="25146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19"/>
          </a:bodyPr>
          <a:lstStyle xmlns:a="http://schemas.openxmlformats.org/drawingml/2006/main"/>
          <a:p xmlns:a="http://schemas.openxmlformats.org/drawingml/2006/main">
            <a:pPr algn="l">
              <a:buNone/>
              <a:defRPr sz="1800" b="1">
                <a:solidFill>
                  <a:srgbClr val="F7FAF8"/>
                </a:solidFill>
                <a:latin typeface="Helvetica Neue"/>
                <a:ea typeface="Helvetica Neue"/>
                <a:cs typeface="Helvetica Neue"/>
              </a:defRPr>
            </a:pPr>
            <a:r>
              <a:rPr sz="1800" b="1">
                <a:solidFill>
                  <a:srgbClr val="F7FAF8"/>
                </a:solidFill>
                <a:latin typeface="Helvetica Neue"/>
                <a:ea typeface="Helvetica Neue"/>
                <a:cs typeface="Helvetica Neue"/>
              </a:rPr>
              <a:t>THE LIVE VOICE LOOP</a:t>
            </a:r>
          </a:p>
        </p:txBody>
      </p:sp>
      <p:sp>
        <p:nvSpPr>
          <p:cNvPr id="17" name="">
            <a:extLst xmlns:a="http://schemas.openxmlformats.org/drawingml/2006/main">
              <a:ext uri="{FF2B5EF4-FFF2-40B4-BE49-F238E27FC236}">
                <a16:creationId xmlns:a16="http://schemas.microsoft.com/office/drawing/2014/main" id="{35811EAE-8AA4-4836-83EF-B117364C63FD}"/>
              </a:ext>
            </a:extLst>
          </p:cNvPr>
          <p:cNvSpPr>
            <a:spLocks xmlns:a="http://schemas.openxmlformats.org/drawingml/2006/main" noGrp="1"/>
          </p:cNvSpPr>
          <p:nvPr/>
        </p:nvSpPr>
        <p:spPr>
          <a:xfrm xmlns:a="http://schemas.openxmlformats.org/drawingml/2006/main">
            <a:off x="4905375" y="3200400"/>
            <a:ext cx="238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Saaras v3: speech → text</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Samvaad: context + tool calls</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Bulbul v3: text → speech</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
            </a:r>
          </a:p>
          <a:p xmlns:a="http://schemas.openxmlformats.org/drawingml/2006/main">
            <a:pPr algn="l">
              <a:buNone/>
              <a:defRPr sz="1500" b="0">
                <a:solidFill>
                  <a:srgbClr val="9CA59F"/>
                </a:solidFill>
                <a:latin typeface="Helvetica Neue"/>
                <a:ea typeface="Helvetica Neue"/>
                <a:cs typeface="Helvetica Neue"/>
              </a:defRPr>
            </a:pPr>
            <a:r>
              <a:rPr sz="1500" b="0">
                <a:solidFill>
                  <a:srgbClr val="9CA59F"/>
                </a:solidFill>
                <a:latin typeface="Helvetica Neue"/>
                <a:ea typeface="Helvetica Neue"/>
                <a:cs typeface="Helvetica Neue"/>
              </a:rPr>
              <a:t>Barge-in for natural turns</a:t>
            </a:r>
          </a:p>
        </p:txBody>
      </p:sp>
      <p:sp>
        <p:nvSpPr>
          <p:cNvPr id="18" name="">
            <a:extLst xmlns:a="http://schemas.openxmlformats.org/drawingml/2006/main">
              <a:ext uri="{FF2B5EF4-FFF2-40B4-BE49-F238E27FC236}">
                <a16:creationId xmlns:a16="http://schemas.microsoft.com/office/drawing/2014/main" id="{4F264E50-A415-423F-8B1E-55FE8C96EFD5}"/>
              </a:ext>
            </a:extLst>
          </p:cNvPr>
          <p:cNvSpPr>
            <a:spLocks xmlns:a="http://schemas.openxmlformats.org/drawingml/2006/main" noGrp="1"/>
          </p:cNvSpPr>
          <p:nvPr/>
        </p:nvSpPr>
        <p:spPr>
          <a:xfrm xmlns:a="http://schemas.openxmlformats.org/drawingml/2006/main">
            <a:off x="8334375" y="251460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6CF8BB"/>
                </a:solidFill>
                <a:latin typeface="Helvetica Neue"/>
                <a:ea typeface="Helvetica Neue"/>
                <a:cs typeface="Helvetica Neue"/>
              </a:defRPr>
            </a:pPr>
            <a:r>
              <a:rPr sz="1800" b="1">
                <a:solidFill>
                  <a:srgbClr val="6CF8BB"/>
                </a:solidFill>
                <a:latin typeface="Helvetica Neue"/>
                <a:ea typeface="Helvetica Neue"/>
                <a:cs typeface="Helvetica Neue"/>
              </a:rPr>
              <a:t>WHY IT FITS INDIA</a:t>
            </a:r>
          </a:p>
        </p:txBody>
      </p:sp>
      <p:sp>
        <p:nvSpPr>
          <p:cNvPr id="19" name="">
            <a:extLst xmlns:a="http://schemas.openxmlformats.org/drawingml/2006/main">
              <a:ext uri="{FF2B5EF4-FFF2-40B4-BE49-F238E27FC236}">
                <a16:creationId xmlns:a16="http://schemas.microsoft.com/office/drawing/2014/main" id="{6668FC51-0136-4318-96CF-2C97EFCC8A5C}"/>
              </a:ext>
            </a:extLst>
          </p:cNvPr>
          <p:cNvSpPr>
            <a:spLocks xmlns:a="http://schemas.openxmlformats.org/drawingml/2006/main" noGrp="1"/>
          </p:cNvSpPr>
          <p:nvPr/>
        </p:nvSpPr>
        <p:spPr>
          <a:xfrm xmlns:a="http://schemas.openxmlformats.org/drawingml/2006/main">
            <a:off x="8334375" y="3200400"/>
            <a:ext cx="2857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Accents + code-mixing</a:t>
            </a:r>
          </a:p>
          <a:p xmlns:a="http://schemas.openxmlformats.org/drawingml/2006/main">
            <a:r>
              <a:t/>
            </a:r>
          </a:p>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Automatic language detection</a:t>
            </a:r>
          </a:p>
          <a:p xmlns:a="http://schemas.openxmlformats.org/drawingml/2006/main">
            <a:r>
              <a:t/>
            </a:r>
          </a:p>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English-normalised tool inputs</a:t>
            </a:r>
          </a:p>
          <a:p xmlns:a="http://schemas.openxmlformats.org/drawingml/2006/main">
            <a:r>
              <a:t/>
            </a:r>
          </a:p>
          <a:p xmlns:a="http://schemas.openxmlformats.org/drawingml/2006/main">
            <a:pPr algn="l">
              <a:buNone/>
              <a:defRPr sz="1500" b="0">
                <a:solidFill>
                  <a:srgbClr val="F7FAF8"/>
                </a:solidFill>
                <a:latin typeface="Helvetica Neue"/>
                <a:ea typeface="Helvetica Neue"/>
                <a:cs typeface="Helvetica Neue"/>
              </a:defRPr>
            </a:pPr>
            <a:r>
              <a:rPr sz="1500" b="0">
                <a:solidFill>
                  <a:srgbClr val="F7FAF8"/>
                </a:solidFill>
                <a:latin typeface="Helvetica Neue"/>
                <a:ea typeface="Helvetica Neue"/>
                <a:cs typeface="Helvetica Neue"/>
              </a:rPr>
              <a:t>Vision: invoice → reviewed stock</a:t>
            </a:r>
          </a:p>
        </p:txBody>
      </p:sp>
      <p:sp>
        <p:nvSpPr>
          <p:cNvPr id="20" name="">
            <a:extLst xmlns:a="http://schemas.openxmlformats.org/drawingml/2006/main">
              <a:ext uri="{FF2B5EF4-FFF2-40B4-BE49-F238E27FC236}">
                <a16:creationId xmlns:a16="http://schemas.microsoft.com/office/drawing/2014/main" id="{2AF86A8E-E5C7-40B8-A37F-0DB28D157E29}"/>
              </a:ext>
            </a:extLst>
          </p:cNvPr>
          <p:cNvSpPr>
            <a:spLocks xmlns:a="http://schemas.openxmlformats.org/drawingml/2006/main" noGrp="1"/>
          </p:cNvSpPr>
          <p:nvPr/>
        </p:nvSpPr>
        <p:spPr>
          <a:xfrm xmlns:a="http://schemas.openxmlformats.org/drawingml/2006/main">
            <a:off x="4619625" y="5905500"/>
            <a:ext cx="7096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200" b="1">
                <a:solidFill>
                  <a:srgbClr val="FFB34D"/>
                </a:solidFill>
                <a:latin typeface="Helvetica Neue"/>
                <a:ea typeface="Helvetica Neue"/>
                <a:cs typeface="Helvetica Neue"/>
              </a:defRPr>
            </a:pPr>
            <a:r>
              <a:rPr sz="1200" b="1">
                <a:solidFill>
                  <a:srgbClr val="FFB34D"/>
                </a:solidFill>
                <a:latin typeface="Helvetica Neue"/>
                <a:ea typeface="Helvetica Neue"/>
                <a:cs typeface="Helvetica Neue"/>
              </a:rPr>
              <a:t>Result: owners speak naturally; Chhotu writes only through validated business APIs.</a:t>
            </a:r>
          </a:p>
        </p:txBody>
      </p:sp>
      <p:sp>
        <p:nvSpPr>
          <p:cNvPr id="21" name="">
            <a:extLst xmlns:a="http://schemas.openxmlformats.org/drawingml/2006/main">
              <a:ext uri="{FF2B5EF4-FFF2-40B4-BE49-F238E27FC236}">
                <a16:creationId xmlns:a16="http://schemas.microsoft.com/office/drawing/2014/main" id="{B009595A-E908-46F5-8C30-3C6FE7579EF7}"/>
              </a:ext>
            </a:extLst>
          </p:cNvPr>
          <p:cNvSpPr>
            <a:spLocks xmlns:a="http://schemas.openxmlformats.org/drawingml/2006/main" noGrp="1"/>
          </p:cNvSpPr>
          <p:nvPr/>
        </p:nvSpPr>
        <p:spPr>
          <a:xfrm xmlns:a="http://schemas.openxmlformats.org/drawingml/2006/main">
            <a:off x="476250" y="642937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68716C"/>
                </a:solidFill>
                <a:latin typeface="Helvetica Neue"/>
                <a:ea typeface="Helvetica Neue"/>
                <a:cs typeface="Helvetica Neue"/>
              </a:defRPr>
            </a:pPr>
            <a:r>
              <a:rPr sz="750" b="0">
                <a:solidFill>
                  <a:srgbClr val="68716C"/>
                </a:solidFill>
                <a:latin typeface="Helvetica Neue"/>
                <a:ea typeface="Helvetica Neue"/>
                <a:cs typeface="Helvetica Neue"/>
              </a:rPr>
              <a:t>Sources: Sarvam Samvaad, Sarvam Vision + Document Digitization docs.</a:t>
            </a:r>
          </a:p>
        </p:txBody>
      </p:sp>
      <p:sp>
        <p:nvSpPr>
          <p:cNvPr id="22" name="">
            <a:extLst xmlns:a="http://schemas.openxmlformats.org/drawingml/2006/main">
              <a:ext uri="{FF2B5EF4-FFF2-40B4-BE49-F238E27FC236}">
                <a16:creationId xmlns:a16="http://schemas.microsoft.com/office/drawing/2014/main" id="{B883FFE3-519E-4862-B469-018043BCF48A}"/>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68716C"/>
                </a:solidFill>
                <a:latin typeface="Helvetica Neue"/>
                <a:ea typeface="Helvetica Neue"/>
                <a:cs typeface="Helvetica Neue"/>
              </a:defRPr>
            </a:pPr>
            <a:r>
              <a:rPr sz="825" b="0">
                <a:solidFill>
                  <a:srgbClr val="68716C"/>
                </a:solidFill>
                <a:latin typeface="Helvetica Neue"/>
                <a:ea typeface="Helvetica Neue"/>
                <a:cs typeface="Helvetica Neue"/>
              </a:rPr>
              <a:t>03</a:t>
            </a:r>
          </a:p>
        </p:txBody>
      </p:sp>
      <p:pic>
        <p:nvPicPr>
          <p:cNvPr id="207" name=""/>
          <p:cNvPicPr>
            <a:picLocks xmlns:a="http://schemas.openxmlformats.org/drawingml/2006/main" noChangeAspect="1"/>
          </p:cNvPicPr>
          <p:nvPr/>
        </p:nvPicPr>
        <p:blipFill>
          <a:blip xmlns:r="http://schemas.openxmlformats.org/officeDocument/2006/relationships" xmlns:a="http://schemas.openxmlformats.org/drawingml/2006/main" r:embed="R166022ee76de47c2"/>
          <a:stretch xmlns:a="http://schemas.openxmlformats.org/drawingml/2006/main"/>
        </p:blipFill>
        <p:spPr>
          <a:xfrm xmlns:a="http://schemas.openxmlformats.org/drawingml/2006/main">
            <a:off x="476250" y="342900"/>
            <a:ext cx="266700" cy="266700"/>
          </a:xfrm>
          <a:prstGeom xmlns:a="http://schemas.openxmlformats.org/drawingml/2006/main" prst="rect">
            <a:avLst/>
          </a:prstGeom>
        </p:spPr>
      </p:pic>
      <p:pic>
        <p:nvPicPr>
          <p:cNvPr id="208" name=""/>
          <p:cNvPicPr>
            <a:picLocks xmlns:a="http://schemas.openxmlformats.org/drawingml/2006/main" noChangeAspect="1"/>
          </p:cNvPicPr>
          <p:nvPr/>
        </p:nvPicPr>
        <p:blipFill>
          <a:blip xmlns:r="http://schemas.openxmlformats.org/officeDocument/2006/relationships" xmlns:a="http://schemas.openxmlformats.org/drawingml/2006/main" r:embed="R7f8b80973f9d401c"/>
          <a:stretch xmlns:a="http://schemas.openxmlformats.org/drawingml/2006/main"/>
        </p:blipFill>
        <p:spPr>
          <a:xfrm xmlns:a="http://schemas.openxmlformats.org/drawingml/2006/main">
            <a:off x="476250" y="342900"/>
            <a:ext cx="266700" cy="266700"/>
          </a:xfrm>
          <a:prstGeom xmlns:a="http://schemas.openxmlformats.org/drawingml/2006/main" prst="rect">
            <a:avLst/>
          </a:prstGeom>
        </p:spPr>
      </p:pic>
      <p:sp>
        <p:nvSpPr>
          <p:cNvPr id="187" name="Chhotu.ai wordmark">
            <a:extLst xmlns:a="http://schemas.openxmlformats.org/drawingml/2006/main">
              <a:ext uri="{FF2B5EF4-FFF2-40B4-BE49-F238E27FC236}">
                <a16:creationId xmlns:a16="http://schemas.microsoft.com/office/drawing/2014/main" id="{67F3D5AD-D9C7-49CC-BAC5-537CB9279F71}"/>
              </a:ext>
            </a:extLst>
          </p:cNvPr>
          <p:cNvSpPr>
            <a:spLocks xmlns:a="http://schemas.openxmlformats.org/drawingml/2006/main" noGrp="1"/>
          </p:cNvSpPr>
          <p:nvPr/>
        </p:nvSpPr>
        <p:spPr>
          <a:xfrm xmlns:a="http://schemas.openxmlformats.org/drawingml/2006/main">
            <a:off x="800100" y="314325"/>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00">
                <a:latin typeface="Arial"/>
                <a:ea typeface="Arial"/>
                <a:cs typeface="Arial"/>
              </a:defRPr>
            </a:pPr>
            <a:r>
              <a:rPr sz="1500" b="1">
                <a:solidFill>
                  <a:srgbClr val="F7F8F8"/>
                </a:solidFill>
                <a:latin typeface="Arial"/>
                <a:ea typeface="Arial"/>
                <a:cs typeface="Arial"/>
              </a:rPr>
              <a:t>Chhotu</a:t>
            </a:r>
            <a:r>
              <a:rPr sz="1500" b="1">
                <a:solidFill>
                  <a:srgbClr val="59F2BC"/>
                </a:solidFill>
                <a:latin typeface="Arial"/>
                <a:ea typeface="Arial"/>
                <a:cs typeface="Arial"/>
              </a:rPr>
              <a:t>.ai</a:t>
            </a:r>
          </a:p>
        </p:txBody>
      </p:sp>
    </p:spTree>
    <p:extLst>
      <p:ext uri="{BB962C8B-B14F-4D97-AF65-F5344CB8AC3E}">
        <p14:creationId xmlns:p14="http://schemas.microsoft.com/office/powerpoint/2010/main" val="1821446770"/>
      </p:ext>
    </p:extLst>
  </p:cSld>
</p:sld>
</file>

<file path=ppt/slides/slide4.xml><?xml version="1.0" encoding="utf-8"?>
<p:sld xmlns:p="http://schemas.openxmlformats.org/presentationml/2006/main">
  <p:cSld>
    <p:bg>
      <p:bgPr>
        <a:solidFill xmlns:a="http://schemas.openxmlformats.org/drawingml/2006/main">
          <a:srgbClr val="E9EFE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AC671BB-5861-4747-BC82-7B1E632F5AD8}"/>
              </a:ext>
            </a:extLst>
          </p:cNvPr>
          <p:cNvSpPr>
            <a:spLocks xmlns:a="http://schemas.openxmlformats.org/drawingml/2006/main" noGrp="1"/>
          </p:cNvSpPr>
          <p:nvPr/>
        </p:nvSpPr>
        <p:spPr>
          <a:xfrm xmlns:a="http://schemas.openxmlformats.org/drawingml/2006/main">
            <a:off x="476250" y="1066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006C49"/>
                </a:solidFill>
                <a:latin typeface="Helvetica Neue"/>
                <a:ea typeface="Helvetica Neue"/>
                <a:cs typeface="Helvetica Neue"/>
              </a:defRPr>
            </a:pPr>
            <a:r>
              <a:rPr sz="900" b="1">
                <a:solidFill>
                  <a:srgbClr val="006C49"/>
                </a:solidFill>
                <a:latin typeface="Helvetica Neue"/>
                <a:ea typeface="Helvetica Neue"/>
                <a:cs typeface="Helvetica Neue"/>
              </a:rPr>
              <a:t>CURRENT PRODUCT / AVAILABLE NOW</a:t>
            </a:r>
          </a:p>
        </p:txBody>
      </p:sp>
      <p:sp>
        <p:nvSpPr>
          <p:cNvPr id="5" name="">
            <a:extLst xmlns:a="http://schemas.openxmlformats.org/drawingml/2006/main">
              <a:ext uri="{FF2B5EF4-FFF2-40B4-BE49-F238E27FC236}">
                <a16:creationId xmlns:a16="http://schemas.microsoft.com/office/drawing/2014/main" id="{DA322289-4A4D-418B-8529-F1B5352ABE84}"/>
              </a:ext>
            </a:extLst>
          </p:cNvPr>
          <p:cNvSpPr>
            <a:spLocks xmlns:a="http://schemas.openxmlformats.org/drawingml/2006/main" noGrp="1"/>
          </p:cNvSpPr>
          <p:nvPr/>
        </p:nvSpPr>
        <p:spPr>
          <a:xfrm xmlns:a="http://schemas.openxmlformats.org/drawingml/2006/main">
            <a:off x="476250" y="13811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613"/>
                </a:solidFill>
                <a:latin typeface="Helvetica Neue"/>
                <a:ea typeface="Helvetica Neue"/>
                <a:cs typeface="Helvetica Neue"/>
              </a:defRPr>
            </a:pPr>
            <a:r>
              <a:rPr sz="3000" b="1">
                <a:solidFill>
                  <a:srgbClr val="111613"/>
                </a:solidFill>
                <a:latin typeface="Helvetica Neue"/>
                <a:ea typeface="Helvetica Neue"/>
                <a:cs typeface="Helvetica Neue"/>
              </a:rPr>
              <a:t>What Chhotu.ai does today.</a:t>
            </a:r>
          </a:p>
        </p:txBody>
      </p:sp>
      <p:sp>
        <p:nvSpPr>
          <p:cNvPr id="6" name="">
            <a:extLst xmlns:a="http://schemas.openxmlformats.org/drawingml/2006/main">
              <a:ext uri="{FF2B5EF4-FFF2-40B4-BE49-F238E27FC236}">
                <a16:creationId xmlns:a16="http://schemas.microsoft.com/office/drawing/2014/main" id="{52257E59-F1EB-4CE1-A064-AE5DC05B751F}"/>
              </a:ext>
            </a:extLst>
          </p:cNvPr>
          <p:cNvSpPr>
            <a:spLocks xmlns:a="http://schemas.openxmlformats.org/drawingml/2006/main" noGrp="1"/>
          </p:cNvSpPr>
          <p:nvPr/>
        </p:nvSpPr>
        <p:spPr>
          <a:xfrm xmlns:a="http://schemas.openxmlformats.org/drawingml/2006/main">
            <a:off x="476250" y="195262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66706A"/>
                </a:solidFill>
                <a:latin typeface="Helvetica Neue"/>
                <a:ea typeface="Helvetica Neue"/>
                <a:cs typeface="Helvetica Neue"/>
              </a:defRPr>
            </a:pPr>
            <a:r>
              <a:rPr sz="1350" b="0">
                <a:solidFill>
                  <a:srgbClr val="66706A"/>
                </a:solidFill>
                <a:latin typeface="Helvetica Neue"/>
                <a:ea typeface="Helvetica Neue"/>
                <a:cs typeface="Helvetica Neue"/>
              </a:rPr>
              <a:t>Live workflows for hardware retailers, wholesalers and distributors.</a:t>
            </a:r>
          </a:p>
        </p:txBody>
      </p:sp>
      <p:sp>
        <p:nvSpPr>
          <p:cNvPr id="7" name="">
            <a:extLst xmlns:a="http://schemas.openxmlformats.org/drawingml/2006/main">
              <a:ext uri="{FF2B5EF4-FFF2-40B4-BE49-F238E27FC236}">
                <a16:creationId xmlns:a16="http://schemas.microsoft.com/office/drawing/2014/main" id="{04931027-A7A6-4BDD-8693-6B5D14FD6D9E}"/>
              </a:ext>
            </a:extLst>
          </p:cNvPr>
          <p:cNvSpPr>
            <a:spLocks xmlns:a="http://schemas.openxmlformats.org/drawingml/2006/main" noGrp="1"/>
          </p:cNvSpPr>
          <p:nvPr/>
        </p:nvSpPr>
        <p:spPr>
          <a:xfrm xmlns:a="http://schemas.openxmlformats.org/drawingml/2006/main">
            <a:off x="47625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8" name="">
            <a:extLst xmlns:a="http://schemas.openxmlformats.org/drawingml/2006/main">
              <a:ext uri="{FF2B5EF4-FFF2-40B4-BE49-F238E27FC236}">
                <a16:creationId xmlns:a16="http://schemas.microsoft.com/office/drawing/2014/main" id="{9B813A43-3F61-42D4-8185-C04839F423E2}"/>
              </a:ext>
            </a:extLst>
          </p:cNvPr>
          <p:cNvSpPr>
            <a:spLocks xmlns:a="http://schemas.openxmlformats.org/drawingml/2006/main" noGrp="1"/>
          </p:cNvSpPr>
          <p:nvPr/>
        </p:nvSpPr>
        <p:spPr>
          <a:xfrm xmlns:a="http://schemas.openxmlformats.org/drawingml/2006/main">
            <a:off x="70485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AVAILABLE NOW / VOICE</a:t>
            </a:r>
          </a:p>
        </p:txBody>
      </p:sp>
      <p:sp>
        <p:nvSpPr>
          <p:cNvPr id="9" name="">
            <a:extLst xmlns:a="http://schemas.openxmlformats.org/drawingml/2006/main">
              <a:ext uri="{FF2B5EF4-FFF2-40B4-BE49-F238E27FC236}">
                <a16:creationId xmlns:a16="http://schemas.microsoft.com/office/drawing/2014/main" id="{7764C079-EA72-43D5-8437-616792DB117D}"/>
              </a:ext>
            </a:extLst>
          </p:cNvPr>
          <p:cNvSpPr>
            <a:spLocks xmlns:a="http://schemas.openxmlformats.org/drawingml/2006/main" noGrp="1"/>
          </p:cNvSpPr>
          <p:nvPr/>
        </p:nvSpPr>
        <p:spPr>
          <a:xfrm xmlns:a="http://schemas.openxmlformats.org/drawingml/2006/main">
            <a:off x="70485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Run the ledger by speaking</a:t>
            </a:r>
          </a:p>
        </p:txBody>
      </p:sp>
      <p:sp>
        <p:nvSpPr>
          <p:cNvPr id="10" name="">
            <a:extLst xmlns:a="http://schemas.openxmlformats.org/drawingml/2006/main">
              <a:ext uri="{FF2B5EF4-FFF2-40B4-BE49-F238E27FC236}">
                <a16:creationId xmlns:a16="http://schemas.microsoft.com/office/drawing/2014/main" id="{895323D0-0E06-4EEB-B560-9E712BCC3C51}"/>
              </a:ext>
            </a:extLst>
          </p:cNvPr>
          <p:cNvSpPr>
            <a:spLocks xmlns:a="http://schemas.openxmlformats.org/drawingml/2006/main" noGrp="1"/>
          </p:cNvSpPr>
          <p:nvPr/>
        </p:nvSpPr>
        <p:spPr>
          <a:xfrm xmlns:a="http://schemas.openxmlformats.org/drawingml/2006/main">
            <a:off x="70485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Sales, purchases, stock questions and summaries across supported languages.</a:t>
            </a:r>
          </a:p>
        </p:txBody>
      </p:sp>
      <p:sp>
        <p:nvSpPr>
          <p:cNvPr id="11" name="">
            <a:extLst xmlns:a="http://schemas.openxmlformats.org/drawingml/2006/main">
              <a:ext uri="{FF2B5EF4-FFF2-40B4-BE49-F238E27FC236}">
                <a16:creationId xmlns:a16="http://schemas.microsoft.com/office/drawing/2014/main" id="{3B18C7EF-48A2-4902-9058-356256B8E7BA}"/>
              </a:ext>
            </a:extLst>
          </p:cNvPr>
          <p:cNvSpPr>
            <a:spLocks xmlns:a="http://schemas.openxmlformats.org/drawingml/2006/main" noGrp="1"/>
          </p:cNvSpPr>
          <p:nvPr/>
        </p:nvSpPr>
        <p:spPr>
          <a:xfrm xmlns:a="http://schemas.openxmlformats.org/drawingml/2006/main">
            <a:off x="628650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2" name="">
            <a:extLst xmlns:a="http://schemas.openxmlformats.org/drawingml/2006/main">
              <a:ext uri="{FF2B5EF4-FFF2-40B4-BE49-F238E27FC236}">
                <a16:creationId xmlns:a16="http://schemas.microsoft.com/office/drawing/2014/main" id="{BCCBB997-48F6-46C9-8017-30DD28DB4E11}"/>
              </a:ext>
            </a:extLst>
          </p:cNvPr>
          <p:cNvSpPr>
            <a:spLocks xmlns:a="http://schemas.openxmlformats.org/drawingml/2006/main" noGrp="1"/>
          </p:cNvSpPr>
          <p:nvPr/>
        </p:nvSpPr>
        <p:spPr>
          <a:xfrm xmlns:a="http://schemas.openxmlformats.org/drawingml/2006/main">
            <a:off x="651510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AVAILABLE NOW / INVENTORY</a:t>
            </a:r>
          </a:p>
        </p:txBody>
      </p:sp>
      <p:sp>
        <p:nvSpPr>
          <p:cNvPr id="13" name="">
            <a:extLst xmlns:a="http://schemas.openxmlformats.org/drawingml/2006/main">
              <a:ext uri="{FF2B5EF4-FFF2-40B4-BE49-F238E27FC236}">
                <a16:creationId xmlns:a16="http://schemas.microsoft.com/office/drawing/2014/main" id="{E91787D4-56AF-49D2-B41D-87760A7F46A5}"/>
              </a:ext>
            </a:extLst>
          </p:cNvPr>
          <p:cNvSpPr>
            <a:spLocks xmlns:a="http://schemas.openxmlformats.org/drawingml/2006/main" noGrp="1"/>
          </p:cNvSpPr>
          <p:nvPr/>
        </p:nvSpPr>
        <p:spPr>
          <a:xfrm xmlns:a="http://schemas.openxmlformats.org/drawingml/2006/main">
            <a:off x="651510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Know what is moving—and stuck</a:t>
            </a:r>
          </a:p>
        </p:txBody>
      </p:sp>
      <p:sp>
        <p:nvSpPr>
          <p:cNvPr id="14" name="">
            <a:extLst xmlns:a="http://schemas.openxmlformats.org/drawingml/2006/main">
              <a:ext uri="{FF2B5EF4-FFF2-40B4-BE49-F238E27FC236}">
                <a16:creationId xmlns:a16="http://schemas.microsoft.com/office/drawing/2014/main" id="{D2943E00-E8A3-4B2A-A628-EB9725439579}"/>
              </a:ext>
            </a:extLst>
          </p:cNvPr>
          <p:cNvSpPr>
            <a:spLocks xmlns:a="http://schemas.openxmlformats.org/drawingml/2006/main" noGrp="1"/>
          </p:cNvSpPr>
          <p:nvPr/>
        </p:nvSpPr>
        <p:spPr>
          <a:xfrm xmlns:a="http://schemas.openxmlformats.org/drawingml/2006/main">
            <a:off x="651510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Derived stock, low-stock alerts, margin, reconciliation and frozen capital.</a:t>
            </a:r>
          </a:p>
        </p:txBody>
      </p:sp>
      <p:sp>
        <p:nvSpPr>
          <p:cNvPr id="15" name="">
            <a:extLst xmlns:a="http://schemas.openxmlformats.org/drawingml/2006/main">
              <a:ext uri="{FF2B5EF4-FFF2-40B4-BE49-F238E27FC236}">
                <a16:creationId xmlns:a16="http://schemas.microsoft.com/office/drawing/2014/main" id="{E06871B3-3A41-4390-BEAF-DDF621CB2659}"/>
              </a:ext>
            </a:extLst>
          </p:cNvPr>
          <p:cNvSpPr>
            <a:spLocks xmlns:a="http://schemas.openxmlformats.org/drawingml/2006/main" noGrp="1"/>
          </p:cNvSpPr>
          <p:nvPr/>
        </p:nvSpPr>
        <p:spPr>
          <a:xfrm xmlns:a="http://schemas.openxmlformats.org/drawingml/2006/main">
            <a:off x="47625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6" name="">
            <a:extLst xmlns:a="http://schemas.openxmlformats.org/drawingml/2006/main">
              <a:ext uri="{FF2B5EF4-FFF2-40B4-BE49-F238E27FC236}">
                <a16:creationId xmlns:a16="http://schemas.microsoft.com/office/drawing/2014/main" id="{21F8935F-3913-4741-A1E0-069FCD611728}"/>
              </a:ext>
            </a:extLst>
          </p:cNvPr>
          <p:cNvSpPr>
            <a:spLocks xmlns:a="http://schemas.openxmlformats.org/drawingml/2006/main" noGrp="1"/>
          </p:cNvSpPr>
          <p:nvPr/>
        </p:nvSpPr>
        <p:spPr>
          <a:xfrm xmlns:a="http://schemas.openxmlformats.org/drawingml/2006/main">
            <a:off x="70485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AVAILABLE NOW / CRM + BILLING</a:t>
            </a:r>
          </a:p>
        </p:txBody>
      </p:sp>
      <p:sp>
        <p:nvSpPr>
          <p:cNvPr id="17" name="">
            <a:extLst xmlns:a="http://schemas.openxmlformats.org/drawingml/2006/main">
              <a:ext uri="{FF2B5EF4-FFF2-40B4-BE49-F238E27FC236}">
                <a16:creationId xmlns:a16="http://schemas.microsoft.com/office/drawing/2014/main" id="{BA7AF209-3E65-4405-A770-BE3687FCC2AA}"/>
              </a:ext>
            </a:extLst>
          </p:cNvPr>
          <p:cNvSpPr>
            <a:spLocks xmlns:a="http://schemas.openxmlformats.org/drawingml/2006/main" noGrp="1"/>
          </p:cNvSpPr>
          <p:nvPr/>
        </p:nvSpPr>
        <p:spPr>
          <a:xfrm xmlns:a="http://schemas.openxmlformats.org/drawingml/2006/main">
            <a:off x="70485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Every customer and rupee linked</a:t>
            </a:r>
          </a:p>
        </p:txBody>
      </p:sp>
      <p:sp>
        <p:nvSpPr>
          <p:cNvPr id="18" name="">
            <a:extLst xmlns:a="http://schemas.openxmlformats.org/drawingml/2006/main">
              <a:ext uri="{FF2B5EF4-FFF2-40B4-BE49-F238E27FC236}">
                <a16:creationId xmlns:a16="http://schemas.microsoft.com/office/drawing/2014/main" id="{2DB86878-85C2-45D7-8F28-703D7C65BA46}"/>
              </a:ext>
            </a:extLst>
          </p:cNvPr>
          <p:cNvSpPr>
            <a:spLocks xmlns:a="http://schemas.openxmlformats.org/drawingml/2006/main" noGrp="1"/>
          </p:cNvSpPr>
          <p:nvPr/>
        </p:nvSpPr>
        <p:spPr>
          <a:xfrm xmlns:a="http://schemas.openxmlformats.org/drawingml/2006/main">
            <a:off x="70485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Customer history, credit, payments, reminders and GST bills.</a:t>
            </a:r>
          </a:p>
        </p:txBody>
      </p:sp>
      <p:sp>
        <p:nvSpPr>
          <p:cNvPr id="19" name="">
            <a:extLst xmlns:a="http://schemas.openxmlformats.org/drawingml/2006/main">
              <a:ext uri="{FF2B5EF4-FFF2-40B4-BE49-F238E27FC236}">
                <a16:creationId xmlns:a16="http://schemas.microsoft.com/office/drawing/2014/main" id="{B92F2451-BB12-4E79-9982-2F7DF95524D5}"/>
              </a:ext>
            </a:extLst>
          </p:cNvPr>
          <p:cNvSpPr>
            <a:spLocks xmlns:a="http://schemas.openxmlformats.org/drawingml/2006/main" noGrp="1"/>
          </p:cNvSpPr>
          <p:nvPr/>
        </p:nvSpPr>
        <p:spPr>
          <a:xfrm xmlns:a="http://schemas.openxmlformats.org/drawingml/2006/main">
            <a:off x="628650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20" name="">
            <a:extLst xmlns:a="http://schemas.openxmlformats.org/drawingml/2006/main">
              <a:ext uri="{FF2B5EF4-FFF2-40B4-BE49-F238E27FC236}">
                <a16:creationId xmlns:a16="http://schemas.microsoft.com/office/drawing/2014/main" id="{CE4A1BED-6703-428A-8E4D-699DA5ECCF61}"/>
              </a:ext>
            </a:extLst>
          </p:cNvPr>
          <p:cNvSpPr>
            <a:spLocks xmlns:a="http://schemas.openxmlformats.org/drawingml/2006/main" noGrp="1"/>
          </p:cNvSpPr>
          <p:nvPr/>
        </p:nvSpPr>
        <p:spPr>
          <a:xfrm xmlns:a="http://schemas.openxmlformats.org/drawingml/2006/main">
            <a:off x="651510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AVAILABLE NOW / DOCUMENT AI</a:t>
            </a:r>
          </a:p>
        </p:txBody>
      </p:sp>
      <p:sp>
        <p:nvSpPr>
          <p:cNvPr id="21" name="">
            <a:extLst xmlns:a="http://schemas.openxmlformats.org/drawingml/2006/main">
              <a:ext uri="{FF2B5EF4-FFF2-40B4-BE49-F238E27FC236}">
                <a16:creationId xmlns:a16="http://schemas.microsoft.com/office/drawing/2014/main" id="{E421E6FE-6E4C-41A3-AA83-020AC6B64AE7}"/>
              </a:ext>
            </a:extLst>
          </p:cNvPr>
          <p:cNvSpPr>
            <a:spLocks xmlns:a="http://schemas.openxmlformats.org/drawingml/2006/main" noGrp="1"/>
          </p:cNvSpPr>
          <p:nvPr/>
        </p:nvSpPr>
        <p:spPr>
          <a:xfrm xmlns:a="http://schemas.openxmlformats.org/drawingml/2006/main">
            <a:off x="651510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Turn invoices into usable stock</a:t>
            </a:r>
          </a:p>
        </p:txBody>
      </p:sp>
      <p:sp>
        <p:nvSpPr>
          <p:cNvPr id="22" name="">
            <a:extLst xmlns:a="http://schemas.openxmlformats.org/drawingml/2006/main">
              <a:ext uri="{FF2B5EF4-FFF2-40B4-BE49-F238E27FC236}">
                <a16:creationId xmlns:a16="http://schemas.microsoft.com/office/drawing/2014/main" id="{F3637A70-FDBA-4BA1-A638-75B6577B14CA}"/>
              </a:ext>
            </a:extLst>
          </p:cNvPr>
          <p:cNvSpPr>
            <a:spLocks xmlns:a="http://schemas.openxmlformats.org/drawingml/2006/main" noGrp="1"/>
          </p:cNvSpPr>
          <p:nvPr/>
        </p:nvSpPr>
        <p:spPr>
          <a:xfrm xmlns:a="http://schemas.openxmlformats.org/drawingml/2006/main">
            <a:off x="651510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Scan supplier invoices; match SKUs, freight and landed cost with review.</a:t>
            </a:r>
          </a:p>
        </p:txBody>
      </p:sp>
      <p:sp>
        <p:nvSpPr>
          <p:cNvPr id="23" name="">
            <a:extLst xmlns:a="http://schemas.openxmlformats.org/drawingml/2006/main">
              <a:ext uri="{FF2B5EF4-FFF2-40B4-BE49-F238E27FC236}">
                <a16:creationId xmlns:a16="http://schemas.microsoft.com/office/drawing/2014/main" id="{8A27E46F-539B-451D-B483-076B31D3441D}"/>
              </a:ext>
            </a:extLst>
          </p:cNvPr>
          <p:cNvSpPr>
            <a:spLocks xmlns:a="http://schemas.openxmlformats.org/drawingml/2006/main" noGrp="1"/>
          </p:cNvSpPr>
          <p:nvPr/>
        </p:nvSpPr>
        <p:spPr>
          <a:xfrm xmlns:a="http://schemas.openxmlformats.org/drawingml/2006/main">
            <a:off x="476250" y="5953125"/>
            <a:ext cx="11287125" cy="514350"/>
          </a:xfrm>
          <a:prstGeom xmlns:a="http://schemas.openxmlformats.org/drawingml/2006/main" prst="roundRect">
            <a:avLst>
              <a:gd name="adj" fmla="val 25926"/>
            </a:avLst>
          </a:prstGeom>
          <a:solidFill xmlns:a="http://schemas.openxmlformats.org/drawingml/2006/main">
            <a:srgbClr val="090B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4AA82B0-18AE-4A2F-8F18-7DCEEE1D7860}"/>
              </a:ext>
            </a:extLst>
          </p:cNvPr>
          <p:cNvSpPr>
            <a:spLocks xmlns:a="http://schemas.openxmlformats.org/drawingml/2006/main" noGrp="1"/>
          </p:cNvSpPr>
          <p:nvPr/>
        </p:nvSpPr>
        <p:spPr>
          <a:xfrm xmlns:a="http://schemas.openxmlformats.org/drawingml/2006/main">
            <a:off x="742950" y="61150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F7FAF8"/>
                </a:solidFill>
                <a:latin typeface="Helvetica Neue"/>
                <a:ea typeface="Helvetica Neue"/>
                <a:cs typeface="Helvetica Neue"/>
              </a:defRPr>
            </a:pPr>
            <a:r>
              <a:rPr sz="1275" b="1">
                <a:solidFill>
                  <a:srgbClr val="F7FAF8"/>
                </a:solidFill>
                <a:latin typeface="Helvetica Neue"/>
                <a:ea typeface="Helvetica Neue"/>
                <a:cs typeface="Helvetica Neue"/>
              </a:rPr>
              <a:t>“Aaj ka hisaab batao.”</a:t>
            </a:r>
          </a:p>
        </p:txBody>
      </p:sp>
      <p:sp>
        <p:nvSpPr>
          <p:cNvPr id="25" name="">
            <a:extLst xmlns:a="http://schemas.openxmlformats.org/drawingml/2006/main">
              <a:ext uri="{FF2B5EF4-FFF2-40B4-BE49-F238E27FC236}">
                <a16:creationId xmlns:a16="http://schemas.microsoft.com/office/drawing/2014/main" id="{F61E12D5-9D6E-4215-920C-8B0DEBDF583B}"/>
              </a:ext>
            </a:extLst>
          </p:cNvPr>
          <p:cNvSpPr>
            <a:spLocks xmlns:a="http://schemas.openxmlformats.org/drawingml/2006/main" noGrp="1"/>
          </p:cNvSpPr>
          <p:nvPr/>
        </p:nvSpPr>
        <p:spPr>
          <a:xfrm xmlns:a="http://schemas.openxmlformats.org/drawingml/2006/main">
            <a:off x="6191250" y="61150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6CF8BB"/>
                </a:solidFill>
                <a:latin typeface="Helvetica Neue"/>
                <a:ea typeface="Helvetica Neue"/>
                <a:cs typeface="Helvetica Neue"/>
              </a:defRPr>
            </a:pPr>
            <a:r>
              <a:rPr sz="1050" b="1">
                <a:solidFill>
                  <a:srgbClr val="6CF8BB"/>
                </a:solidFill>
                <a:latin typeface="Helvetica Neue"/>
                <a:ea typeface="Helvetica Neue"/>
                <a:cs typeface="Helvetica Neue"/>
              </a:rPr>
              <a:t>CURRENT: VOICE  •  INVENTORY  •  CRM  •  DOCUMENT AI</a:t>
            </a:r>
          </a:p>
        </p:txBody>
      </p:sp>
      <p:sp>
        <p:nvSpPr>
          <p:cNvPr id="26" name="">
            <a:extLst xmlns:a="http://schemas.openxmlformats.org/drawingml/2006/main">
              <a:ext uri="{FF2B5EF4-FFF2-40B4-BE49-F238E27FC236}">
                <a16:creationId xmlns:a16="http://schemas.microsoft.com/office/drawing/2014/main" id="{1BF3C772-F758-44C3-8293-4A1BF34527C8}"/>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7C8780"/>
                </a:solidFill>
                <a:latin typeface="Helvetica Neue"/>
                <a:ea typeface="Helvetica Neue"/>
                <a:cs typeface="Helvetica Neue"/>
              </a:defRPr>
            </a:pPr>
            <a:r>
              <a:rPr sz="825" b="0">
                <a:solidFill>
                  <a:srgbClr val="7C8780"/>
                </a:solidFill>
                <a:latin typeface="Helvetica Neue"/>
                <a:ea typeface="Helvetica Neue"/>
                <a:cs typeface="Helvetica Neue"/>
              </a:rPr>
              <a:t>04</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5d510ccced444cd8"/>
          <a:stretch xmlns:a="http://schemas.openxmlformats.org/drawingml/2006/main"/>
        </p:blipFill>
        <p:spPr>
          <a:xfrm xmlns:a="http://schemas.openxmlformats.org/drawingml/2006/main">
            <a:off x="476250" y="342900"/>
            <a:ext cx="266700" cy="266700"/>
          </a:xfrm>
          <a:prstGeom xmlns:a="http://schemas.openxmlformats.org/drawingml/2006/main" prst="rect">
            <a:avLst/>
          </a:prstGeom>
        </p:spPr>
      </p:pic>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006190b81be44ab8"/>
          <a:stretch xmlns:a="http://schemas.openxmlformats.org/drawingml/2006/main"/>
        </p:blipFill>
        <p:spPr>
          <a:xfrm xmlns:a="http://schemas.openxmlformats.org/drawingml/2006/main">
            <a:off x="476250" y="342900"/>
            <a:ext cx="266700" cy="266700"/>
          </a:xfrm>
          <a:prstGeom xmlns:a="http://schemas.openxmlformats.org/drawingml/2006/main" prst="rect">
            <a:avLst/>
          </a:prstGeom>
        </p:spPr>
      </p:pic>
      <p:sp>
        <p:nvSpPr>
          <p:cNvPr id="35" name="Chhotu.ai wordmark">
            <a:extLst xmlns:a="http://schemas.openxmlformats.org/drawingml/2006/main">
              <a:ext uri="{FF2B5EF4-FFF2-40B4-BE49-F238E27FC236}">
                <a16:creationId xmlns:a16="http://schemas.microsoft.com/office/drawing/2014/main" id="{1828AE8B-1C29-4741-89EA-1B7732694902}"/>
              </a:ext>
            </a:extLst>
          </p:cNvPr>
          <p:cNvSpPr>
            <a:spLocks xmlns:a="http://schemas.openxmlformats.org/drawingml/2006/main" noGrp="1"/>
          </p:cNvSpPr>
          <p:nvPr/>
        </p:nvSpPr>
        <p:spPr>
          <a:xfrm xmlns:a="http://schemas.openxmlformats.org/drawingml/2006/main">
            <a:off x="800100" y="314325"/>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00">
                <a:latin typeface="Arial"/>
                <a:ea typeface="Arial"/>
                <a:cs typeface="Arial"/>
              </a:defRPr>
            </a:pPr>
            <a:r>
              <a:rPr sz="1500" b="1">
                <a:solidFill>
                  <a:srgbClr val="111814"/>
                </a:solidFill>
                <a:latin typeface="Arial"/>
                <a:ea typeface="Arial"/>
                <a:cs typeface="Arial"/>
              </a:rPr>
              <a:t>Chhotu</a:t>
            </a:r>
            <a:r>
              <a:rPr sz="1500" b="1">
                <a:solidFill>
                  <a:srgbClr val="00865F"/>
                </a:solidFill>
                <a:latin typeface="Arial"/>
                <a:ea typeface="Arial"/>
                <a:cs typeface="Arial"/>
              </a:rPr>
              <a:t>.ai</a:t>
            </a:r>
          </a:p>
        </p:txBody>
      </p:sp>
    </p:spTree>
    <p:extLst>
      <p:ext uri="{BB962C8B-B14F-4D97-AF65-F5344CB8AC3E}">
        <p14:creationId xmlns:p14="http://schemas.microsoft.com/office/powerpoint/2010/main" val="287940562"/>
      </p:ext>
    </p:extLst>
  </p:cSld>
</p:sld>
</file>

<file path=ppt/slides/slide5.xml><?xml version="1.0" encoding="utf-8"?>
<p:sld xmlns:p="http://schemas.openxmlformats.org/presentationml/2006/main">
  <p:cSld>
    <p:bg>
      <p:bgPr>
        <a:solidFill xmlns:a="http://schemas.openxmlformats.org/drawingml/2006/main">
          <a:srgbClr val="E9EFE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AC671BB-5861-4747-BC82-7B1E632F5AD8}"/>
              </a:ext>
            </a:extLst>
          </p:cNvPr>
          <p:cNvSpPr>
            <a:spLocks xmlns:a="http://schemas.openxmlformats.org/drawingml/2006/main" noGrp="1"/>
          </p:cNvSpPr>
          <p:nvPr/>
        </p:nvSpPr>
        <p:spPr>
          <a:xfrm xmlns:a="http://schemas.openxmlformats.org/drawingml/2006/main">
            <a:off x="476250" y="1066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006C49"/>
                </a:solidFill>
                <a:latin typeface="Helvetica Neue"/>
                <a:ea typeface="Helvetica Neue"/>
                <a:cs typeface="Helvetica Neue"/>
              </a:defRPr>
            </a:pPr>
            <a:r>
              <a:rPr sz="900" b="1">
                <a:solidFill>
                  <a:srgbClr val="006C49"/>
                </a:solidFill>
                <a:latin typeface="Helvetica Neue"/>
                <a:ea typeface="Helvetica Neue"/>
                <a:cs typeface="Helvetica Neue"/>
              </a:rPr>
              <a:t>FUTURE ROADMAP / NOT CURRENT</a:t>
            </a:r>
          </a:p>
        </p:txBody>
      </p:sp>
      <p:sp>
        <p:nvSpPr>
          <p:cNvPr id="5" name="">
            <a:extLst xmlns:a="http://schemas.openxmlformats.org/drawingml/2006/main">
              <a:ext uri="{FF2B5EF4-FFF2-40B4-BE49-F238E27FC236}">
                <a16:creationId xmlns:a16="http://schemas.microsoft.com/office/drawing/2014/main" id="{DA322289-4A4D-418B-8529-F1B5352ABE84}"/>
              </a:ext>
            </a:extLst>
          </p:cNvPr>
          <p:cNvSpPr>
            <a:spLocks xmlns:a="http://schemas.openxmlformats.org/drawingml/2006/main" noGrp="1"/>
          </p:cNvSpPr>
          <p:nvPr/>
        </p:nvSpPr>
        <p:spPr>
          <a:xfrm xmlns:a="http://schemas.openxmlformats.org/drawingml/2006/main">
            <a:off x="476250" y="13811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111613"/>
                </a:solidFill>
                <a:latin typeface="Helvetica Neue"/>
                <a:ea typeface="Helvetica Neue"/>
                <a:cs typeface="Helvetica Neue"/>
              </a:defRPr>
            </a:pPr>
            <a:r>
              <a:rPr sz="3000" b="1">
                <a:solidFill>
                  <a:srgbClr val="111613"/>
                </a:solidFill>
                <a:latin typeface="Helvetica Neue"/>
                <a:ea typeface="Helvetica Neue"/>
                <a:cs typeface="Helvetica Neue"/>
              </a:rPr>
              <a:t>What Chhotu.ai becomes next.</a:t>
            </a:r>
          </a:p>
        </p:txBody>
      </p:sp>
      <p:sp>
        <p:nvSpPr>
          <p:cNvPr id="6" name="">
            <a:extLst xmlns:a="http://schemas.openxmlformats.org/drawingml/2006/main">
              <a:ext uri="{FF2B5EF4-FFF2-40B4-BE49-F238E27FC236}">
                <a16:creationId xmlns:a16="http://schemas.microsoft.com/office/drawing/2014/main" id="{52257E59-F1EB-4CE1-A064-AE5DC05B751F}"/>
              </a:ext>
            </a:extLst>
          </p:cNvPr>
          <p:cNvSpPr>
            <a:spLocks xmlns:a="http://schemas.openxmlformats.org/drawingml/2006/main" noGrp="1"/>
          </p:cNvSpPr>
          <p:nvPr/>
        </p:nvSpPr>
        <p:spPr>
          <a:xfrm xmlns:a="http://schemas.openxmlformats.org/drawingml/2006/main">
            <a:off x="476250" y="195262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66706A"/>
                </a:solidFill>
                <a:latin typeface="Helvetica Neue"/>
                <a:ea typeface="Helvetica Neue"/>
                <a:cs typeface="Helvetica Neue"/>
              </a:defRPr>
            </a:pPr>
            <a:r>
              <a:rPr sz="1350" b="0">
                <a:solidFill>
                  <a:srgbClr val="66706A"/>
                </a:solidFill>
                <a:latin typeface="Helvetica Neue"/>
                <a:ea typeface="Helvetica Neue"/>
                <a:cs typeface="Helvetica Neue"/>
              </a:rPr>
              <a:t>Roadmap expectations—not capabilities claimed in today’s production product.</a:t>
            </a:r>
          </a:p>
        </p:txBody>
      </p:sp>
      <p:sp>
        <p:nvSpPr>
          <p:cNvPr id="7" name="">
            <a:extLst xmlns:a="http://schemas.openxmlformats.org/drawingml/2006/main">
              <a:ext uri="{FF2B5EF4-FFF2-40B4-BE49-F238E27FC236}">
                <a16:creationId xmlns:a16="http://schemas.microsoft.com/office/drawing/2014/main" id="{04931027-A7A6-4BDD-8693-6B5D14FD6D9E}"/>
              </a:ext>
            </a:extLst>
          </p:cNvPr>
          <p:cNvSpPr>
            <a:spLocks xmlns:a="http://schemas.openxmlformats.org/drawingml/2006/main" noGrp="1"/>
          </p:cNvSpPr>
          <p:nvPr/>
        </p:nvSpPr>
        <p:spPr>
          <a:xfrm xmlns:a="http://schemas.openxmlformats.org/drawingml/2006/main">
            <a:off x="47625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8" name="">
            <a:extLst xmlns:a="http://schemas.openxmlformats.org/drawingml/2006/main">
              <a:ext uri="{FF2B5EF4-FFF2-40B4-BE49-F238E27FC236}">
                <a16:creationId xmlns:a16="http://schemas.microsoft.com/office/drawing/2014/main" id="{9B813A43-3F61-42D4-8185-C04839F423E2}"/>
              </a:ext>
            </a:extLst>
          </p:cNvPr>
          <p:cNvSpPr>
            <a:spLocks xmlns:a="http://schemas.openxmlformats.org/drawingml/2006/main" noGrp="1"/>
          </p:cNvSpPr>
          <p:nvPr/>
        </p:nvSpPr>
        <p:spPr>
          <a:xfrm xmlns:a="http://schemas.openxmlformats.org/drawingml/2006/main">
            <a:off x="70485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IN DEVELOPMENT / ORDERS</a:t>
            </a:r>
          </a:p>
        </p:txBody>
      </p:sp>
      <p:sp>
        <p:nvSpPr>
          <p:cNvPr id="9" name="">
            <a:extLst xmlns:a="http://schemas.openxmlformats.org/drawingml/2006/main">
              <a:ext uri="{FF2B5EF4-FFF2-40B4-BE49-F238E27FC236}">
                <a16:creationId xmlns:a16="http://schemas.microsoft.com/office/drawing/2014/main" id="{7764C079-EA72-43D5-8437-616792DB117D}"/>
              </a:ext>
            </a:extLst>
          </p:cNvPr>
          <p:cNvSpPr>
            <a:spLocks xmlns:a="http://schemas.openxmlformats.org/drawingml/2006/main" noGrp="1"/>
          </p:cNvSpPr>
          <p:nvPr/>
        </p:nvSpPr>
        <p:spPr>
          <a:xfrm xmlns:a="http://schemas.openxmlformats.org/drawingml/2006/main">
            <a:off x="70485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Take orders on voice and calls</a:t>
            </a:r>
          </a:p>
        </p:txBody>
      </p:sp>
      <p:sp>
        <p:nvSpPr>
          <p:cNvPr id="10" name="">
            <a:extLst xmlns:a="http://schemas.openxmlformats.org/drawingml/2006/main">
              <a:ext uri="{FF2B5EF4-FFF2-40B4-BE49-F238E27FC236}">
                <a16:creationId xmlns:a16="http://schemas.microsoft.com/office/drawing/2014/main" id="{895323D0-0E06-4EEB-B560-9E712BCC3C51}"/>
              </a:ext>
            </a:extLst>
          </p:cNvPr>
          <p:cNvSpPr>
            <a:spLocks xmlns:a="http://schemas.openxmlformats.org/drawingml/2006/main" noGrp="1"/>
          </p:cNvSpPr>
          <p:nvPr/>
        </p:nvSpPr>
        <p:spPr>
          <a:xfrm xmlns:a="http://schemas.openxmlformats.org/drawingml/2006/main">
            <a:off x="70485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Multi-item drafts, confirmation, reservations and customer order status.</a:t>
            </a:r>
          </a:p>
        </p:txBody>
      </p:sp>
      <p:sp>
        <p:nvSpPr>
          <p:cNvPr id="11" name="">
            <a:extLst xmlns:a="http://schemas.openxmlformats.org/drawingml/2006/main">
              <a:ext uri="{FF2B5EF4-FFF2-40B4-BE49-F238E27FC236}">
                <a16:creationId xmlns:a16="http://schemas.microsoft.com/office/drawing/2014/main" id="{3B18C7EF-48A2-4902-9058-356256B8E7BA}"/>
              </a:ext>
            </a:extLst>
          </p:cNvPr>
          <p:cNvSpPr>
            <a:spLocks xmlns:a="http://schemas.openxmlformats.org/drawingml/2006/main" noGrp="1"/>
          </p:cNvSpPr>
          <p:nvPr/>
        </p:nvSpPr>
        <p:spPr>
          <a:xfrm xmlns:a="http://schemas.openxmlformats.org/drawingml/2006/main">
            <a:off x="6286500" y="261937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2" name="">
            <a:extLst xmlns:a="http://schemas.openxmlformats.org/drawingml/2006/main">
              <a:ext uri="{FF2B5EF4-FFF2-40B4-BE49-F238E27FC236}">
                <a16:creationId xmlns:a16="http://schemas.microsoft.com/office/drawing/2014/main" id="{BCCBB997-48F6-46C9-8017-30DD28DB4E11}"/>
              </a:ext>
            </a:extLst>
          </p:cNvPr>
          <p:cNvSpPr>
            <a:spLocks xmlns:a="http://schemas.openxmlformats.org/drawingml/2006/main" noGrp="1"/>
          </p:cNvSpPr>
          <p:nvPr/>
        </p:nvSpPr>
        <p:spPr>
          <a:xfrm xmlns:a="http://schemas.openxmlformats.org/drawingml/2006/main">
            <a:off x="6515100" y="2809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PLANNED / DELIVERY</a:t>
            </a:r>
          </a:p>
        </p:txBody>
      </p:sp>
      <p:sp>
        <p:nvSpPr>
          <p:cNvPr id="13" name="">
            <a:extLst xmlns:a="http://schemas.openxmlformats.org/drawingml/2006/main">
              <a:ext uri="{FF2B5EF4-FFF2-40B4-BE49-F238E27FC236}">
                <a16:creationId xmlns:a16="http://schemas.microsoft.com/office/drawing/2014/main" id="{E91787D4-56AF-49D2-B41D-87760A7F46A5}"/>
              </a:ext>
            </a:extLst>
          </p:cNvPr>
          <p:cNvSpPr>
            <a:spLocks xmlns:a="http://schemas.openxmlformats.org/drawingml/2006/main" noGrp="1"/>
          </p:cNvSpPr>
          <p:nvPr/>
        </p:nvSpPr>
        <p:spPr>
          <a:xfrm xmlns:a="http://schemas.openxmlformats.org/drawingml/2006/main">
            <a:off x="6515100" y="3105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Track fulfilment end to end</a:t>
            </a:r>
          </a:p>
        </p:txBody>
      </p:sp>
      <p:sp>
        <p:nvSpPr>
          <p:cNvPr id="14" name="">
            <a:extLst xmlns:a="http://schemas.openxmlformats.org/drawingml/2006/main">
              <a:ext uri="{FF2B5EF4-FFF2-40B4-BE49-F238E27FC236}">
                <a16:creationId xmlns:a16="http://schemas.microsoft.com/office/drawing/2014/main" id="{D2943E00-E8A3-4B2A-A628-EB9725439579}"/>
              </a:ext>
            </a:extLst>
          </p:cNvPr>
          <p:cNvSpPr>
            <a:spLocks xmlns:a="http://schemas.openxmlformats.org/drawingml/2006/main" noGrp="1"/>
          </p:cNvSpPr>
          <p:nvPr/>
        </p:nvSpPr>
        <p:spPr>
          <a:xfrm xmlns:a="http://schemas.openxmlformats.org/drawingml/2006/main">
            <a:off x="6515100" y="3486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22"/>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Dispatch queue, own-fleet or provider adapters, proof and reattempts.</a:t>
            </a:r>
          </a:p>
        </p:txBody>
      </p:sp>
      <p:sp>
        <p:nvSpPr>
          <p:cNvPr id="15" name="">
            <a:extLst xmlns:a="http://schemas.openxmlformats.org/drawingml/2006/main">
              <a:ext uri="{FF2B5EF4-FFF2-40B4-BE49-F238E27FC236}">
                <a16:creationId xmlns:a16="http://schemas.microsoft.com/office/drawing/2014/main" id="{E06871B3-3A41-4390-BEAF-DDF621CB2659}"/>
              </a:ext>
            </a:extLst>
          </p:cNvPr>
          <p:cNvSpPr>
            <a:spLocks xmlns:a="http://schemas.openxmlformats.org/drawingml/2006/main" noGrp="1"/>
          </p:cNvSpPr>
          <p:nvPr/>
        </p:nvSpPr>
        <p:spPr>
          <a:xfrm xmlns:a="http://schemas.openxmlformats.org/drawingml/2006/main">
            <a:off x="47625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16" name="">
            <a:extLst xmlns:a="http://schemas.openxmlformats.org/drawingml/2006/main">
              <a:ext uri="{FF2B5EF4-FFF2-40B4-BE49-F238E27FC236}">
                <a16:creationId xmlns:a16="http://schemas.microsoft.com/office/drawing/2014/main" id="{21F8935F-3913-4741-A1E0-069FCD611728}"/>
              </a:ext>
            </a:extLst>
          </p:cNvPr>
          <p:cNvSpPr>
            <a:spLocks xmlns:a="http://schemas.openxmlformats.org/drawingml/2006/main" noGrp="1"/>
          </p:cNvSpPr>
          <p:nvPr/>
        </p:nvSpPr>
        <p:spPr>
          <a:xfrm xmlns:a="http://schemas.openxmlformats.org/drawingml/2006/main">
            <a:off x="70485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PLANNED / SUPPLIER RESTOCK</a:t>
            </a:r>
          </a:p>
        </p:txBody>
      </p:sp>
      <p:sp>
        <p:nvSpPr>
          <p:cNvPr id="17" name="">
            <a:extLst xmlns:a="http://schemas.openxmlformats.org/drawingml/2006/main">
              <a:ext uri="{FF2B5EF4-FFF2-40B4-BE49-F238E27FC236}">
                <a16:creationId xmlns:a16="http://schemas.microsoft.com/office/drawing/2014/main" id="{BA7AF209-3E65-4405-A770-BE3687FCC2AA}"/>
              </a:ext>
            </a:extLst>
          </p:cNvPr>
          <p:cNvSpPr>
            <a:spLocks xmlns:a="http://schemas.openxmlformats.org/drawingml/2006/main" noGrp="1"/>
          </p:cNvSpPr>
          <p:nvPr/>
        </p:nvSpPr>
        <p:spPr>
          <a:xfrm xmlns:a="http://schemas.openxmlformats.org/drawingml/2006/main">
            <a:off x="70485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Chhotu calls suppliers</a:t>
            </a:r>
          </a:p>
        </p:txBody>
      </p:sp>
      <p:sp>
        <p:nvSpPr>
          <p:cNvPr id="18" name="">
            <a:extLst xmlns:a="http://schemas.openxmlformats.org/drawingml/2006/main">
              <a:ext uri="{FF2B5EF4-FFF2-40B4-BE49-F238E27FC236}">
                <a16:creationId xmlns:a16="http://schemas.microsoft.com/office/drawing/2014/main" id="{2DB86878-85C2-45D7-8F28-703D7C65BA46}"/>
              </a:ext>
            </a:extLst>
          </p:cNvPr>
          <p:cNvSpPr>
            <a:spLocks xmlns:a="http://schemas.openxmlformats.org/drawingml/2006/main" noGrp="1"/>
          </p:cNvSpPr>
          <p:nvPr/>
        </p:nvSpPr>
        <p:spPr>
          <a:xfrm xmlns:a="http://schemas.openxmlformats.org/drawingml/2006/main">
            <a:off x="70485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Reorder suggestions, purchase orders, rates, lead times and goods receipts.</a:t>
            </a:r>
          </a:p>
        </p:txBody>
      </p:sp>
      <p:sp>
        <p:nvSpPr>
          <p:cNvPr id="19" name="">
            <a:extLst xmlns:a="http://schemas.openxmlformats.org/drawingml/2006/main">
              <a:ext uri="{FF2B5EF4-FFF2-40B4-BE49-F238E27FC236}">
                <a16:creationId xmlns:a16="http://schemas.microsoft.com/office/drawing/2014/main" id="{B92F2451-BB12-4E79-9982-2F7DF95524D5}"/>
              </a:ext>
            </a:extLst>
          </p:cNvPr>
          <p:cNvSpPr>
            <a:spLocks xmlns:a="http://schemas.openxmlformats.org/drawingml/2006/main" noGrp="1"/>
          </p:cNvSpPr>
          <p:nvPr/>
        </p:nvSpPr>
        <p:spPr>
          <a:xfrm xmlns:a="http://schemas.openxmlformats.org/drawingml/2006/main">
            <a:off x="6286500" y="4238625"/>
            <a:ext cx="5476875" cy="1381125"/>
          </a:xfrm>
          <a:prstGeom xmlns:a="http://schemas.openxmlformats.org/drawingml/2006/main" prst="roundRect">
            <a:avLst>
              <a:gd name="adj" fmla="val 11034"/>
            </a:avLst>
          </a:prstGeom>
          <a:solidFill xmlns:a="http://schemas.openxmlformats.org/drawingml/2006/main">
            <a:srgbClr val="F6F8F7"/>
          </a:solidFill>
          <a:ln xmlns:a="http://schemas.openxmlformats.org/drawingml/2006/main" w="9525">
            <a:solidFill>
              <a:srgbClr val="CCD6D0"/>
            </a:solidFill>
            <a:prstDash val="solid"/>
          </a:ln>
        </p:spPr>
      </p:sp>
      <p:sp>
        <p:nvSpPr>
          <p:cNvPr id="20" name="">
            <a:extLst xmlns:a="http://schemas.openxmlformats.org/drawingml/2006/main">
              <a:ext uri="{FF2B5EF4-FFF2-40B4-BE49-F238E27FC236}">
                <a16:creationId xmlns:a16="http://schemas.microsoft.com/office/drawing/2014/main" id="{CE4A1BED-6703-428A-8E4D-699DA5ECCF61}"/>
              </a:ext>
            </a:extLst>
          </p:cNvPr>
          <p:cNvSpPr>
            <a:spLocks xmlns:a="http://schemas.openxmlformats.org/drawingml/2006/main" noGrp="1"/>
          </p:cNvSpPr>
          <p:nvPr/>
        </p:nvSpPr>
        <p:spPr>
          <a:xfrm xmlns:a="http://schemas.openxmlformats.org/drawingml/2006/main">
            <a:off x="6515100" y="44291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32"/>
          </a:bodyPr>
          <a:lstStyle xmlns:a="http://schemas.openxmlformats.org/drawingml/2006/main"/>
          <a:p xmlns:a="http://schemas.openxmlformats.org/drawingml/2006/main">
            <a:pPr algn="l">
              <a:buNone/>
              <a:defRPr sz="825" b="1">
                <a:solidFill>
                  <a:srgbClr val="006C49"/>
                </a:solidFill>
                <a:latin typeface="Helvetica Neue"/>
                <a:ea typeface="Helvetica Neue"/>
                <a:cs typeface="Helvetica Neue"/>
              </a:defRPr>
            </a:pPr>
            <a:r>
              <a:rPr sz="825" b="1">
                <a:solidFill>
                  <a:srgbClr val="006C49"/>
                </a:solidFill>
                <a:latin typeface="Helvetica Neue"/>
                <a:ea typeface="Helvetica Neue"/>
                <a:cs typeface="Helvetica Neue"/>
              </a:rPr>
              <a:t>LONGER TERM / WAREHOUSE SCALE</a:t>
            </a:r>
          </a:p>
        </p:txBody>
      </p:sp>
      <p:sp>
        <p:nvSpPr>
          <p:cNvPr id="21" name="">
            <a:extLst xmlns:a="http://schemas.openxmlformats.org/drawingml/2006/main">
              <a:ext uri="{FF2B5EF4-FFF2-40B4-BE49-F238E27FC236}">
                <a16:creationId xmlns:a16="http://schemas.microsoft.com/office/drawing/2014/main" id="{E421E6FE-6E4C-41A3-AA83-020AC6B64AE7}"/>
              </a:ext>
            </a:extLst>
          </p:cNvPr>
          <p:cNvSpPr>
            <a:spLocks xmlns:a="http://schemas.openxmlformats.org/drawingml/2006/main" noGrp="1"/>
          </p:cNvSpPr>
          <p:nvPr/>
        </p:nvSpPr>
        <p:spPr>
          <a:xfrm xmlns:a="http://schemas.openxmlformats.org/drawingml/2006/main">
            <a:off x="6515100" y="47244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11613"/>
                </a:solidFill>
                <a:latin typeface="Helvetica Neue"/>
                <a:ea typeface="Helvetica Neue"/>
                <a:cs typeface="Helvetica Neue"/>
              </a:defRPr>
            </a:pPr>
            <a:r>
              <a:rPr sz="1725" b="1">
                <a:solidFill>
                  <a:srgbClr val="111613"/>
                </a:solidFill>
                <a:latin typeface="Helvetica Neue"/>
                <a:ea typeface="Helvetica Neue"/>
                <a:cs typeface="Helvetica Neue"/>
              </a:rPr>
              <a:t>Reconcile every hand-off</a:t>
            </a:r>
          </a:p>
        </p:txBody>
      </p:sp>
      <p:sp>
        <p:nvSpPr>
          <p:cNvPr id="22" name="">
            <a:extLst xmlns:a="http://schemas.openxmlformats.org/drawingml/2006/main">
              <a:ext uri="{FF2B5EF4-FFF2-40B4-BE49-F238E27FC236}">
                <a16:creationId xmlns:a16="http://schemas.microsoft.com/office/drawing/2014/main" id="{F3637A70-FDBA-4BA1-A638-75B6577B14CA}"/>
              </a:ext>
            </a:extLst>
          </p:cNvPr>
          <p:cNvSpPr>
            <a:spLocks xmlns:a="http://schemas.openxmlformats.org/drawingml/2006/main" noGrp="1"/>
          </p:cNvSpPr>
          <p:nvPr/>
        </p:nvSpPr>
        <p:spPr>
          <a:xfrm xmlns:a="http://schemas.openxmlformats.org/drawingml/2006/main">
            <a:off x="6515100" y="51054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buNone/>
              <a:defRPr sz="1200" b="0">
                <a:solidFill>
                  <a:srgbClr val="69736D"/>
                </a:solidFill>
                <a:latin typeface="Helvetica Neue"/>
                <a:ea typeface="Helvetica Neue"/>
                <a:cs typeface="Helvetica Neue"/>
              </a:defRPr>
            </a:pPr>
            <a:r>
              <a:rPr sz="1200" b="0">
                <a:solidFill>
                  <a:srgbClr val="69736D"/>
                </a:solidFill>
                <a:latin typeface="Helvetica Neue"/>
                <a:ea typeface="Helvetica Neue"/>
                <a:cs typeface="Helvetica Neue"/>
              </a:rPr>
              <a:t>PO ↔ receipt ↔ invoice checks, provider webhooks and fulfilment analytics.</a:t>
            </a:r>
          </a:p>
        </p:txBody>
      </p:sp>
      <p:sp>
        <p:nvSpPr>
          <p:cNvPr id="23" name="">
            <a:extLst xmlns:a="http://schemas.openxmlformats.org/drawingml/2006/main">
              <a:ext uri="{FF2B5EF4-FFF2-40B4-BE49-F238E27FC236}">
                <a16:creationId xmlns:a16="http://schemas.microsoft.com/office/drawing/2014/main" id="{8A27E46F-539B-451D-B483-076B31D3441D}"/>
              </a:ext>
            </a:extLst>
          </p:cNvPr>
          <p:cNvSpPr>
            <a:spLocks xmlns:a="http://schemas.openxmlformats.org/drawingml/2006/main" noGrp="1"/>
          </p:cNvSpPr>
          <p:nvPr/>
        </p:nvSpPr>
        <p:spPr>
          <a:xfrm xmlns:a="http://schemas.openxmlformats.org/drawingml/2006/main">
            <a:off x="476250" y="5953125"/>
            <a:ext cx="11287125" cy="514350"/>
          </a:xfrm>
          <a:prstGeom xmlns:a="http://schemas.openxmlformats.org/drawingml/2006/main" prst="roundRect">
            <a:avLst>
              <a:gd name="adj" fmla="val 25926"/>
            </a:avLst>
          </a:prstGeom>
          <a:solidFill xmlns:a="http://schemas.openxmlformats.org/drawingml/2006/main">
            <a:srgbClr val="090B0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4AA82B0-18AE-4A2F-8F18-7DCEEE1D7860}"/>
              </a:ext>
            </a:extLst>
          </p:cNvPr>
          <p:cNvSpPr>
            <a:spLocks xmlns:a="http://schemas.openxmlformats.org/drawingml/2006/main" noGrp="1"/>
          </p:cNvSpPr>
          <p:nvPr/>
        </p:nvSpPr>
        <p:spPr>
          <a:xfrm xmlns:a="http://schemas.openxmlformats.org/drawingml/2006/main">
            <a:off x="742950" y="61150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F7FAF8"/>
                </a:solidFill>
                <a:latin typeface="Helvetica Neue"/>
                <a:ea typeface="Helvetica Neue"/>
                <a:cs typeface="Helvetica Neue"/>
              </a:defRPr>
            </a:pPr>
            <a:r>
              <a:rPr sz="1275" b="1">
                <a:solidFill>
                  <a:srgbClr val="F7FAF8"/>
                </a:solidFill>
                <a:latin typeface="Helvetica Neue"/>
                <a:ea typeface="Helvetica Neue"/>
                <a:cs typeface="Helvetica Neue"/>
              </a:rPr>
              <a:t>FUTURE CONCEPT: “Hey Chhotu…”</a:t>
            </a:r>
          </a:p>
        </p:txBody>
      </p:sp>
      <p:sp>
        <p:nvSpPr>
          <p:cNvPr id="25" name="">
            <a:extLst xmlns:a="http://schemas.openxmlformats.org/drawingml/2006/main">
              <a:ext uri="{FF2B5EF4-FFF2-40B4-BE49-F238E27FC236}">
                <a16:creationId xmlns:a16="http://schemas.microsoft.com/office/drawing/2014/main" id="{F61E12D5-9D6E-4215-920C-8B0DEBDF583B}"/>
              </a:ext>
            </a:extLst>
          </p:cNvPr>
          <p:cNvSpPr>
            <a:spLocks xmlns:a="http://schemas.openxmlformats.org/drawingml/2006/main" noGrp="1"/>
          </p:cNvSpPr>
          <p:nvPr/>
        </p:nvSpPr>
        <p:spPr>
          <a:xfrm xmlns:a="http://schemas.openxmlformats.org/drawingml/2006/main">
            <a:off x="6191250" y="61150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1">
                <a:solidFill>
                  <a:srgbClr val="6CF8BB"/>
                </a:solidFill>
                <a:latin typeface="Helvetica Neue"/>
                <a:ea typeface="Helvetica Neue"/>
                <a:cs typeface="Helvetica Neue"/>
              </a:defRPr>
            </a:pPr>
            <a:r>
              <a:rPr sz="1050" b="1">
                <a:solidFill>
                  <a:srgbClr val="6CF8BB"/>
                </a:solidFill>
                <a:latin typeface="Helvetica Neue"/>
                <a:ea typeface="Helvetica Neue"/>
                <a:cs typeface="Helvetica Neue"/>
              </a:rPr>
              <a:t>OPT-IN WAKE WORD  •  ON-DEVICE TRIGGER</a:t>
            </a:r>
          </a:p>
        </p:txBody>
      </p:sp>
      <p:sp>
        <p:nvSpPr>
          <p:cNvPr id="26" name="">
            <a:extLst xmlns:a="http://schemas.openxmlformats.org/drawingml/2006/main">
              <a:ext uri="{FF2B5EF4-FFF2-40B4-BE49-F238E27FC236}">
                <a16:creationId xmlns:a16="http://schemas.microsoft.com/office/drawing/2014/main" id="{1BF3C772-F758-44C3-8293-4A1BF34527C8}"/>
              </a:ext>
            </a:extLst>
          </p:cNvPr>
          <p:cNvSpPr>
            <a:spLocks xmlns:a="http://schemas.openxmlformats.org/drawingml/2006/main" noGrp="1"/>
          </p:cNvSpPr>
          <p:nvPr/>
        </p:nvSpPr>
        <p:spPr>
          <a:xfrm xmlns:a="http://schemas.openxmlformats.org/drawingml/2006/main">
            <a:off x="11334750" y="6381750"/>
            <a:ext cx="361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825" b="0">
                <a:solidFill>
                  <a:srgbClr val="7C8780"/>
                </a:solidFill>
                <a:latin typeface="Helvetica Neue"/>
                <a:ea typeface="Helvetica Neue"/>
                <a:cs typeface="Helvetica Neue"/>
              </a:defRPr>
            </a:pPr>
            <a:r>
              <a:rPr sz="825" b="0">
                <a:solidFill>
                  <a:srgbClr val="7C8780"/>
                </a:solidFill>
                <a:latin typeface="Helvetica Neue"/>
                <a:ea typeface="Helvetica Neue"/>
                <a:cs typeface="Helvetica Neue"/>
              </a:rPr>
              <a:t>05</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bea1e3e99ca948e0"/>
          <a:stretch xmlns:a="http://schemas.openxmlformats.org/drawingml/2006/main"/>
        </p:blipFill>
        <p:spPr>
          <a:xfrm xmlns:a="http://schemas.openxmlformats.org/drawingml/2006/main">
            <a:off x="476250" y="342900"/>
            <a:ext cx="266700" cy="266700"/>
          </a:xfrm>
          <a:prstGeom xmlns:a="http://schemas.openxmlformats.org/drawingml/2006/main" prst="rect">
            <a:avLst/>
          </a:prstGeom>
        </p:spPr>
      </p:pic>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83637e72e58d47b4"/>
          <a:stretch xmlns:a="http://schemas.openxmlformats.org/drawingml/2006/main"/>
        </p:blipFill>
        <p:spPr>
          <a:xfrm xmlns:a="http://schemas.openxmlformats.org/drawingml/2006/main">
            <a:off x="476250" y="342900"/>
            <a:ext cx="266700" cy="266700"/>
          </a:xfrm>
          <a:prstGeom xmlns:a="http://schemas.openxmlformats.org/drawingml/2006/main" prst="rect">
            <a:avLst/>
          </a:prstGeom>
        </p:spPr>
      </p:pic>
      <p:sp>
        <p:nvSpPr>
          <p:cNvPr id="35" name="Chhotu.ai wordmark">
            <a:extLst xmlns:a="http://schemas.openxmlformats.org/drawingml/2006/main">
              <a:ext uri="{FF2B5EF4-FFF2-40B4-BE49-F238E27FC236}">
                <a16:creationId xmlns:a16="http://schemas.microsoft.com/office/drawing/2014/main" id="{4D480302-C551-4950-801E-98D24102AB12}"/>
              </a:ext>
            </a:extLst>
          </p:cNvPr>
          <p:cNvSpPr>
            <a:spLocks xmlns:a="http://schemas.openxmlformats.org/drawingml/2006/main" noGrp="1"/>
          </p:cNvSpPr>
          <p:nvPr/>
        </p:nvSpPr>
        <p:spPr>
          <a:xfrm xmlns:a="http://schemas.openxmlformats.org/drawingml/2006/main">
            <a:off x="800100" y="314325"/>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00">
                <a:latin typeface="Arial"/>
                <a:ea typeface="Arial"/>
                <a:cs typeface="Arial"/>
              </a:defRPr>
            </a:pPr>
            <a:r>
              <a:rPr sz="1500" b="1">
                <a:solidFill>
                  <a:srgbClr val="111814"/>
                </a:solidFill>
                <a:latin typeface="Arial"/>
                <a:ea typeface="Arial"/>
                <a:cs typeface="Arial"/>
              </a:rPr>
              <a:t>Chhotu</a:t>
            </a:r>
            <a:r>
              <a:rPr sz="1500" b="1">
                <a:solidFill>
                  <a:srgbClr val="00865F"/>
                </a:solidFill>
                <a:latin typeface="Arial"/>
                <a:ea typeface="Arial"/>
                <a:cs typeface="Arial"/>
              </a:rPr>
              <a:t>.ai</a:t>
            </a:r>
          </a:p>
        </p:txBody>
      </p:sp>
    </p:spTree>
    <p:extLst>
      <p:ext uri="{BB962C8B-B14F-4D97-AF65-F5344CB8AC3E}">
        <p14:creationId xmlns:p14="http://schemas.microsoft.com/office/powerpoint/2010/main" val="2879405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2026-07-30T03:27:39.8210000Z</dcterms:created>
  <dcterms:modified xsi:type="dcterms:W3CDTF">2026-07-30T03:27:39.8210000Z</dcterms:modified>
</coreProperties>
</file>