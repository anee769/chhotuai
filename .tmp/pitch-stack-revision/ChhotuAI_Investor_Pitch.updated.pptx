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ee43f21cb94e09" /><Relationship Type="http://schemas.openxmlformats.org/officeDocument/2006/relationships/extended-properties" Target="/docProps/app.xml" Id="Ra83e6dee201b4940" /><Relationship Type="http://schemas.openxmlformats.org/officeDocument/2006/relationships/officeDocument" Target="/ppt/presentation.xml" Id="R51cfe66174704ee2" /></Relationships>
</file>

<file path=ppt/presentation.xml><?xml version="1.0" encoding="utf-8"?>
<p:presentation xmlns:p="http://schemas.openxmlformats.org/presentationml/2006/main">
  <p:sldMasterIdLst>
    <p:sldMasterId xmlns:r="http://schemas.openxmlformats.org/officeDocument/2006/relationships" id="2147483648" r:id="Rb2aba767a7354c33"/>
  </p:sldMasterIdLst>
  <p:notesMasterIdLst>
    <p:notesMasterId xmlns:r="http://schemas.openxmlformats.org/officeDocument/2006/relationships" r:id="R3aa3a8a7eca2404b"/>
  </p:notesMasterIdLst>
  <p:sldIdLst>
    <p:sldId xmlns:r="http://schemas.openxmlformats.org/officeDocument/2006/relationships" id="256" r:id="Rf03051a3a82842c3"/>
    <p:sldId xmlns:r="http://schemas.openxmlformats.org/officeDocument/2006/relationships" id="257" r:id="R8941dc5606d44a4d"/>
    <p:sldId xmlns:r="http://schemas.openxmlformats.org/officeDocument/2006/relationships" id="258" r:id="R35a5de86294c4160"/>
    <p:sldId xmlns:r="http://schemas.openxmlformats.org/officeDocument/2006/relationships" id="259" r:id="R1c374b7b88ca4024"/>
    <p:sldId xmlns:r="http://schemas.openxmlformats.org/officeDocument/2006/relationships" id="260" r:id="Ra3548cb1d5974b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6b13254ad545bd" /><Relationship Type="http://schemas.openxmlformats.org/officeDocument/2006/relationships/slideMaster" Target="/ppt/slideMasters/slideMaster1.xml" Id="Rb2aba767a7354c33" /><Relationship Type="http://schemas.openxmlformats.org/officeDocument/2006/relationships/notesMaster" Target="/ppt/notesMasters/notesMaster1.xml" Id="R3aa3a8a7eca2404b" /><Relationship Type="http://schemas.openxmlformats.org/officeDocument/2006/relationships/presProps" Target="/ppt/presProps.xml" Id="R1924d12ca24d4e5c" /><Relationship Type="http://schemas.openxmlformats.org/officeDocument/2006/relationships/tableStyles" Target="/ppt/tableStyles.xml" Id="R5e183103da3342eb" /><Relationship Type="http://schemas.openxmlformats.org/officeDocument/2006/relationships/slide" Target="/ppt/slides/slide1.xml" Id="Rf03051a3a82842c3" /><Relationship Type="http://schemas.openxmlformats.org/officeDocument/2006/relationships/slide" Target="/ppt/slides/slide2.xml" Id="R8941dc5606d44a4d" /><Relationship Type="http://schemas.openxmlformats.org/officeDocument/2006/relationships/slide" Target="/ppt/slides/slide3.xml" Id="R35a5de86294c4160" /><Relationship Type="http://schemas.openxmlformats.org/officeDocument/2006/relationships/slide" Target="/ppt/slides/slide4.xml" Id="R1c374b7b88ca4024" /><Relationship Type="http://schemas.openxmlformats.org/officeDocument/2006/relationships/slide" Target="/ppt/slides/slide5.xml" Id="Ra3548cb1d5974b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300c0c0de44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d94b213fbc4680" /><Relationship Type="http://schemas.openxmlformats.org/officeDocument/2006/relationships/notesMaster" Target="/ppt/notesMasters/notesMaster1.xml" Id="Re9b2aa1029a740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6c855ca9f843be" /><Relationship Type="http://schemas.openxmlformats.org/officeDocument/2006/relationships/notesMaster" Target="/ppt/notesMasters/notesMaster1.xml" Id="R22e5be3f09534b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846fcda43c4a1f" /><Relationship Type="http://schemas.openxmlformats.org/officeDocument/2006/relationships/notesMaster" Target="/ppt/notesMasters/notesMaster1.xml" Id="Rbd7306e5e31c47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560bd788694480" /><Relationship Type="http://schemas.openxmlformats.org/officeDocument/2006/relationships/notesMaster" Target="/ppt/notesMasters/notesMaster1.xml" Id="R5cc3c2df1d424e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5e04e116234ab0" /><Relationship Type="http://schemas.openxmlformats.org/officeDocument/2006/relationships/notesMaster" Target="/ppt/notesMasters/notesMaster1.xml" Id="R7bc54286ae6440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Start with the hardware and construction-store beachhead. The warehouse image is the destination, not the first customer segment. Speaker 2 introduces Aneesh Gupta and Faizan Sheikh.</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/Users/faizansheikh/ChhotuAI/ChhotuAI_Investor_Pitch.pptx (existing embedded OpenAI ImageGen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Our first market is not retail alone. MoSPI estimates 2.28 crore unincorporated trade establishments in 2023–24; trade covers wholesale and retail. Only 34.7% of trade establishments used the internet for entrepreneurial work. The Rs 55,244.31 crore figure is not the whole receivables market: it is the value of formal delayed-payment applications filed by micro and small enterprises on MSME Samadhaan through 31 December 2025. Together, the numbers show a very large operating base, uneven digitisation, and a costly credit problem.</a:t>
            </a:r>
          </a:p>
          <a:p xmlns:a="http://schemas.openxmlformats.org/drawingml/2006/main">
            <a:r>
              <a:t/>
            </a:r>
          </a:p>
          <a:p xmlns:a="http://schemas.openxmlformats.org/drawingml/2006/main">
            <a:r>
              <a:t>[Sources]</a:t>
            </a:r>
          </a:p>
          <a:p xmlns:a="http://schemas.openxmlformats.org/drawingml/2006/main">
            <a:r>
              <a:t>- https://mospi.gov.in/sites/default/files/publication_reports/ASUSE_2023_24_Full_Report-L.pdf</a:t>
            </a:r>
          </a:p>
          <a:p xmlns:a="http://schemas.openxmlformats.org/drawingml/2006/main">
            <a:r>
              <a:t>- https://msme.gov.in/sites/default/files/MSMEANNUALREPORT2025-26ENGLISH_0.pdf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Sarvam is the interaction layer we actually use. Saaras v3 converts multilingual and code-mixed speech into text. Samvaad carries the live conversation, interruptions, context, and grounded calls to our inventory, CRM, billing, and reporting tools. Bulbul v3 speaks the verified result back to the owner. In the fallback path, Chhotu.ai calls Saaras and Bulbul directly. For supplier documents, Sarvam Vision digitises images and PDFs; our backend then maps product, quantity, GST, freight, and cost to the shop catalogue and keeps a review gate before stock changes. We do not use a separate generic translation service in the live voice path: code-mixed transcription, transliteration, and English-normalised tool parameters keep backend actions reliable.</a:t>
            </a:r>
          </a:p>
          <a:p xmlns:a="http://schemas.openxmlformats.org/drawingml/2006/main">
            <a:r>
              <a:t/>
            </a:r>
          </a:p>
          <a:p xmlns:a="http://schemas.openxmlformats.org/drawingml/2006/main">
            <a:r>
              <a:t>[Sources]</a:t>
            </a:r>
          </a:p>
          <a:p xmlns:a="http://schemas.openxmlformats.org/drawingml/2006/main">
            <a:r>
              <a:t>- https://docs.sarvam.ai/api/getting-started/models</a:t>
            </a:r>
          </a:p>
          <a:p xmlns:a="http://schemas.openxmlformats.org/drawingml/2006/main">
            <a:r>
              <a:t>- https://docs.sarvam.ai/api/getting-started/models/saaras</a:t>
            </a:r>
          </a:p>
          <a:p xmlns:a="http://schemas.openxmlformats.org/drawingml/2006/main">
            <a:r>
              <a:t>- https://docs.sarvam.ai/api/getting-started/models/sarvam-vision</a:t>
            </a:r>
          </a:p>
          <a:p xmlns:a="http://schemas.openxmlformats.org/drawingml/2006/main">
            <a:r>
              <a:t>- https://docs.sarvam.ai/api/api-guides-tutorials/document-digitization/overview</a:t>
            </a:r>
          </a:p>
          <a:p xmlns:a="http://schemas.openxmlformats.org/drawingml/2006/main">
            <a:r>
              <a:t>- https://www.sarvam.ai/products/conversational-agents</a:t>
            </a:r>
          </a:p>
          <a:p xmlns:a="http://schemas.openxmlformats.org/drawingml/2006/main">
            <a:r>
              <a:t>- /Users/faizansheikh/ChhotuAI/backend/sarvam_client.py</a:t>
            </a:r>
          </a:p>
          <a:p xmlns:a="http://schemas.openxmlformats.org/drawingml/2006/main">
            <a:r>
              <a:t>- /Users/faizansheikh/ChhotuAI/backend/samvaad_runtime.py</a:t>
            </a:r>
          </a:p>
          <a:p xmlns:a="http://schemas.openxmlformats.org/drawingml/2006/main">
            <a:r>
              <a:t>- /Users/faizansheikh/ChhotuAI/frontend/src/samvaad.js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This is the live product for hardware and construction stores. Keep orders and provider-managed deliveries for the next slide because they are on the dev roadmap, not the production claim. The important technical point is that the agent never becomes the ledger: grounded backend tools validate and store every stock or money action.</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/Users/faizansheikh/ChhotuAI/backend/main.py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Phase 1 and Phase 2—manual order lifecycle and grounded Sarvam order tools—are implemented on dev and still require isolated preview acceptance before production. Later phases add dispatch, inbound customer calls, supplier restocking, invoice reconciliation and provider adapters. A 'Hey Chhotu' experience is feasible, but should be opt-in and privacy-preserving: use an on-device wake-word detector, then open the Samvaad session only after the local trigger. Reliable always-on listening is best delivered through an installed mobile/PWA, kiosk or native companion; ordinary mobile browsers may suspend background audio.</a:t>
            </a:r>
          </a:p>
          <a:p xmlns:a="http://schemas.openxmlformats.org/drawingml/2006/main">
            <a:r>
              <a:t/>
            </a:r>
          </a:p>
          <a:p xmlns:a="http://schemas.openxmlformats.org/drawingml/2006/main">
            <a:r>
              <a:t>[Sources]</a:t>
            </a:r>
          </a:p>
          <a:p xmlns:a="http://schemas.openxmlformats.org/drawingml/2006/main">
            <a:r>
              <a:t>- /Users/faizansheikh/ChhotuAI/docs/order-fulfilment-roadmap.md</a:t>
            </a:r>
          </a:p>
          <a:p xmlns:a="http://schemas.openxmlformats.org/drawingml/2006/main">
            <a:r>
              <a:t>- /Users/faizansheikh/ChhotuAI/README.md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86ecb22b5f4f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c6427d5d8d418e" /><Relationship Type="http://schemas.openxmlformats.org/officeDocument/2006/relationships/slideLayout" Target="/ppt/slideLayouts/slideLayout1.xml" Id="R5f28ff93804349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28ff93804349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539e4297fa4bda" /><Relationship Type="http://schemas.openxmlformats.org/officeDocument/2006/relationships/image" Target="/ppt/media/image.png" Id="R97e06d76d59f478c" /><Relationship Type="http://schemas.openxmlformats.org/officeDocument/2006/relationships/image" Target="/ppt/media/image.svg" Id="R0215b3022d2a4cd0" /><Relationship Type="http://schemas.openxmlformats.org/officeDocument/2006/relationships/notesSlide" Target="/ppt/notesSlides/notesSlide1.xml" Id="R72acce8cad0d46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694869d74f467d" /><Relationship Type="http://schemas.openxmlformats.org/officeDocument/2006/relationships/image" Target="/ppt/media/image2.png" Id="Ra025bb5762e548c4" /><Relationship Type="http://schemas.openxmlformats.org/officeDocument/2006/relationships/image" Target="/ppt/media/image2.svg" Id="R122a2d0eb75a4c86" /><Relationship Type="http://schemas.openxmlformats.org/officeDocument/2006/relationships/notesSlide" Target="/ppt/notesSlides/notesSlide2.xml" Id="Rf139e4897e8b41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633f9841654cd8" /><Relationship Type="http://schemas.openxmlformats.org/officeDocument/2006/relationships/image" Target="/ppt/media/image3.png" Id="R1fc92462252d44c9" /><Relationship Type="http://schemas.openxmlformats.org/officeDocument/2006/relationships/image" Target="/ppt/media/image3.svg" Id="R1bd092c749204444" /><Relationship Type="http://schemas.openxmlformats.org/officeDocument/2006/relationships/notesSlide" Target="/ppt/notesSlides/notesSlide3.xml" Id="R2b53f8e08db842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17f86562a9499b" /><Relationship Type="http://schemas.openxmlformats.org/officeDocument/2006/relationships/image" Target="/ppt/media/image4.png" Id="R86c8a64a1c194693" /><Relationship Type="http://schemas.openxmlformats.org/officeDocument/2006/relationships/image" Target="/ppt/media/image4.svg" Id="Re08c33d9c6ac4f22" /><Relationship Type="http://schemas.openxmlformats.org/officeDocument/2006/relationships/notesSlide" Target="/ppt/notesSlides/notesSlide4.xml" Id="R849a0080729049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120b859b844c4f" /><Relationship Type="http://schemas.openxmlformats.org/officeDocument/2006/relationships/image" Target="/ppt/media/image4.png" Id="R68c3c50cf5e34eea" /><Relationship Type="http://schemas.openxmlformats.org/officeDocument/2006/relationships/image" Target="/ppt/media/image4.svg" Id="R7a0fcf23f77f43bb" /><Relationship Type="http://schemas.openxmlformats.org/officeDocument/2006/relationships/notesSlide" Target="/ppt/notesSlides/notesSlide5.xml" Id="Rc457a116ad494a5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97e06d76d59f47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97e06d76d59f478c">
            <a:extLst>
              <a:ext uri="{96DAC541-7B7A-43D3-8B79-37D633B846F1}">
                <asvg:svgBlip xmlns:asvg="http://schemas.microsoft.com/office/drawing/2016/SVG/main" r:embed="R0215b3022d2a4cd0"/>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C1FF57-87B5-4009-9D1B-1C4C2D1ECBFC}"/>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5" name="">
            <a:extLst xmlns:a="http://schemas.openxmlformats.org/drawingml/2006/main">
              <a:ext uri="{FF2B5EF4-FFF2-40B4-BE49-F238E27FC236}">
                <a16:creationId xmlns:a16="http://schemas.microsoft.com/office/drawing/2014/main" id="{59DEA8B0-72D6-410E-B576-225492906D2D}"/>
              </a:ext>
            </a:extLst>
          </p:cNvPr>
          <p:cNvSpPr>
            <a:spLocks xmlns:a="http://schemas.openxmlformats.org/drawingml/2006/main" noGrp="1"/>
          </p:cNvSpPr>
          <p:nvPr/>
        </p:nvSpPr>
        <p:spPr>
          <a:xfrm xmlns:a="http://schemas.openxmlformats.org/drawingml/2006/main">
            <a:off x="495300" y="12192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THE AI OPERATING SYSTEM FOR INDIA'S HARDWARE TRADE</a:t>
            </a:r>
          </a:p>
        </p:txBody>
      </p:sp>
      <p:sp>
        <p:nvSpPr>
          <p:cNvPr id="6" name="">
            <a:extLst xmlns:a="http://schemas.openxmlformats.org/drawingml/2006/main">
              <a:ext uri="{FF2B5EF4-FFF2-40B4-BE49-F238E27FC236}">
                <a16:creationId xmlns:a16="http://schemas.microsoft.com/office/drawing/2014/main" id="{D0527617-5FF0-4C96-8104-C820629C79D8}"/>
              </a:ext>
            </a:extLst>
          </p:cNvPr>
          <p:cNvSpPr>
            <a:spLocks xmlns:a="http://schemas.openxmlformats.org/drawingml/2006/main" noGrp="1"/>
          </p:cNvSpPr>
          <p:nvPr/>
        </p:nvSpPr>
        <p:spPr>
          <a:xfrm xmlns:a="http://schemas.openxmlformats.org/drawingml/2006/main">
            <a:off x="476250" y="1752600"/>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F7FAF8"/>
                </a:solidFill>
                <a:latin typeface="Helvetica Neue"/>
                <a:ea typeface="Helvetica Neue"/>
                <a:cs typeface="Helvetica Neue"/>
              </a:defRPr>
            </a:pPr>
            <a:r>
              <a:rPr sz="4650" b="1">
                <a:solidFill>
                  <a:srgbClr val="F7FAF8"/>
                </a:solidFill>
                <a:latin typeface="Helvetica Neue"/>
                <a:ea typeface="Helvetica Neue"/>
                <a:cs typeface="Helvetica Neue"/>
              </a:rPr>
              <a:t>Your business</a:t>
            </a:r>
          </a:p>
        </p:txBody>
      </p:sp>
      <p:sp>
        <p:nvSpPr>
          <p:cNvPr id="7" name="">
            <a:extLst xmlns:a="http://schemas.openxmlformats.org/drawingml/2006/main">
              <a:ext uri="{FF2B5EF4-FFF2-40B4-BE49-F238E27FC236}">
                <a16:creationId xmlns:a16="http://schemas.microsoft.com/office/drawing/2014/main" id="{28E3960B-5776-476E-A941-039263333FCC}"/>
              </a:ext>
            </a:extLst>
          </p:cNvPr>
          <p:cNvSpPr>
            <a:spLocks xmlns:a="http://schemas.openxmlformats.org/drawingml/2006/main" noGrp="1"/>
          </p:cNvSpPr>
          <p:nvPr/>
        </p:nvSpPr>
        <p:spPr>
          <a:xfrm xmlns:a="http://schemas.openxmlformats.org/drawingml/2006/main">
            <a:off x="476250" y="2447925"/>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79827D"/>
                </a:solidFill>
                <a:latin typeface="Helvetica Neue"/>
                <a:ea typeface="Helvetica Neue"/>
                <a:cs typeface="Helvetica Neue"/>
              </a:defRPr>
            </a:pPr>
            <a:r>
              <a:rPr sz="4650" b="1">
                <a:solidFill>
                  <a:srgbClr val="79827D"/>
                </a:solidFill>
                <a:latin typeface="Helvetica Neue"/>
                <a:ea typeface="Helvetica Neue"/>
                <a:cs typeface="Helvetica Neue"/>
              </a:rPr>
              <a:t>just learned</a:t>
            </a:r>
          </a:p>
        </p:txBody>
      </p:sp>
      <p:sp>
        <p:nvSpPr>
          <p:cNvPr id="8" name="">
            <a:extLst xmlns:a="http://schemas.openxmlformats.org/drawingml/2006/main">
              <a:ext uri="{FF2B5EF4-FFF2-40B4-BE49-F238E27FC236}">
                <a16:creationId xmlns:a16="http://schemas.microsoft.com/office/drawing/2014/main" id="{17946C83-2036-49E8-887B-D06697640A51}"/>
              </a:ext>
            </a:extLst>
          </p:cNvPr>
          <p:cNvSpPr>
            <a:spLocks xmlns:a="http://schemas.openxmlformats.org/drawingml/2006/main" noGrp="1"/>
          </p:cNvSpPr>
          <p:nvPr/>
        </p:nvSpPr>
        <p:spPr>
          <a:xfrm xmlns:a="http://schemas.openxmlformats.org/drawingml/2006/main">
            <a:off x="476250" y="314325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5100" b="1">
                <a:solidFill>
                  <a:srgbClr val="6CF8BB"/>
                </a:solidFill>
                <a:latin typeface="Helvetica Neue"/>
                <a:ea typeface="Helvetica Neue"/>
                <a:cs typeface="Helvetica Neue"/>
              </a:defRPr>
            </a:pPr>
            <a:r>
              <a:rPr sz="5100" b="1">
                <a:solidFill>
                  <a:srgbClr val="6CF8BB"/>
                </a:solidFill>
                <a:latin typeface="Helvetica Neue"/>
                <a:ea typeface="Helvetica Neue"/>
                <a:cs typeface="Helvetica Neue"/>
              </a:rPr>
              <a:t>to listen.</a:t>
            </a:r>
          </a:p>
        </p:txBody>
      </p:sp>
      <p:sp>
        <p:nvSpPr>
          <p:cNvPr id="9" name="">
            <a:extLst xmlns:a="http://schemas.openxmlformats.org/drawingml/2006/main">
              <a:ext uri="{FF2B5EF4-FFF2-40B4-BE49-F238E27FC236}">
                <a16:creationId xmlns:a16="http://schemas.microsoft.com/office/drawing/2014/main" id="{C1F654FB-E953-4731-81C9-BFCE75A8CCD8}"/>
              </a:ext>
            </a:extLst>
          </p:cNvPr>
          <p:cNvSpPr>
            <a:spLocks xmlns:a="http://schemas.openxmlformats.org/drawingml/2006/main" noGrp="1"/>
          </p:cNvSpPr>
          <p:nvPr/>
        </p:nvSpPr>
        <p:spPr>
          <a:xfrm xmlns:a="http://schemas.openxmlformats.org/drawingml/2006/main">
            <a:off x="504825" y="40957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9CA59F"/>
                </a:solidFill>
                <a:latin typeface="Helvetica Neue"/>
                <a:ea typeface="Helvetica Neue"/>
                <a:cs typeface="Helvetica Neue"/>
              </a:defRPr>
            </a:pPr>
            <a:r>
              <a:rPr sz="1575" b="0">
                <a:solidFill>
                  <a:srgbClr val="9CA59F"/>
                </a:solidFill>
                <a:latin typeface="Helvetica Neue"/>
                <a:ea typeface="Helvetica Neue"/>
                <a:cs typeface="Helvetica Neue"/>
              </a:rPr>
              <a:t>Voice-first operations for hardware retailers, wholesalers and distributors.</a:t>
            </a:r>
          </a:p>
        </p:txBody>
      </p:sp>
      <p:cxnSp>
        <p:nvCxnSpPr>
          <p:cNvPr id="131" name=""/>
          <p:cNvCxnSpPr/>
          <p:nvPr/>
        </p:nvCxnSpPr>
        <p:spPr>
          <a:xfrm xmlns:a="http://schemas.openxmlformats.org/drawingml/2006/main">
            <a:off x="495300" y="5334000"/>
            <a:ext cx="4762500" cy="0"/>
          </a:xfrm>
          <a:prstGeom xmlns:a="http://schemas.openxmlformats.org/drawingml/2006/main" prst="straightConnector1">
            <a:avLst/>
          </a:prstGeom>
          <a:ln xmlns:a="http://schemas.openxmlformats.org/drawingml/2006/main" w="9525">
            <a:solidFill>
              <a:srgbClr val="35403A"/>
            </a:solidFill>
            <a:prstDash val="solid"/>
          </a:ln>
        </p:spPr>
      </p:cxnSp>
      <p:sp>
        <p:nvSpPr>
          <p:cNvPr id="11" name="">
            <a:extLst xmlns:a="http://schemas.openxmlformats.org/drawingml/2006/main">
              <a:ext uri="{FF2B5EF4-FFF2-40B4-BE49-F238E27FC236}">
                <a16:creationId xmlns:a16="http://schemas.microsoft.com/office/drawing/2014/main" id="{E86AA560-1F6C-4F65-A89A-E2A5F83B8A44}"/>
              </a:ext>
            </a:extLst>
          </p:cNvPr>
          <p:cNvSpPr>
            <a:spLocks xmlns:a="http://schemas.openxmlformats.org/drawingml/2006/main" noGrp="1"/>
          </p:cNvSpPr>
          <p:nvPr/>
        </p:nvSpPr>
        <p:spPr>
          <a:xfrm xmlns:a="http://schemas.openxmlformats.org/drawingml/2006/main">
            <a:off x="495300" y="55435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TEAM</a:t>
            </a:r>
          </a:p>
        </p:txBody>
      </p:sp>
      <p:sp>
        <p:nvSpPr>
          <p:cNvPr id="12" name="">
            <a:extLst xmlns:a="http://schemas.openxmlformats.org/drawingml/2006/main">
              <a:ext uri="{FF2B5EF4-FFF2-40B4-BE49-F238E27FC236}">
                <a16:creationId xmlns:a16="http://schemas.microsoft.com/office/drawing/2014/main" id="{041388A9-6AA3-4D22-B99F-12D0F3CB8418}"/>
              </a:ext>
            </a:extLst>
          </p:cNvPr>
          <p:cNvSpPr>
            <a:spLocks xmlns:a="http://schemas.openxmlformats.org/drawingml/2006/main" noGrp="1"/>
          </p:cNvSpPr>
          <p:nvPr/>
        </p:nvSpPr>
        <p:spPr>
          <a:xfrm xmlns:a="http://schemas.openxmlformats.org/drawingml/2006/main">
            <a:off x="495300"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Aneesh Gupta</a:t>
            </a:r>
          </a:p>
        </p:txBody>
      </p:sp>
      <p:sp>
        <p:nvSpPr>
          <p:cNvPr id="13" name="">
            <a:extLst xmlns:a="http://schemas.openxmlformats.org/drawingml/2006/main">
              <a:ext uri="{FF2B5EF4-FFF2-40B4-BE49-F238E27FC236}">
                <a16:creationId xmlns:a16="http://schemas.microsoft.com/office/drawing/2014/main" id="{49609BFB-B16A-47B2-9B71-258C4F5A28C1}"/>
              </a:ext>
            </a:extLst>
          </p:cNvPr>
          <p:cNvSpPr>
            <a:spLocks xmlns:a="http://schemas.openxmlformats.org/drawingml/2006/main" noGrp="1"/>
          </p:cNvSpPr>
          <p:nvPr/>
        </p:nvSpPr>
        <p:spPr>
          <a:xfrm xmlns:a="http://schemas.openxmlformats.org/drawingml/2006/main">
            <a:off x="2714625"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Faizan Sheikh</a:t>
            </a:r>
          </a:p>
        </p:txBody>
      </p:sp>
      <p:sp>
        <p:nvSpPr>
          <p:cNvPr id="14" name="">
            <a:extLst xmlns:a="http://schemas.openxmlformats.org/drawingml/2006/main">
              <a:ext uri="{FF2B5EF4-FFF2-40B4-BE49-F238E27FC236}">
                <a16:creationId xmlns:a16="http://schemas.microsoft.com/office/drawing/2014/main" id="{EAD682D9-DD20-4871-A38E-DF61787EC2F4}"/>
              </a:ext>
            </a:extLst>
          </p:cNvPr>
          <p:cNvSpPr>
            <a:spLocks xmlns:a="http://schemas.openxmlformats.org/drawingml/2006/main" noGrp="1"/>
          </p:cNvSpPr>
          <p:nvPr/>
        </p:nvSpPr>
        <p:spPr>
          <a:xfrm xmlns:a="http://schemas.openxmlformats.org/drawingml/2006/main">
            <a:off x="9620250" y="45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INVESTOR / JURY PITCH</a:t>
            </a:r>
          </a:p>
        </p:txBody>
      </p:sp>
    </p:spTree>
    <p:extLst>
      <p:ext uri="{BB962C8B-B14F-4D97-AF65-F5344CB8AC3E}">
        <p14:creationId xmlns:p14="http://schemas.microsoft.com/office/powerpoint/2010/main" val="1104339199"/>
      </p:ext>
    </p:extLst>
  </p:cSld>
</p:sld>
</file>

<file path=ppt/slides/slide2.xml><?xml version="1.0" encoding="utf-8"?>
<p:sld xmlns:p="http://schemas.openxmlformats.org/presentationml/2006/main">
  <p:cSld>
    <p:bg>
      <p:bgPr>
        <a:solidFill xmlns:a="http://schemas.openxmlformats.org/drawingml/2006/main">
          <a:srgbClr val="090B0B"/>
        </a:solidFill>
      </p:bgPr>
    </p:bg>
    <p:spTree>
      <p:nvGrpSpPr>
        <p:cNvPr id="1" name=""/>
        <p:cNvGrpSpPr/>
        <p:nvPr/>
      </p:nvGrpSpPr>
      <p:grpSpPr>
        <a:xfrm xmlns:a="http://schemas.openxmlformats.org/drawingml/2006/main"/>
      </p:grpSpPr>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a025bb5762e548c4">
            <a:extLst>
              <a:ext uri="{96DAC541-7B7A-43D3-8B79-37D633B846F1}">
                <asvg:svgBlip xmlns:asvg="http://schemas.microsoft.com/office/drawing/2016/SVG/main" r:embed="R122a2d0eb75a4c86"/>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DC1CB2-37D6-45EF-AFD2-B99CC737F3D8}"/>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EBF1DADD-43DA-4FED-9A98-CB6355DB1E84}"/>
              </a:ext>
            </a:extLst>
          </p:cNvPr>
          <p:cNvSpPr>
            <a:spLocks xmlns:a="http://schemas.openxmlformats.org/drawingml/2006/main" noGrp="1"/>
          </p:cNvSpPr>
          <p:nvPr/>
        </p:nvSpPr>
        <p:spPr>
          <a:xfrm xmlns:a="http://schemas.openxmlformats.org/drawingml/2006/main">
            <a:off x="476250" y="1066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THE TRADE REALITY</a:t>
            </a:r>
          </a:p>
        </p:txBody>
      </p:sp>
      <p:sp>
        <p:nvSpPr>
          <p:cNvPr id="5" name="">
            <a:extLst xmlns:a="http://schemas.openxmlformats.org/drawingml/2006/main">
              <a:ext uri="{FF2B5EF4-FFF2-40B4-BE49-F238E27FC236}">
                <a16:creationId xmlns:a16="http://schemas.microsoft.com/office/drawing/2014/main" id="{1B998FAF-E5FB-4AF5-BD42-4A356C91DBC0}"/>
              </a:ext>
            </a:extLst>
          </p:cNvPr>
          <p:cNvSpPr>
            <a:spLocks xmlns:a="http://schemas.openxmlformats.org/drawingml/2006/main" noGrp="1"/>
          </p:cNvSpPr>
          <p:nvPr/>
        </p:nvSpPr>
        <p:spPr>
          <a:xfrm xmlns:a="http://schemas.openxmlformats.org/drawingml/2006/main">
            <a:off x="476250" y="13811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Trade moves fast. Records still lag.</a:t>
            </a:r>
          </a:p>
        </p:txBody>
      </p:sp>
      <p:sp>
        <p:nvSpPr>
          <p:cNvPr id="6" name="">
            <a:extLst xmlns:a="http://schemas.openxmlformats.org/drawingml/2006/main">
              <a:ext uri="{FF2B5EF4-FFF2-40B4-BE49-F238E27FC236}">
                <a16:creationId xmlns:a16="http://schemas.microsoft.com/office/drawing/2014/main" id="{D52F71CD-CD68-472D-B87B-5FA96953EBE2}"/>
              </a:ext>
            </a:extLst>
          </p:cNvPr>
          <p:cNvSpPr>
            <a:spLocks xmlns:a="http://schemas.openxmlformats.org/drawingml/2006/main" noGrp="1"/>
          </p:cNvSpPr>
          <p:nvPr/>
        </p:nvSpPr>
        <p:spPr>
          <a:xfrm xmlns:a="http://schemas.openxmlformats.org/drawingml/2006/main">
            <a:off x="47625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2.28 crore</a:t>
            </a:r>
          </a:p>
        </p:txBody>
      </p:sp>
      <p:sp>
        <p:nvSpPr>
          <p:cNvPr id="7" name="">
            <a:extLst xmlns:a="http://schemas.openxmlformats.org/drawingml/2006/main">
              <a:ext uri="{FF2B5EF4-FFF2-40B4-BE49-F238E27FC236}">
                <a16:creationId xmlns:a16="http://schemas.microsoft.com/office/drawing/2014/main" id="{4B524CF0-8E93-43D2-B8A8-E49CD9154BE6}"/>
              </a:ext>
            </a:extLst>
          </p:cNvPr>
          <p:cNvSpPr>
            <a:spLocks xmlns:a="http://schemas.openxmlformats.org/drawingml/2006/main" noGrp="1"/>
          </p:cNvSpPr>
          <p:nvPr/>
        </p:nvSpPr>
        <p:spPr>
          <a:xfrm xmlns:a="http://schemas.openxmlformats.org/drawingml/2006/main">
            <a:off x="47625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a:t>
            </a:r>
          </a:p>
        </p:txBody>
      </p:sp>
      <p:cxnSp>
        <p:nvCxnSpPr>
          <p:cNvPr id="137" name=""/>
          <p:cNvCxnSpPr/>
          <p:nvPr/>
        </p:nvCxnSpPr>
        <p:spPr>
          <a:xfrm xmlns:a="http://schemas.openxmlformats.org/drawingml/2006/main">
            <a:off x="4095750"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9" name="">
            <a:extLst xmlns:a="http://schemas.openxmlformats.org/drawingml/2006/main">
              <a:ext uri="{FF2B5EF4-FFF2-40B4-BE49-F238E27FC236}">
                <a16:creationId xmlns:a16="http://schemas.microsoft.com/office/drawing/2014/main" id="{30B146CC-B12F-48EB-97B6-28A429ADE5D9}"/>
              </a:ext>
            </a:extLst>
          </p:cNvPr>
          <p:cNvSpPr>
            <a:spLocks xmlns:a="http://schemas.openxmlformats.org/drawingml/2006/main" noGrp="1"/>
          </p:cNvSpPr>
          <p:nvPr/>
        </p:nvSpPr>
        <p:spPr>
          <a:xfrm xmlns:a="http://schemas.openxmlformats.org/drawingml/2006/main">
            <a:off x="4333875"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34.7%</a:t>
            </a:r>
          </a:p>
        </p:txBody>
      </p:sp>
      <p:sp>
        <p:nvSpPr>
          <p:cNvPr id="10" name="">
            <a:extLst xmlns:a="http://schemas.openxmlformats.org/drawingml/2006/main">
              <a:ext uri="{FF2B5EF4-FFF2-40B4-BE49-F238E27FC236}">
                <a16:creationId xmlns:a16="http://schemas.microsoft.com/office/drawing/2014/main" id="{A523E032-B78F-4D65-9B44-AAAA4068A970}"/>
              </a:ext>
            </a:extLst>
          </p:cNvPr>
          <p:cNvSpPr>
            <a:spLocks xmlns:a="http://schemas.openxmlformats.org/drawingml/2006/main" noGrp="1"/>
          </p:cNvSpPr>
          <p:nvPr/>
        </p:nvSpPr>
        <p:spPr>
          <a:xfrm xmlns:a="http://schemas.openxmlformats.org/drawingml/2006/main">
            <a:off x="4333875"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 using internet</a:t>
            </a:r>
          </a:p>
        </p:txBody>
      </p:sp>
      <p:cxnSp>
        <p:nvCxnSpPr>
          <p:cNvPr id="140" name=""/>
          <p:cNvCxnSpPr/>
          <p:nvPr/>
        </p:nvCxnSpPr>
        <p:spPr>
          <a:xfrm xmlns:a="http://schemas.openxmlformats.org/drawingml/2006/main">
            <a:off x="7953375"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12" name="">
            <a:extLst xmlns:a="http://schemas.openxmlformats.org/drawingml/2006/main">
              <a:ext uri="{FF2B5EF4-FFF2-40B4-BE49-F238E27FC236}">
                <a16:creationId xmlns:a16="http://schemas.microsoft.com/office/drawing/2014/main" id="{BFA5A0EC-510E-4788-8A4B-64B6726987DD}"/>
              </a:ext>
            </a:extLst>
          </p:cNvPr>
          <p:cNvSpPr>
            <a:spLocks xmlns:a="http://schemas.openxmlformats.org/drawingml/2006/main" noGrp="1"/>
          </p:cNvSpPr>
          <p:nvPr/>
        </p:nvSpPr>
        <p:spPr>
          <a:xfrm xmlns:a="http://schemas.openxmlformats.org/drawingml/2006/main">
            <a:off x="819150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FB34D"/>
                </a:solidFill>
                <a:latin typeface="Helvetica Neue"/>
                <a:ea typeface="Helvetica Neue"/>
                <a:cs typeface="Helvetica Neue"/>
              </a:defRPr>
            </a:pPr>
            <a:r>
              <a:rPr sz="3000" b="1">
                <a:solidFill>
                  <a:srgbClr val="FFB34D"/>
                </a:solidFill>
                <a:latin typeface="Helvetica Neue"/>
                <a:ea typeface="Helvetica Neue"/>
                <a:cs typeface="Helvetica Neue"/>
              </a:rPr>
              <a:t>₹55,244 cr</a:t>
            </a:r>
          </a:p>
        </p:txBody>
      </p:sp>
      <p:sp>
        <p:nvSpPr>
          <p:cNvPr id="13" name="">
            <a:extLst xmlns:a="http://schemas.openxmlformats.org/drawingml/2006/main">
              <a:ext uri="{FF2B5EF4-FFF2-40B4-BE49-F238E27FC236}">
                <a16:creationId xmlns:a16="http://schemas.microsoft.com/office/drawing/2014/main" id="{B4DBD1A7-D1F1-48D6-A3D4-0724A65CA563}"/>
              </a:ext>
            </a:extLst>
          </p:cNvPr>
          <p:cNvSpPr>
            <a:spLocks xmlns:a="http://schemas.openxmlformats.org/drawingml/2006/main" noGrp="1"/>
          </p:cNvSpPr>
          <p:nvPr/>
        </p:nvSpPr>
        <p:spPr>
          <a:xfrm xmlns:a="http://schemas.openxmlformats.org/drawingml/2006/main">
            <a:off x="819150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delayed-payment claims filed by MSEs</a:t>
            </a:r>
          </a:p>
        </p:txBody>
      </p:sp>
      <p:sp>
        <p:nvSpPr>
          <p:cNvPr id="14" name="">
            <a:extLst xmlns:a="http://schemas.openxmlformats.org/drawingml/2006/main">
              <a:ext uri="{FF2B5EF4-FFF2-40B4-BE49-F238E27FC236}">
                <a16:creationId xmlns:a16="http://schemas.microsoft.com/office/drawing/2014/main" id="{4BB4C6F2-B40A-41D8-A768-DA0D8CAA5C74}"/>
              </a:ext>
            </a:extLst>
          </p:cNvPr>
          <p:cNvSpPr>
            <a:spLocks xmlns:a="http://schemas.openxmlformats.org/drawingml/2006/main" noGrp="1"/>
          </p:cNvSpPr>
          <p:nvPr/>
        </p:nvSpPr>
        <p:spPr>
          <a:xfrm xmlns:a="http://schemas.openxmlformats.org/drawingml/2006/main">
            <a:off x="476250" y="3333750"/>
            <a:ext cx="5334000" cy="2571750"/>
          </a:xfrm>
          <a:prstGeom xmlns:a="http://schemas.openxmlformats.org/drawingml/2006/main" prst="roundRect">
            <a:avLst>
              <a:gd name="adj" fmla="val 6667"/>
            </a:avLst>
          </a:prstGeom>
          <a:solidFill xmlns:a="http://schemas.openxmlformats.org/drawingml/2006/main">
            <a:srgbClr val="111514"/>
          </a:solidFill>
          <a:ln xmlns:a="http://schemas.openxmlformats.org/drawingml/2006/main" w="9525">
            <a:solidFill>
              <a:srgbClr val="28302C"/>
            </a:solidFill>
            <a:prstDash val="solid"/>
          </a:ln>
        </p:spPr>
      </p:sp>
      <p:sp>
        <p:nvSpPr>
          <p:cNvPr id="15" name="">
            <a:extLst xmlns:a="http://schemas.openxmlformats.org/drawingml/2006/main">
              <a:ext uri="{FF2B5EF4-FFF2-40B4-BE49-F238E27FC236}">
                <a16:creationId xmlns:a16="http://schemas.microsoft.com/office/drawing/2014/main" id="{9E6416A9-55BE-48E5-9799-C9634D72A6B6}"/>
              </a:ext>
            </a:extLst>
          </p:cNvPr>
          <p:cNvSpPr>
            <a:spLocks xmlns:a="http://schemas.openxmlformats.org/drawingml/2006/main" noGrp="1"/>
          </p:cNvSpPr>
          <p:nvPr/>
        </p:nvSpPr>
        <p:spPr>
          <a:xfrm xmlns:a="http://schemas.openxmlformats.org/drawingml/2006/main">
            <a:off x="6191250" y="3333750"/>
            <a:ext cx="5524500" cy="2571750"/>
          </a:xfrm>
          <a:prstGeom xmlns:a="http://schemas.openxmlformats.org/drawingml/2006/main" prst="roundRect">
            <a:avLst>
              <a:gd name="adj" fmla="val 6667"/>
            </a:avLst>
          </a:prstGeom>
          <a:solidFill xmlns:a="http://schemas.openxmlformats.org/drawingml/2006/main">
            <a:srgbClr val="101B17"/>
          </a:solidFill>
          <a:ln xmlns:a="http://schemas.openxmlformats.org/drawingml/2006/main" w="9525">
            <a:solidFill>
              <a:srgbClr val="285643"/>
            </a:solidFill>
            <a:prstDash val="solid"/>
          </a:ln>
        </p:spPr>
      </p:sp>
      <p:sp>
        <p:nvSpPr>
          <p:cNvPr id="16" name="">
            <a:extLst xmlns:a="http://schemas.openxmlformats.org/drawingml/2006/main">
              <a:ext uri="{FF2B5EF4-FFF2-40B4-BE49-F238E27FC236}">
                <a16:creationId xmlns:a16="http://schemas.microsoft.com/office/drawing/2014/main" id="{5B3126F8-4A96-4851-B83D-CE51656EBC52}"/>
              </a:ext>
            </a:extLst>
          </p:cNvPr>
          <p:cNvSpPr>
            <a:spLocks xmlns:a="http://schemas.openxmlformats.org/drawingml/2006/main" noGrp="1"/>
          </p:cNvSpPr>
          <p:nvPr/>
        </p:nvSpPr>
        <p:spPr>
          <a:xfrm xmlns:a="http://schemas.openxmlformats.org/drawingml/2006/main">
            <a:off x="762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RETAIL • WHOLESALE • DISTRIBUTION</a:t>
            </a:r>
          </a:p>
        </p:txBody>
      </p:sp>
      <p:sp>
        <p:nvSpPr>
          <p:cNvPr id="17" name="">
            <a:extLst xmlns:a="http://schemas.openxmlformats.org/drawingml/2006/main">
              <a:ext uri="{FF2B5EF4-FFF2-40B4-BE49-F238E27FC236}">
                <a16:creationId xmlns:a16="http://schemas.microsoft.com/office/drawing/2014/main" id="{297F7369-F3C1-4DBC-876F-1C3006D82DB3}"/>
              </a:ext>
            </a:extLst>
          </p:cNvPr>
          <p:cNvSpPr>
            <a:spLocks xmlns:a="http://schemas.openxmlformats.org/drawingml/2006/main" noGrp="1"/>
          </p:cNvSpPr>
          <p:nvPr/>
        </p:nvSpPr>
        <p:spPr>
          <a:xfrm xmlns:a="http://schemas.openxmlformats.org/drawingml/2006/main">
            <a:off x="762000" y="4048125"/>
            <a:ext cx="4191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Variants in notebooks.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Credit across parties.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split across counter + godown.</a:t>
            </a:r>
          </a:p>
        </p:txBody>
      </p:sp>
      <p:sp>
        <p:nvSpPr>
          <p:cNvPr id="18" name="">
            <a:extLst xmlns:a="http://schemas.openxmlformats.org/drawingml/2006/main">
              <a:ext uri="{FF2B5EF4-FFF2-40B4-BE49-F238E27FC236}">
                <a16:creationId xmlns:a16="http://schemas.microsoft.com/office/drawing/2014/main" id="{42D931A3-74D7-40F6-B3F2-76D295DCE3A1}"/>
              </a:ext>
            </a:extLst>
          </p:cNvPr>
          <p:cNvSpPr>
            <a:spLocks xmlns:a="http://schemas.openxmlformats.org/drawingml/2006/main" noGrp="1"/>
          </p:cNvSpPr>
          <p:nvPr/>
        </p:nvSpPr>
        <p:spPr>
          <a:xfrm xmlns:a="http://schemas.openxmlformats.org/drawingml/2006/main">
            <a:off x="6477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CF8BB"/>
                </a:solidFill>
                <a:latin typeface="Helvetica Neue"/>
                <a:ea typeface="Helvetica Neue"/>
                <a:cs typeface="Helvetica Neue"/>
              </a:defRPr>
            </a:pPr>
            <a:r>
              <a:rPr sz="900" b="1">
                <a:solidFill>
                  <a:srgbClr val="6CF8BB"/>
                </a:solidFill>
                <a:latin typeface="Helvetica Neue"/>
                <a:ea typeface="Helvetica Neue"/>
                <a:cs typeface="Helvetica Neue"/>
              </a:rPr>
              <a:t>ONE TRADE OPERATING LAYER</a:t>
            </a:r>
          </a:p>
        </p:txBody>
      </p:sp>
      <p:sp>
        <p:nvSpPr>
          <p:cNvPr id="19" name="">
            <a:extLst xmlns:a="http://schemas.openxmlformats.org/drawingml/2006/main">
              <a:ext uri="{FF2B5EF4-FFF2-40B4-BE49-F238E27FC236}">
                <a16:creationId xmlns:a16="http://schemas.microsoft.com/office/drawing/2014/main" id="{7F21B03F-50E5-4EC9-BA2E-71B568F015FB}"/>
              </a:ext>
            </a:extLst>
          </p:cNvPr>
          <p:cNvSpPr>
            <a:spLocks xmlns:a="http://schemas.openxmlformats.org/drawingml/2006/main" noGrp="1"/>
          </p:cNvSpPr>
          <p:nvPr/>
        </p:nvSpPr>
        <p:spPr>
          <a:xfrm xmlns:a="http://schemas.openxmlformats.org/drawingml/2006/main">
            <a:off x="6477000" y="404812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Speak every movement.</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Customer + supplier credit linked.</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 margin stay live.</a:t>
            </a:r>
          </a:p>
        </p:txBody>
      </p:sp>
      <p:sp>
        <p:nvSpPr>
          <p:cNvPr id="20" name="">
            <a:extLst xmlns:a="http://schemas.openxmlformats.org/drawingml/2006/main">
              <a:ext uri="{FF2B5EF4-FFF2-40B4-BE49-F238E27FC236}">
                <a16:creationId xmlns:a16="http://schemas.microsoft.com/office/drawing/2014/main" id="{00C6AB2C-E690-4054-8802-1533D3C04C29}"/>
              </a:ext>
            </a:extLst>
          </p:cNvPr>
          <p:cNvSpPr>
            <a:spLocks xmlns:a="http://schemas.openxmlformats.org/drawingml/2006/main" noGrp="1"/>
          </p:cNvSpPr>
          <p:nvPr/>
        </p:nvSpPr>
        <p:spPr>
          <a:xfrm xmlns:a="http://schemas.openxmlformats.org/drawingml/2006/main">
            <a:off x="5762625" y="4381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6CF8BB"/>
                </a:solidFill>
                <a:latin typeface="Helvetica Neue"/>
                <a:ea typeface="Helvetica Neue"/>
                <a:cs typeface="Helvetica Neue"/>
              </a:defRPr>
            </a:pPr>
            <a:r>
              <a:rPr sz="2550" b="1">
                <a:solidFill>
                  <a:srgbClr val="6CF8BB"/>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7A15DD5-F23B-42A1-A8CF-30876E1DD7D3}"/>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MoSPI ASUSE 2023–24; MSME Annual Report 2025–26. Trade includes wholesale + retail.</a:t>
            </a:r>
          </a:p>
        </p:txBody>
      </p:sp>
      <p:sp>
        <p:nvSpPr>
          <p:cNvPr id="22" name="">
            <a:extLst xmlns:a="http://schemas.openxmlformats.org/drawingml/2006/main">
              <a:ext uri="{FF2B5EF4-FFF2-40B4-BE49-F238E27FC236}">
                <a16:creationId xmlns:a16="http://schemas.microsoft.com/office/drawing/2014/main" id="{34BDBEE9-F4E3-4ADD-B3F0-41AD8DC3BB22}"/>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02</a:t>
            </a:r>
          </a:p>
        </p:txBody>
      </p:sp>
    </p:spTree>
    <p:extLst>
      <p:ext uri="{BB962C8B-B14F-4D97-AF65-F5344CB8AC3E}">
        <p14:creationId xmlns:p14="http://schemas.microsoft.com/office/powerpoint/2010/main" val="345248246"/>
      </p:ext>
    </p:extLst>
  </p:cSld>
</p:sld>
</file>

<file path=ppt/slides/slide3.xml><?xml version="1.0" encoding="utf-8"?>
<p:sld xmlns:p="http://schemas.openxmlformats.org/presentationml/2006/main">
  <p:cSld>
    <p:bg>
      <p:bgPr>
        <a:solidFill xmlns:a="http://schemas.openxmlformats.org/drawingml/2006/main">
          <a:srgbClr val="0D100F"/>
        </a:solidFill>
      </p:bgPr>
    </p:bg>
    <p:spTree>
      <p:nvGrpSpPr>
        <p:cNvPr id="1" name=""/>
        <p:cNvGrpSpPr/>
        <p:nvPr/>
      </p:nvGrpSpPr>
      <p:grpSpPr>
        <a:xfrm xmlns:a="http://schemas.openxmlformats.org/drawingml/2006/main"/>
      </p:grpSpPr>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1fc92462252d44c9">
            <a:extLst>
              <a:ext uri="{96DAC541-7B7A-43D3-8B79-37D633B846F1}">
                <asvg:svgBlip xmlns:asvg="http://schemas.microsoft.com/office/drawing/2016/SVG/main" r:embed="R1bd092c749204444"/>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19991A-2719-40FB-BE0F-650209F2C6E7}"/>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4C8F3E85-70A3-4E49-A5B2-F9F61BA1FF9D}"/>
              </a:ext>
            </a:extLst>
          </p:cNvPr>
          <p:cNvSpPr>
            <a:spLocks xmlns:a="http://schemas.openxmlformats.org/drawingml/2006/main" noGrp="1"/>
          </p:cNvSpPr>
          <p:nvPr/>
        </p:nvSpPr>
        <p:spPr>
          <a:xfrm xmlns:a="http://schemas.openxmlformats.org/drawingml/2006/main">
            <a:off x="476250" y="10668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WHY SARVAM</a:t>
            </a:r>
          </a:p>
        </p:txBody>
      </p:sp>
      <p:sp>
        <p:nvSpPr>
          <p:cNvPr id="5" name="">
            <a:extLst xmlns:a="http://schemas.openxmlformats.org/drawingml/2006/main">
              <a:ext uri="{FF2B5EF4-FFF2-40B4-BE49-F238E27FC236}">
                <a16:creationId xmlns:a16="http://schemas.microsoft.com/office/drawing/2014/main" id="{6FF6FC44-4EDB-40E6-AFA8-9C87D1685250}"/>
              </a:ext>
            </a:extLst>
          </p:cNvPr>
          <p:cNvSpPr>
            <a:spLocks xmlns:a="http://schemas.openxmlformats.org/drawingml/2006/main" noGrp="1"/>
          </p:cNvSpPr>
          <p:nvPr/>
        </p:nvSpPr>
        <p:spPr>
          <a:xfrm xmlns:a="http://schemas.openxmlformats.org/drawingml/2006/main">
            <a:off x="476250" y="1381125"/>
            <a:ext cx="876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749"/>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Sarvam turns Indian speech into grounded business actions.</a:t>
            </a:r>
          </a:p>
        </p:txBody>
      </p:sp>
      <p:sp>
        <p:nvSpPr>
          <p:cNvPr id="6" name="">
            <a:extLst xmlns:a="http://schemas.openxmlformats.org/drawingml/2006/main">
              <a:ext uri="{FF2B5EF4-FFF2-40B4-BE49-F238E27FC236}">
                <a16:creationId xmlns:a16="http://schemas.microsoft.com/office/drawing/2014/main" id="{8679D301-130D-4DC6-A00C-FAB2985741A7}"/>
              </a:ext>
            </a:extLst>
          </p:cNvPr>
          <p:cNvSpPr>
            <a:spLocks xmlns:a="http://schemas.openxmlformats.org/drawingml/2006/main" noGrp="1"/>
          </p:cNvSpPr>
          <p:nvPr/>
        </p:nvSpPr>
        <p:spPr>
          <a:xfrm xmlns:a="http://schemas.openxmlformats.org/drawingml/2006/main">
            <a:off x="523875" y="2333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2F53770C-F052-4BC7-A6B0-966250DB979D}"/>
              </a:ext>
            </a:extLst>
          </p:cNvPr>
          <p:cNvSpPr>
            <a:spLocks xmlns:a="http://schemas.openxmlformats.org/drawingml/2006/main" noGrp="1"/>
          </p:cNvSpPr>
          <p:nvPr/>
        </p:nvSpPr>
        <p:spPr>
          <a:xfrm xmlns:a="http://schemas.openxmlformats.org/drawingml/2006/main">
            <a:off x="2266950" y="24479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STT languages</a:t>
            </a:r>
          </a:p>
        </p:txBody>
      </p:sp>
      <p:cxnSp>
        <p:nvCxnSpPr>
          <p:cNvPr id="137" name=""/>
          <p:cNvCxnSpPr/>
          <p:nvPr/>
        </p:nvCxnSpPr>
        <p:spPr>
          <a:xfrm xmlns:a="http://schemas.openxmlformats.org/drawingml/2006/main">
            <a:off x="523875" y="30765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9" name="">
            <a:extLst xmlns:a="http://schemas.openxmlformats.org/drawingml/2006/main">
              <a:ext uri="{FF2B5EF4-FFF2-40B4-BE49-F238E27FC236}">
                <a16:creationId xmlns:a16="http://schemas.microsoft.com/office/drawing/2014/main" id="{5C5919E5-4D4E-44B4-98BB-7D7295C62DA0}"/>
              </a:ext>
            </a:extLst>
          </p:cNvPr>
          <p:cNvSpPr>
            <a:spLocks xmlns:a="http://schemas.openxmlformats.org/drawingml/2006/main" noGrp="1"/>
          </p:cNvSpPr>
          <p:nvPr/>
        </p:nvSpPr>
        <p:spPr>
          <a:xfrm xmlns:a="http://schemas.openxmlformats.org/drawingml/2006/main">
            <a:off x="523875" y="34004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6CF8BB"/>
                </a:solidFill>
                <a:latin typeface="Helvetica Neue"/>
                <a:ea typeface="Helvetica Neue"/>
                <a:cs typeface="Helvetica Neue"/>
              </a:defRPr>
            </a:pPr>
            <a:r>
              <a:rPr sz="2850" b="1">
                <a:solidFill>
                  <a:srgbClr val="6CF8BB"/>
                </a:solidFill>
                <a:latin typeface="Helvetica Neue"/>
                <a:ea typeface="Helvetica Neue"/>
                <a:cs typeface="Helvetica Neue"/>
              </a:rPr>
              <a:t>11</a:t>
            </a:r>
          </a:p>
        </p:txBody>
      </p:sp>
      <p:sp>
        <p:nvSpPr>
          <p:cNvPr id="10" name="">
            <a:extLst xmlns:a="http://schemas.openxmlformats.org/drawingml/2006/main">
              <a:ext uri="{FF2B5EF4-FFF2-40B4-BE49-F238E27FC236}">
                <a16:creationId xmlns:a16="http://schemas.microsoft.com/office/drawing/2014/main" id="{715075F0-5F3A-4D3F-8A43-457B1EDF5A45}"/>
              </a:ext>
            </a:extLst>
          </p:cNvPr>
          <p:cNvSpPr>
            <a:spLocks xmlns:a="http://schemas.openxmlformats.org/drawingml/2006/main" noGrp="1"/>
          </p:cNvSpPr>
          <p:nvPr/>
        </p:nvSpPr>
        <p:spPr>
          <a:xfrm xmlns:a="http://schemas.openxmlformats.org/drawingml/2006/main">
            <a:off x="2266950" y="35147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TTS languages</a:t>
            </a:r>
          </a:p>
        </p:txBody>
      </p:sp>
      <p:cxnSp>
        <p:nvCxnSpPr>
          <p:cNvPr id="140" name=""/>
          <p:cNvCxnSpPr/>
          <p:nvPr/>
        </p:nvCxnSpPr>
        <p:spPr>
          <a:xfrm xmlns:a="http://schemas.openxmlformats.org/drawingml/2006/main">
            <a:off x="523875" y="41433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12" name="">
            <a:extLst xmlns:a="http://schemas.openxmlformats.org/drawingml/2006/main">
              <a:ext uri="{FF2B5EF4-FFF2-40B4-BE49-F238E27FC236}">
                <a16:creationId xmlns:a16="http://schemas.microsoft.com/office/drawing/2014/main" id="{CDFAB8B2-6E47-4C45-8CA2-26ADE2E3A0A2}"/>
              </a:ext>
            </a:extLst>
          </p:cNvPr>
          <p:cNvSpPr>
            <a:spLocks xmlns:a="http://schemas.openxmlformats.org/drawingml/2006/main" noGrp="1"/>
          </p:cNvSpPr>
          <p:nvPr/>
        </p:nvSpPr>
        <p:spPr>
          <a:xfrm xmlns:a="http://schemas.openxmlformats.org/drawingml/2006/main">
            <a:off x="523875" y="44672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13" name="">
            <a:extLst xmlns:a="http://schemas.openxmlformats.org/drawingml/2006/main">
              <a:ext uri="{FF2B5EF4-FFF2-40B4-BE49-F238E27FC236}">
                <a16:creationId xmlns:a16="http://schemas.microsoft.com/office/drawing/2014/main" id="{D8E56FF9-9590-4CBD-8D88-F6258A4ADD24}"/>
              </a:ext>
            </a:extLst>
          </p:cNvPr>
          <p:cNvSpPr>
            <a:spLocks xmlns:a="http://schemas.openxmlformats.org/drawingml/2006/main" noGrp="1"/>
          </p:cNvSpPr>
          <p:nvPr/>
        </p:nvSpPr>
        <p:spPr>
          <a:xfrm xmlns:a="http://schemas.openxmlformats.org/drawingml/2006/main">
            <a:off x="2266950" y="45815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document languages</a:t>
            </a:r>
          </a:p>
        </p:txBody>
      </p:sp>
      <p:sp>
        <p:nvSpPr>
          <p:cNvPr id="14" name="">
            <a:extLst xmlns:a="http://schemas.openxmlformats.org/drawingml/2006/main">
              <a:ext uri="{FF2B5EF4-FFF2-40B4-BE49-F238E27FC236}">
                <a16:creationId xmlns:a16="http://schemas.microsoft.com/office/drawing/2014/main" id="{EE888AB9-222B-4C70-977C-1429D42890FB}"/>
              </a:ext>
            </a:extLst>
          </p:cNvPr>
          <p:cNvSpPr>
            <a:spLocks xmlns:a="http://schemas.openxmlformats.org/drawingml/2006/main" noGrp="1"/>
          </p:cNvSpPr>
          <p:nvPr/>
        </p:nvSpPr>
        <p:spPr>
          <a:xfrm xmlns:a="http://schemas.openxmlformats.org/drawingml/2006/main">
            <a:off x="4619625" y="2190750"/>
            <a:ext cx="3095625" cy="3429000"/>
          </a:xfrm>
          <a:prstGeom xmlns:a="http://schemas.openxmlformats.org/drawingml/2006/main" prst="roundRect">
            <a:avLst>
              <a:gd name="adj" fmla="val 5538"/>
            </a:avLst>
          </a:prstGeom>
          <a:solidFill xmlns:a="http://schemas.openxmlformats.org/drawingml/2006/main">
            <a:srgbClr val="111514"/>
          </a:solidFill>
          <a:ln xmlns:a="http://schemas.openxmlformats.org/drawingml/2006/main" w="9525">
            <a:solidFill>
              <a:srgbClr val="2C3430"/>
            </a:solidFill>
            <a:prstDash val="solid"/>
          </a:ln>
        </p:spPr>
      </p:sp>
      <p:sp>
        <p:nvSpPr>
          <p:cNvPr id="15" name="">
            <a:extLst xmlns:a="http://schemas.openxmlformats.org/drawingml/2006/main">
              <a:ext uri="{FF2B5EF4-FFF2-40B4-BE49-F238E27FC236}">
                <a16:creationId xmlns:a16="http://schemas.microsoft.com/office/drawing/2014/main" id="{893A1F2B-3B80-43BA-A62A-80A56B45A902}"/>
              </a:ext>
            </a:extLst>
          </p:cNvPr>
          <p:cNvSpPr>
            <a:spLocks xmlns:a="http://schemas.openxmlformats.org/drawingml/2006/main" noGrp="1"/>
          </p:cNvSpPr>
          <p:nvPr/>
        </p:nvSpPr>
        <p:spPr>
          <a:xfrm xmlns:a="http://schemas.openxmlformats.org/drawingml/2006/main">
            <a:off x="8001000" y="2190750"/>
            <a:ext cx="3714750" cy="3429000"/>
          </a:xfrm>
          <a:prstGeom xmlns:a="http://schemas.openxmlformats.org/drawingml/2006/main" prst="roundRect">
            <a:avLst>
              <a:gd name="adj" fmla="val 5000"/>
            </a:avLst>
          </a:prstGeom>
          <a:solidFill xmlns:a="http://schemas.openxmlformats.org/drawingml/2006/main">
            <a:srgbClr val="102119"/>
          </a:solidFill>
          <a:ln xmlns:a="http://schemas.openxmlformats.org/drawingml/2006/main" w="9525">
            <a:solidFill>
              <a:srgbClr val="2F6A51"/>
            </a:solidFill>
            <a:prstDash val="solid"/>
          </a:ln>
        </p:spPr>
      </p:sp>
      <p:sp>
        <p:nvSpPr>
          <p:cNvPr id="16" name="">
            <a:extLst xmlns:a="http://schemas.openxmlformats.org/drawingml/2006/main">
              <a:ext uri="{FF2B5EF4-FFF2-40B4-BE49-F238E27FC236}">
                <a16:creationId xmlns:a16="http://schemas.microsoft.com/office/drawing/2014/main" id="{8E28C877-AB11-4217-AD45-CFADDB07A62C}"/>
              </a:ext>
            </a:extLst>
          </p:cNvPr>
          <p:cNvSpPr>
            <a:spLocks xmlns:a="http://schemas.openxmlformats.org/drawingml/2006/main" noGrp="1"/>
          </p:cNvSpPr>
          <p:nvPr/>
        </p:nvSpPr>
        <p:spPr>
          <a:xfrm xmlns:a="http://schemas.openxmlformats.org/drawingml/2006/main">
            <a:off x="4905375" y="25146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19"/>
          </a:bodyPr>
          <a:lstStyle xmlns:a="http://schemas.openxmlformats.org/drawingml/2006/main"/>
          <a:p xmlns:a="http://schemas.openxmlformats.org/drawingml/2006/main">
            <a:pPr algn="l">
              <a:buNone/>
              <a:defRPr sz="1800" b="1">
                <a:solidFill>
                  <a:srgbClr val="F7FAF8"/>
                </a:solidFill>
                <a:latin typeface="Helvetica Neue"/>
                <a:ea typeface="Helvetica Neue"/>
                <a:cs typeface="Helvetica Neue"/>
              </a:defRPr>
            </a:pPr>
            <a:r>
              <a:rPr sz="1800" b="1">
                <a:solidFill>
                  <a:srgbClr val="F7FAF8"/>
                </a:solidFill>
                <a:latin typeface="Helvetica Neue"/>
                <a:ea typeface="Helvetica Neue"/>
                <a:cs typeface="Helvetica Neue"/>
              </a:rPr>
              <a:t>THE LIVE VOICE LOOP</a:t>
            </a:r>
          </a:p>
        </p:txBody>
      </p:sp>
      <p:sp>
        <p:nvSpPr>
          <p:cNvPr id="17" name="">
            <a:extLst xmlns:a="http://schemas.openxmlformats.org/drawingml/2006/main">
              <a:ext uri="{FF2B5EF4-FFF2-40B4-BE49-F238E27FC236}">
                <a16:creationId xmlns:a16="http://schemas.microsoft.com/office/drawing/2014/main" id="{35811EAE-8AA4-4836-83EF-B117364C63FD}"/>
              </a:ext>
            </a:extLst>
          </p:cNvPr>
          <p:cNvSpPr>
            <a:spLocks xmlns:a="http://schemas.openxmlformats.org/drawingml/2006/main" noGrp="1"/>
          </p:cNvSpPr>
          <p:nvPr/>
        </p:nvSpPr>
        <p:spPr>
          <a:xfrm xmlns:a="http://schemas.openxmlformats.org/drawingml/2006/main">
            <a:off x="4905375" y="3200400"/>
            <a:ext cx="238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Saaras v3: speech → text</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Samvaad: context + tool calls</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Bulbul v3: text → speech</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Barge-in for natural turns</a:t>
            </a:r>
          </a:p>
        </p:txBody>
      </p:sp>
      <p:sp>
        <p:nvSpPr>
          <p:cNvPr id="18" name="">
            <a:extLst xmlns:a="http://schemas.openxmlformats.org/drawingml/2006/main">
              <a:ext uri="{FF2B5EF4-FFF2-40B4-BE49-F238E27FC236}">
                <a16:creationId xmlns:a16="http://schemas.microsoft.com/office/drawing/2014/main" id="{4F264E50-A415-423F-8B1E-55FE8C96EFD5}"/>
              </a:ext>
            </a:extLst>
          </p:cNvPr>
          <p:cNvSpPr>
            <a:spLocks xmlns:a="http://schemas.openxmlformats.org/drawingml/2006/main" noGrp="1"/>
          </p:cNvSpPr>
          <p:nvPr/>
        </p:nvSpPr>
        <p:spPr>
          <a:xfrm xmlns:a="http://schemas.openxmlformats.org/drawingml/2006/main">
            <a:off x="8334375" y="25146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6CF8BB"/>
                </a:solidFill>
                <a:latin typeface="Helvetica Neue"/>
                <a:ea typeface="Helvetica Neue"/>
                <a:cs typeface="Helvetica Neue"/>
              </a:defRPr>
            </a:pPr>
            <a:r>
              <a:rPr sz="1800" b="1">
                <a:solidFill>
                  <a:srgbClr val="6CF8BB"/>
                </a:solidFill>
                <a:latin typeface="Helvetica Neue"/>
                <a:ea typeface="Helvetica Neue"/>
                <a:cs typeface="Helvetica Neue"/>
              </a:rPr>
              <a:t>WHY IT FITS INDIA</a:t>
            </a:r>
          </a:p>
        </p:txBody>
      </p:sp>
      <p:sp>
        <p:nvSpPr>
          <p:cNvPr id="19" name="">
            <a:extLst xmlns:a="http://schemas.openxmlformats.org/drawingml/2006/main">
              <a:ext uri="{FF2B5EF4-FFF2-40B4-BE49-F238E27FC236}">
                <a16:creationId xmlns:a16="http://schemas.microsoft.com/office/drawing/2014/main" id="{6668FC51-0136-4318-96CF-2C97EFCC8A5C}"/>
              </a:ext>
            </a:extLst>
          </p:cNvPr>
          <p:cNvSpPr>
            <a:spLocks xmlns:a="http://schemas.openxmlformats.org/drawingml/2006/main" noGrp="1"/>
          </p:cNvSpPr>
          <p:nvPr/>
        </p:nvSpPr>
        <p:spPr>
          <a:xfrm xmlns:a="http://schemas.openxmlformats.org/drawingml/2006/main">
            <a:off x="8334375" y="3200400"/>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Accents + code-mixing</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Automatic language detection</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English-normalised tool inputs</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Vision: invoice → reviewed stock</a:t>
            </a:r>
          </a:p>
        </p:txBody>
      </p:sp>
      <p:sp>
        <p:nvSpPr>
          <p:cNvPr id="20" name="">
            <a:extLst xmlns:a="http://schemas.openxmlformats.org/drawingml/2006/main">
              <a:ext uri="{FF2B5EF4-FFF2-40B4-BE49-F238E27FC236}">
                <a16:creationId xmlns:a16="http://schemas.microsoft.com/office/drawing/2014/main" id="{2AF86A8E-E5C7-40B8-A37F-0DB28D157E29}"/>
              </a:ext>
            </a:extLst>
          </p:cNvPr>
          <p:cNvSpPr>
            <a:spLocks xmlns:a="http://schemas.openxmlformats.org/drawingml/2006/main" noGrp="1"/>
          </p:cNvSpPr>
          <p:nvPr/>
        </p:nvSpPr>
        <p:spPr>
          <a:xfrm xmlns:a="http://schemas.openxmlformats.org/drawingml/2006/main">
            <a:off x="4619625" y="5905500"/>
            <a:ext cx="709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00" b="1">
                <a:solidFill>
                  <a:srgbClr val="FFB34D"/>
                </a:solidFill>
                <a:latin typeface="Helvetica Neue"/>
                <a:ea typeface="Helvetica Neue"/>
                <a:cs typeface="Helvetica Neue"/>
              </a:defRPr>
            </a:pPr>
            <a:r>
              <a:rPr sz="1200" b="1">
                <a:solidFill>
                  <a:srgbClr val="FFB34D"/>
                </a:solidFill>
                <a:latin typeface="Helvetica Neue"/>
                <a:ea typeface="Helvetica Neue"/>
                <a:cs typeface="Helvetica Neue"/>
              </a:rPr>
              <a:t>Result: owners speak naturally; Chhotu writes only through validated business APIs.</a:t>
            </a:r>
          </a:p>
        </p:txBody>
      </p:sp>
      <p:sp>
        <p:nvSpPr>
          <p:cNvPr id="21" name="">
            <a:extLst xmlns:a="http://schemas.openxmlformats.org/drawingml/2006/main">
              <a:ext uri="{FF2B5EF4-FFF2-40B4-BE49-F238E27FC236}">
                <a16:creationId xmlns:a16="http://schemas.microsoft.com/office/drawing/2014/main" id="{B009595A-E908-46F5-8C30-3C6FE7579EF7}"/>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Sarvam Samvaad, Sarvam Vision + Document Digitization docs.</a:t>
            </a:r>
          </a:p>
        </p:txBody>
      </p:sp>
      <p:sp>
        <p:nvSpPr>
          <p:cNvPr id="22" name="">
            <a:extLst xmlns:a="http://schemas.openxmlformats.org/drawingml/2006/main">
              <a:ext uri="{FF2B5EF4-FFF2-40B4-BE49-F238E27FC236}">
                <a16:creationId xmlns:a16="http://schemas.microsoft.com/office/drawing/2014/main" id="{B883FFE3-519E-4862-B469-018043BCF48A}"/>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03</a:t>
            </a:r>
          </a:p>
        </p:txBody>
      </p:sp>
    </p:spTree>
    <p:extLst>
      <p:ext uri="{BB962C8B-B14F-4D97-AF65-F5344CB8AC3E}">
        <p14:creationId xmlns:p14="http://schemas.microsoft.com/office/powerpoint/2010/main" val="1821446770"/>
      </p:ext>
    </p:extLst>
  </p:cSld>
</p:sld>
</file>

<file path=ppt/slides/slide4.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6c8a64a1c194693">
            <a:extLst>
              <a:ext uri="{96DAC541-7B7A-43D3-8B79-37D633B846F1}">
                <asvg:svgBlip xmlns:asvg="http://schemas.microsoft.com/office/drawing/2016/SVG/main" r:embed="Re08c33d9c6ac4f22"/>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71AC61-944B-4789-8AC5-2BB308B47615}"/>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111814"/>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LIVE / HARDWARE-FIRST</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A complete operating system for trade.</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For retailers, wholesalers and distributors: voice in front, auditable ledgers underneath.</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01 / VOICE</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Run the ledger by speaking</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Sales, purchases, stock questions and summaries across supported languages.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02 / INVENTORY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Know what is moving—and stuck</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Derived stock, low-stock alerts, margin, reconciliation and frozen capital.</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03 / CRM + BILLING</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Every customer and rupee linked</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Customer history, credit, payments, reminders and GST bills.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04 / DOCUMENT AI</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Turn invoices into usable stock</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Scan supplier invoices; match SKUs, freight and landed cost with review.</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“Aaj ka hisaab batao.”</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VOICE  •  LEDGER  •  CRM  •  DOCUMENTS — GROUNDED</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04</a:t>
            </a:r>
          </a:p>
        </p:txBody>
      </p:sp>
    </p:spTree>
    <p:extLst>
      <p:ext uri="{BB962C8B-B14F-4D97-AF65-F5344CB8AC3E}">
        <p14:creationId xmlns:p14="http://schemas.microsoft.com/office/powerpoint/2010/main" val="287940562"/>
      </p:ext>
    </p:extLst>
  </p:cSld>
</p:sld>
</file>

<file path=ppt/slides/slide5.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8c3c50cf5e34eea">
            <a:extLst>
              <a:ext uri="{96DAC541-7B7A-43D3-8B79-37D633B846F1}">
                <asvg:svgBlip xmlns:asvg="http://schemas.microsoft.com/office/drawing/2016/SVG/main" r:embed="R7a0fcf23f77f43bb"/>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71AC61-944B-4789-8AC5-2BB308B47615}"/>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111814"/>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ROADMAP / TRADE → WAREHOUSE</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From trade assistant to fulfilment network.</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Orders become promises. Deliveries become movement. The ledger stays the truth.</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01 / ORDERS</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Take orders on voice and calls</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Multi-item drafts, confirmation, reservations and customer order status.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02 / DELIVERY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Track fulfilment end to end</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22"/>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Dispatch queue, own-fleet or provider adapters, proof and reattempts.</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03 / RESTOCK</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Chhotu calls suppliers</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Reorder suggestions, purchase orders, rates, lead times and goods receipts.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04 / WAREHOUSE SCALE</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Reconcile every hand-off</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PO ↔ receipt ↔ invoice checks, provider webhooks and fulfilment analytics.</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“Hey Chhotu…”</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OPT-IN WAKE WORD  •  ON-DEVICE TRIGGER  •  FUTURE</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05</a:t>
            </a:r>
          </a:p>
        </p:txBody>
      </p:sp>
    </p:spTree>
    <p:extLst>
      <p:ext uri="{BB962C8B-B14F-4D97-AF65-F5344CB8AC3E}">
        <p14:creationId xmlns:p14="http://schemas.microsoft.com/office/powerpoint/2010/main" val="287940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2026-07-29T22:50:25.2590000Z</dcterms:created>
  <dcterms:modified xsi:type="dcterms:W3CDTF">2026-07-29T22:50:25.2590000Z</dcterms:modified>
</coreProperties>
</file>